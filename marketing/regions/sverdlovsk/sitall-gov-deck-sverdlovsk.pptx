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8" d="100"/>
          <a:sy n="98" d="100"/>
        </p:scale>
        <p:origin x="69" y="6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news.ru/content/241497/2025-09-30/2025-w40/1007/tekhnologicheskoe-liderstvo-uydet-19-trln-rub" TargetMode="External"/><Relationship Id="rId2" Type="http://schemas.openxmlformats.org/officeDocument/2006/relationships/hyperlink" Target="https://issek.hse.ru/news/1089550497.html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rbc.ru/economics/26/01/2026/6977cac89a7947009cdfec9d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ckinsey.com/capabilities/operations/our-insights/how-digital-manufacturing-can-escape-pilot-purgatory" TargetMode="External"/><Relationship Id="rId2" Type="http://schemas.openxmlformats.org/officeDocument/2006/relationships/hyperlink" Target="https://mackinstitute.wharton.upenn.edu/wp-content/uploads/2019/08/FP0357b_WP_2019Jan.pdf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rospatent.gov.ru/ru/news/rospatent-06122024" TargetMode="External"/><Relationship Id="rId4" Type="http://schemas.openxmlformats.org/officeDocument/2006/relationships/hyperlink" Target="https://d-russia.ru/pochemu-ne-vostrebovany-nalogovye-lgoty-na-niokr-minekonomrazvitiya.htm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ngzt.ru/news/sverdlovskaya-oblast-voshla-v-top-5-po-rostu-proizvoditelnosti-truda-na-predpriyatiyah/" TargetMode="External"/><Relationship Id="rId2" Type="http://schemas.openxmlformats.org/officeDocument/2006/relationships/hyperlink" Target="https://xn--b1ag8a.xn--p1ai/news/35567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frpso.ru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955279" y="-2286000"/>
            <a:ext cx="6583680" cy="6583680"/>
          </a:xfrm>
          <a:prstGeom prst="ellipse">
            <a:avLst/>
          </a:prstGeom>
          <a:noFill/>
          <a:ln w="15875">
            <a:solidFill>
              <a:srgbClr val="E3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01200" y="3017520"/>
            <a:ext cx="4937760" cy="4937760"/>
          </a:xfrm>
          <a:prstGeom prst="ellipse">
            <a:avLst/>
          </a:prstGeom>
          <a:noFill/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98480" y="1280160"/>
            <a:ext cx="3017520" cy="3017520"/>
          </a:xfrm>
          <a:prstGeom prst="ellipse">
            <a:avLst/>
          </a:prstGeom>
          <a:noFill/>
          <a:ln w="1587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 spc="300">
                <a:solidFill>
                  <a:srgbClr val="C9A24B"/>
                </a:solidFill>
                <a:latin typeface="Segoe UI Semibold"/>
              </a:rPr>
              <a:t>АВГУСТ 2026 · КОНФИДЕНЦИАЛЬНО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5" y="1371600"/>
            <a:ext cx="9144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400" b="0" i="0" dirty="0" err="1">
                <a:solidFill>
                  <a:srgbClr val="1E2761"/>
                </a:solidFill>
                <a:latin typeface="Segoe UI Semibold"/>
              </a:rPr>
              <a:t>Ситалл</a:t>
            </a:r>
            <a:endParaRPr sz="8400" b="0" i="0" dirty="0">
              <a:solidFill>
                <a:srgbClr val="1E2761"/>
              </a:solidFill>
              <a:latin typeface="Segoe UI Semibold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0080" y="3072384"/>
            <a:ext cx="1828800" cy="685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346704"/>
            <a:ext cx="8778240" cy="4337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700" b="0" i="0" dirty="0" err="1">
                <a:solidFill>
                  <a:srgbClr val="1E2761"/>
                </a:solidFill>
                <a:latin typeface="Segoe UI"/>
              </a:rPr>
              <a:t>Технологический</a:t>
            </a:r>
            <a:r>
              <a:rPr sz="2700" b="0" i="0" dirty="0">
                <a:solidFill>
                  <a:srgbClr val="1E2761"/>
                </a:solidFill>
                <a:latin typeface="Segoe UI"/>
              </a:rPr>
              <a:t> </a:t>
            </a:r>
            <a:r>
              <a:rPr sz="2700" b="0" i="0" dirty="0" err="1">
                <a:solidFill>
                  <a:srgbClr val="1E2761"/>
                </a:solidFill>
                <a:latin typeface="Segoe UI"/>
              </a:rPr>
              <a:t>брокер</a:t>
            </a:r>
            <a:r>
              <a:rPr lang="ru-RU" sz="2700" dirty="0">
                <a:solidFill>
                  <a:srgbClr val="1E2761"/>
                </a:solidFill>
                <a:latin typeface="Segoe UI"/>
              </a:rPr>
              <a:t> </a:t>
            </a:r>
            <a:r>
              <a:rPr sz="2700" b="0" i="0" dirty="0" err="1">
                <a:solidFill>
                  <a:srgbClr val="1E2761"/>
                </a:solidFill>
                <a:latin typeface="Segoe UI"/>
              </a:rPr>
              <a:t>для</a:t>
            </a:r>
            <a:r>
              <a:rPr sz="2700" b="0" i="0" dirty="0">
                <a:solidFill>
                  <a:srgbClr val="1E2761"/>
                </a:solidFill>
                <a:latin typeface="Segoe UI"/>
              </a:rPr>
              <a:t> </a:t>
            </a:r>
            <a:r>
              <a:rPr sz="2700" b="0" i="0" dirty="0" err="1">
                <a:solidFill>
                  <a:srgbClr val="1E2761"/>
                </a:solidFill>
                <a:latin typeface="Segoe UI"/>
              </a:rPr>
              <a:t>промышленности</a:t>
            </a:r>
            <a:endParaRPr sz="2700" b="0" i="0" dirty="0">
              <a:solidFill>
                <a:srgbClr val="1E2761"/>
              </a:solidFill>
              <a:latin typeface="Segoe U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3982212"/>
            <a:ext cx="8229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lang="ru-RU" sz="1700" dirty="0">
                <a:solidFill>
                  <a:srgbClr val="1B2140"/>
                </a:solidFill>
                <a:latin typeface="Segoe UI"/>
              </a:rPr>
              <a:t>Работаем от</a:t>
            </a:r>
            <a:r>
              <a:rPr sz="17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700" b="0" i="0" dirty="0" err="1">
                <a:solidFill>
                  <a:srgbClr val="1B2140"/>
                </a:solidFill>
                <a:latin typeface="Segoe UI"/>
              </a:rPr>
              <a:t>задачи</a:t>
            </a:r>
            <a:r>
              <a:rPr sz="17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700" b="0" i="0" dirty="0" err="1">
                <a:solidFill>
                  <a:srgbClr val="1B2140"/>
                </a:solidFill>
                <a:latin typeface="Segoe UI"/>
              </a:rPr>
              <a:t>предприятия</a:t>
            </a:r>
            <a:r>
              <a:rPr sz="17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700" b="0" i="0" dirty="0" err="1">
                <a:solidFill>
                  <a:srgbClr val="1B2140"/>
                </a:solidFill>
                <a:latin typeface="Segoe UI"/>
              </a:rPr>
              <a:t>до</a:t>
            </a:r>
            <a:r>
              <a:rPr sz="17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700" b="0" i="0" dirty="0" err="1">
                <a:solidFill>
                  <a:srgbClr val="1B2140"/>
                </a:solidFill>
                <a:latin typeface="Segoe UI"/>
              </a:rPr>
              <a:t>внедрённой</a:t>
            </a:r>
            <a:r>
              <a:rPr sz="17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700" b="0" i="0" dirty="0" err="1">
                <a:solidFill>
                  <a:srgbClr val="1B2140"/>
                </a:solidFill>
                <a:latin typeface="Segoe UI"/>
              </a:rPr>
              <a:t>технологии</a:t>
            </a:r>
            <a:endParaRPr sz="1700" b="0" i="0" dirty="0">
              <a:solidFill>
                <a:srgbClr val="1B2140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 spc="300">
                <a:solidFill>
                  <a:srgbClr val="C9A24B"/>
                </a:solidFill>
                <a:latin typeface="Segoe UI Semibold"/>
              </a:rPr>
              <a:t>ЗАДАЧА ГОСУДАРСТВА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0879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 i="0">
                <a:solidFill>
                  <a:srgbClr val="1E2761"/>
                </a:solidFill>
                <a:latin typeface="Segoe UI Semibold"/>
              </a:rPr>
              <a:t>Деньги на науку есть. Внедрять их некому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371600" cy="5029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682496"/>
            <a:ext cx="5262372" cy="2139696"/>
          </a:xfrm>
          <a:prstGeom prst="roundRect">
            <a:avLst>
              <a:gd name="adj" fmla="val 5982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08659" y="1751076"/>
            <a:ext cx="5125212" cy="2002536"/>
          </a:xfrm>
          <a:prstGeom prst="roundRect">
            <a:avLst>
              <a:gd name="adj" fmla="val 4566"/>
            </a:avLst>
          </a:prstGeom>
          <a:noFill/>
          <a:ln w="6350">
            <a:solidFill>
              <a:srgbClr val="E3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50976" y="1993392"/>
            <a:ext cx="457200" cy="411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0976" y="2231136"/>
            <a:ext cx="46405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0" i="0">
                <a:solidFill>
                  <a:srgbClr val="1E2761"/>
                </a:solidFill>
                <a:latin typeface="Segoe UI Semibold"/>
              </a:rPr>
              <a:t>2% ВВП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104388"/>
            <a:ext cx="46405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600" b="0" i="0">
                <a:solidFill>
                  <a:srgbClr val="1B2140"/>
                </a:solidFill>
                <a:latin typeface="Segoe UI"/>
              </a:rPr>
              <a:t>затраты на науку к 2030 году. Сейчас около 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438144"/>
            <a:ext cx="46405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 b="0" i="1">
                <a:solidFill>
                  <a:srgbClr val="6B7699"/>
                </a:solidFill>
                <a:latin typeface="Segoe UI"/>
              </a:rPr>
              <a:t>Источник: </a:t>
            </a:r>
            <a:r>
              <a:rPr sz="900" b="0" i="1" u="sng">
                <a:solidFill>
                  <a:srgbClr val="6B7699"/>
                </a:solidFill>
                <a:latin typeface="Segoe UI"/>
                <a:hlinkClick r:id="rId2"/>
              </a:rPr>
              <a:t>ИСИЭЗ НИУ ВШЭ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6500" y="1682496"/>
            <a:ext cx="5262372" cy="2139696"/>
          </a:xfrm>
          <a:prstGeom prst="roundRect">
            <a:avLst>
              <a:gd name="adj" fmla="val 5982"/>
            </a:avLst>
          </a:prstGeom>
          <a:solidFill>
            <a:srgbClr val="FFFFFF"/>
          </a:solidFill>
          <a:ln w="222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97396" y="1993392"/>
            <a:ext cx="45720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97396" y="2231136"/>
            <a:ext cx="46405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0" i="0">
                <a:solidFill>
                  <a:srgbClr val="C9A24B"/>
                </a:solidFill>
                <a:latin typeface="Segoe UI Semibold"/>
              </a:rPr>
              <a:t>×2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7396" y="3104388"/>
            <a:ext cx="46405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600" b="0" i="0">
                <a:solidFill>
                  <a:srgbClr val="1B2140"/>
                </a:solidFill>
                <a:latin typeface="Segoe UI"/>
              </a:rPr>
              <a:t>рост частных вложений бизнеса в науку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7396" y="3438144"/>
            <a:ext cx="46405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 b="0" i="1">
                <a:solidFill>
                  <a:srgbClr val="6B7699"/>
                </a:solidFill>
                <a:latin typeface="Segoe UI"/>
              </a:rPr>
              <a:t>Источник: </a:t>
            </a:r>
            <a:r>
              <a:rPr sz="900" b="0" i="1" u="sng">
                <a:solidFill>
                  <a:srgbClr val="6B7699"/>
                </a:solidFill>
                <a:latin typeface="Segoe UI"/>
                <a:hlinkClick r:id="rId2"/>
              </a:rPr>
              <a:t>ИСИЭЗ НИУ ВШЭ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96511"/>
            <a:ext cx="5262372" cy="2139696"/>
          </a:xfrm>
          <a:prstGeom prst="roundRect">
            <a:avLst>
              <a:gd name="adj" fmla="val 5982"/>
            </a:avLst>
          </a:prstGeom>
          <a:solidFill>
            <a:srgbClr val="FFFFFF"/>
          </a:solidFill>
          <a:ln w="222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50976" y="4407407"/>
            <a:ext cx="45720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0976" y="4645151"/>
            <a:ext cx="46405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0" i="0">
                <a:solidFill>
                  <a:srgbClr val="C9A24B"/>
                </a:solidFill>
                <a:latin typeface="Segoe UI Semibold"/>
              </a:rPr>
              <a:t>1,9 трлн 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5" y="5518403"/>
            <a:ext cx="4882895" cy="2718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1B2140"/>
                </a:solidFill>
                <a:latin typeface="Segoe UI"/>
              </a:rPr>
              <a:t>нацпроекты</a:t>
            </a:r>
            <a:r>
              <a:rPr sz="16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1B2140"/>
                </a:solidFill>
                <a:latin typeface="Segoe UI"/>
              </a:rPr>
              <a:t>технологического</a:t>
            </a:r>
            <a:r>
              <a:rPr sz="16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1B2140"/>
                </a:solidFill>
                <a:latin typeface="Segoe UI"/>
              </a:rPr>
              <a:t>лидерства</a:t>
            </a:r>
            <a:r>
              <a:rPr lang="ru-RU" sz="1600" b="0" i="0" dirty="0">
                <a:solidFill>
                  <a:srgbClr val="1B2140"/>
                </a:solidFill>
                <a:latin typeface="Segoe UI"/>
              </a:rPr>
              <a:t> к 2028 г.</a:t>
            </a:r>
            <a:endParaRPr sz="1600" b="0" i="0" dirty="0">
              <a:solidFill>
                <a:srgbClr val="1B2140"/>
              </a:solidFill>
              <a:latin typeface="Segoe U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50976" y="5852159"/>
            <a:ext cx="46405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 b="0" i="1">
                <a:solidFill>
                  <a:srgbClr val="6B7699"/>
                </a:solidFill>
                <a:latin typeface="Segoe UI"/>
              </a:rPr>
              <a:t>Источник: </a:t>
            </a:r>
            <a:r>
              <a:rPr sz="900" b="0" i="1" u="sng">
                <a:solidFill>
                  <a:srgbClr val="6B7699"/>
                </a:solidFill>
                <a:latin typeface="Segoe UI"/>
                <a:hlinkClick r:id="rId3"/>
              </a:rPr>
              <a:t>ComNews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86500" y="4096511"/>
            <a:ext cx="5262372" cy="2139696"/>
          </a:xfrm>
          <a:prstGeom prst="roundRect">
            <a:avLst>
              <a:gd name="adj" fmla="val 5982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355080" y="4165091"/>
            <a:ext cx="5125212" cy="2002536"/>
          </a:xfrm>
          <a:prstGeom prst="roundRect">
            <a:avLst>
              <a:gd name="adj" fmla="val 4566"/>
            </a:avLst>
          </a:prstGeom>
          <a:noFill/>
          <a:ln w="6350">
            <a:solidFill>
              <a:srgbClr val="E3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597396" y="4407407"/>
            <a:ext cx="457200" cy="411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97396" y="4645151"/>
            <a:ext cx="46405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0" i="0">
                <a:solidFill>
                  <a:srgbClr val="1E2761"/>
                </a:solidFill>
                <a:latin typeface="Segoe UI Semibold"/>
              </a:rPr>
              <a:t>2,6 млн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97396" y="5518403"/>
            <a:ext cx="4882896" cy="2718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1B2140"/>
                </a:solidFill>
                <a:latin typeface="Segoe UI"/>
              </a:rPr>
              <a:t>дефицит</a:t>
            </a:r>
            <a:r>
              <a:rPr sz="16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1B2140"/>
                </a:solidFill>
                <a:latin typeface="Segoe UI"/>
              </a:rPr>
              <a:t>кадров</a:t>
            </a:r>
            <a:r>
              <a:rPr sz="1600" b="0" i="0" dirty="0">
                <a:solidFill>
                  <a:srgbClr val="1B2140"/>
                </a:solidFill>
                <a:latin typeface="Segoe UI"/>
              </a:rPr>
              <a:t>. </a:t>
            </a:r>
            <a:r>
              <a:rPr lang="ru-RU" sz="1600" b="0" i="0" dirty="0">
                <a:solidFill>
                  <a:srgbClr val="1B2140"/>
                </a:solidFill>
                <a:latin typeface="Segoe UI"/>
              </a:rPr>
              <a:t>Ставка на производительность</a:t>
            </a:r>
            <a:endParaRPr sz="1600" b="0" i="0" dirty="0">
              <a:solidFill>
                <a:srgbClr val="1B2140"/>
              </a:solidFill>
              <a:latin typeface="Segoe U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97396" y="5852159"/>
            <a:ext cx="46405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 b="0" i="1">
                <a:solidFill>
                  <a:srgbClr val="6B7699"/>
                </a:solidFill>
                <a:latin typeface="Segoe UI"/>
              </a:rPr>
              <a:t>Источник: </a:t>
            </a:r>
            <a:r>
              <a:rPr sz="900" b="0" i="1" u="sng">
                <a:solidFill>
                  <a:srgbClr val="6B7699"/>
                </a:solidFill>
                <a:latin typeface="Segoe UI"/>
                <a:hlinkClick r:id="rId4"/>
              </a:rPr>
              <a:t>РБК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510528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 b="0" i="0">
                <a:solidFill>
                  <a:srgbClr val="6B7699"/>
                </a:solidFill>
                <a:latin typeface="Segoe UI Semibold"/>
              </a:rPr>
              <a:t>Ситалл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68712" y="6510528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900" b="0" i="0">
                <a:solidFill>
                  <a:srgbClr val="6B7699"/>
                </a:solidFill>
                <a:latin typeface="Segoe UI"/>
              </a:rP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 spc="300">
                <a:solidFill>
                  <a:srgbClr val="C9A24B"/>
                </a:solidFill>
                <a:latin typeface="Segoe UI Semibold"/>
              </a:rPr>
              <a:t>РАЗРЫВ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0879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 i="0">
                <a:solidFill>
                  <a:srgbClr val="1E2761"/>
                </a:solidFill>
                <a:latin typeface="Segoe UI Semibold"/>
              </a:rPr>
              <a:t>Наука не доходит до производства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371600" cy="5029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2507741" cy="2487168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08659" y="1805939"/>
            <a:ext cx="2370582" cy="2350008"/>
          </a:xfrm>
          <a:prstGeom prst="roundRect">
            <a:avLst>
              <a:gd name="adj" fmla="val 3891"/>
            </a:avLst>
          </a:prstGeom>
          <a:noFill/>
          <a:ln w="6350">
            <a:solidFill>
              <a:srgbClr val="E3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50976" y="2048255"/>
            <a:ext cx="457200" cy="411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0976" y="2286000"/>
            <a:ext cx="1885949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800" b="0" i="0">
                <a:solidFill>
                  <a:srgbClr val="1E2761"/>
                </a:solidFill>
                <a:latin typeface="Segoe UI Semibold"/>
              </a:rPr>
              <a:t>80%+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078480"/>
            <a:ext cx="1885949" cy="688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0" i="0">
                <a:solidFill>
                  <a:srgbClr val="1B2140"/>
                </a:solidFill>
                <a:latin typeface="Segoe UI"/>
              </a:rPr>
              <a:t>патентов не доходят до применения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840480"/>
            <a:ext cx="188594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 b="0" i="1">
                <a:solidFill>
                  <a:srgbClr val="6B7699"/>
                </a:solidFill>
                <a:latin typeface="Segoe UI"/>
              </a:rPr>
              <a:t>Источник: </a:t>
            </a:r>
            <a:r>
              <a:rPr sz="900" b="0" i="1" u="sng">
                <a:solidFill>
                  <a:srgbClr val="6B7699"/>
                </a:solidFill>
                <a:latin typeface="Segoe UI"/>
                <a:hlinkClick r:id="rId2"/>
              </a:rPr>
              <a:t>Wharton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0429" y="1737360"/>
            <a:ext cx="2507741" cy="2487168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222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751325" y="2048255"/>
            <a:ext cx="45720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51325" y="2286000"/>
            <a:ext cx="1885949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800" b="0" i="0">
                <a:solidFill>
                  <a:srgbClr val="C9A24B"/>
                </a:solidFill>
                <a:latin typeface="Segoe UI Semibold"/>
              </a:rPr>
              <a:t>70%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51325" y="3078480"/>
            <a:ext cx="1885949" cy="688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0" i="0">
                <a:solidFill>
                  <a:srgbClr val="1B2140"/>
                </a:solidFill>
                <a:latin typeface="Segoe UI"/>
              </a:rPr>
              <a:t>пилотных проектов не выходят в масштаб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1325" y="3840480"/>
            <a:ext cx="188594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 b="0" i="1">
                <a:solidFill>
                  <a:srgbClr val="6B7699"/>
                </a:solidFill>
                <a:latin typeface="Segoe UI"/>
              </a:rPr>
              <a:t>Источник: </a:t>
            </a:r>
            <a:r>
              <a:rPr sz="900" b="0" i="1" u="sng">
                <a:solidFill>
                  <a:srgbClr val="6B7699"/>
                </a:solidFill>
                <a:latin typeface="Segoe UI"/>
                <a:hlinkClick r:id="rId3"/>
              </a:rPr>
              <a:t>McKinsey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0779" y="1737360"/>
            <a:ext cx="2507741" cy="2487168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09359" y="1805939"/>
            <a:ext cx="2370582" cy="2350008"/>
          </a:xfrm>
          <a:prstGeom prst="roundRect">
            <a:avLst>
              <a:gd name="adj" fmla="val 3891"/>
            </a:avLst>
          </a:prstGeom>
          <a:noFill/>
          <a:ln w="6350">
            <a:solidFill>
              <a:srgbClr val="E3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51675" y="2048255"/>
            <a:ext cx="457200" cy="411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51675" y="2286000"/>
            <a:ext cx="1885949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800" b="0" i="0">
                <a:solidFill>
                  <a:srgbClr val="1E2761"/>
                </a:solidFill>
                <a:latin typeface="Segoe UI Semibold"/>
              </a:rPr>
              <a:t>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1675" y="3078480"/>
            <a:ext cx="1885949" cy="688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0" i="0">
                <a:solidFill>
                  <a:srgbClr val="1B2140"/>
                </a:solidFill>
                <a:latin typeface="Segoe UI"/>
              </a:rPr>
              <a:t>компаний в стране берут льготу на НИОКР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1675" y="3840480"/>
            <a:ext cx="188594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 b="0" i="1">
                <a:solidFill>
                  <a:srgbClr val="6B7699"/>
                </a:solidFill>
                <a:latin typeface="Segoe UI"/>
              </a:rPr>
              <a:t>Источник: </a:t>
            </a:r>
            <a:r>
              <a:rPr sz="900" b="0" i="1" u="sng">
                <a:solidFill>
                  <a:srgbClr val="6B7699"/>
                </a:solidFill>
                <a:latin typeface="Segoe UI"/>
                <a:hlinkClick r:id="rId4"/>
              </a:rPr>
              <a:t>Решетников, ПМЭФ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41129" y="1737360"/>
            <a:ext cx="2507741" cy="2487168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222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352025" y="2048255"/>
            <a:ext cx="45720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52025" y="2286000"/>
            <a:ext cx="1885949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800" b="0" i="0">
                <a:solidFill>
                  <a:srgbClr val="C9A24B"/>
                </a:solidFill>
                <a:latin typeface="Segoe UI Semibold"/>
              </a:rPr>
              <a:t>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2025" y="3078480"/>
            <a:ext cx="1885949" cy="688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0" i="0">
                <a:solidFill>
                  <a:srgbClr val="1B2140"/>
                </a:solidFill>
                <a:latin typeface="Segoe UI"/>
              </a:rPr>
              <a:t>техноброкеров обучил Роспатент. Работать негде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52025" y="3840480"/>
            <a:ext cx="188594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 b="0" i="1">
                <a:solidFill>
                  <a:srgbClr val="6B7699"/>
                </a:solidFill>
                <a:latin typeface="Segoe UI"/>
              </a:rPr>
              <a:t>Источник: </a:t>
            </a:r>
            <a:r>
              <a:rPr sz="900" b="0" i="1" u="sng">
                <a:solidFill>
                  <a:srgbClr val="6B7699"/>
                </a:solidFill>
                <a:latin typeface="Segoe UI"/>
                <a:hlinkClick r:id="rId5"/>
              </a:rPr>
              <a:t>Роспатент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608576"/>
            <a:ext cx="54864" cy="13258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4127" y="4480560"/>
            <a:ext cx="548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5200" b="0" i="0">
                <a:solidFill>
                  <a:srgbClr val="C9A24B"/>
                </a:solidFill>
                <a:latin typeface="Segoe UI Semibold"/>
              </a:rPr>
              <a:t>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4626864"/>
            <a:ext cx="97200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100" b="0" i="1">
                <a:solidFill>
                  <a:srgbClr val="1E2761"/>
                </a:solidFill>
                <a:latin typeface="Segoe UI"/>
              </a:rPr>
              <a:t>Чтобы наука и бизнес нашли друг друга,
нужен технологический брокер»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72768" y="5541264"/>
            <a:ext cx="97200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0" i="0" u="sng">
                <a:solidFill>
                  <a:srgbClr val="6B7699"/>
                </a:solidFill>
                <a:latin typeface="Segoe UI Semibold"/>
                <a:hlinkClick r:id="rId5"/>
              </a:rPr>
              <a:t>Юрий Зубов, руководитель Роспатента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510528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 b="0" i="0">
                <a:solidFill>
                  <a:srgbClr val="6B7699"/>
                </a:solidFill>
                <a:latin typeface="Segoe UI Semibold"/>
              </a:rPr>
              <a:t>Ситалл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68712" y="6510528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900" b="0" i="0">
                <a:solidFill>
                  <a:srgbClr val="6B7699"/>
                </a:solidFill>
                <a:latin typeface="Segoe UI"/>
              </a:rP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 spc="300">
                <a:solidFill>
                  <a:srgbClr val="C9A24B"/>
                </a:solidFill>
                <a:latin typeface="Segoe UI Semibold"/>
              </a:rPr>
              <a:t>РЕГИОН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08792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 i="0" dirty="0" err="1">
                <a:solidFill>
                  <a:srgbClr val="1E2761"/>
                </a:solidFill>
                <a:latin typeface="Segoe UI Semibold"/>
              </a:rPr>
              <a:t>Свердловская</a:t>
            </a:r>
            <a:r>
              <a:rPr sz="3000" b="0" i="0" dirty="0">
                <a:solidFill>
                  <a:srgbClr val="1E2761"/>
                </a:solidFill>
                <a:latin typeface="Segoe UI Semibold"/>
              </a:rPr>
              <a:t> </a:t>
            </a:r>
            <a:r>
              <a:rPr sz="3000" b="0" i="0" dirty="0" err="1">
                <a:solidFill>
                  <a:srgbClr val="1E2761"/>
                </a:solidFill>
                <a:latin typeface="Segoe UI Semibold"/>
              </a:rPr>
              <a:t>область</a:t>
            </a:r>
            <a:r>
              <a:rPr sz="3000" b="0" i="0" dirty="0">
                <a:solidFill>
                  <a:srgbClr val="1E2761"/>
                </a:solidFill>
                <a:latin typeface="Segoe UI Semibold"/>
              </a:rPr>
              <a:t>: </a:t>
            </a:r>
            <a:r>
              <a:rPr sz="3000" b="0" i="0" dirty="0" err="1">
                <a:solidFill>
                  <a:srgbClr val="1E2761"/>
                </a:solidFill>
                <a:latin typeface="Segoe UI Semibold"/>
              </a:rPr>
              <a:t>сильная</a:t>
            </a:r>
            <a:r>
              <a:rPr sz="3000" b="0" i="0" dirty="0">
                <a:solidFill>
                  <a:srgbClr val="1E2761"/>
                </a:solidFill>
                <a:latin typeface="Segoe UI Semibold"/>
              </a:rPr>
              <a:t> </a:t>
            </a:r>
            <a:r>
              <a:rPr sz="3000" b="0" i="0" dirty="0" err="1">
                <a:solidFill>
                  <a:srgbClr val="1E2761"/>
                </a:solidFill>
                <a:latin typeface="Segoe UI Semibold"/>
              </a:rPr>
              <a:t>база</a:t>
            </a:r>
            <a:endParaRPr sz="3000" b="0" i="0" dirty="0">
              <a:solidFill>
                <a:srgbClr val="1E2761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371600" cy="5029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2507741" cy="2926080"/>
          </a:xfrm>
          <a:prstGeom prst="roundRect">
            <a:avLst>
              <a:gd name="adj" fmla="val 5104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08659" y="1805939"/>
            <a:ext cx="2370582" cy="2788920"/>
          </a:xfrm>
          <a:prstGeom prst="roundRect">
            <a:avLst>
              <a:gd name="adj" fmla="val 3857"/>
            </a:avLst>
          </a:prstGeom>
          <a:noFill/>
          <a:ln w="6350">
            <a:solidFill>
              <a:srgbClr val="E3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50976" y="2048255"/>
            <a:ext cx="457200" cy="411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0976" y="2286000"/>
            <a:ext cx="1885949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200" b="0" i="0">
                <a:solidFill>
                  <a:srgbClr val="1E2761"/>
                </a:solidFill>
                <a:latin typeface="Segoe UI Semibold"/>
              </a:rPr>
              <a:t>1-е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132328"/>
            <a:ext cx="1885949" cy="10739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 i="0">
                <a:solidFill>
                  <a:srgbClr val="1B2140"/>
                </a:solidFill>
                <a:latin typeface="Segoe UI"/>
              </a:rPr>
              <a:t>место в стране по передовым технологиям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4279392"/>
            <a:ext cx="188594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 b="0" i="1">
                <a:solidFill>
                  <a:srgbClr val="6B7699"/>
                </a:solidFill>
                <a:latin typeface="Segoe UI"/>
              </a:rPr>
              <a:t>Источник: </a:t>
            </a:r>
            <a:r>
              <a:rPr sz="900" b="0" i="1" u="sng">
                <a:solidFill>
                  <a:srgbClr val="6B7699"/>
                </a:solidFill>
                <a:latin typeface="Segoe UI"/>
                <a:hlinkClick r:id="rId2"/>
              </a:rPr>
              <a:t>Шмыков, июль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0429" y="1737360"/>
            <a:ext cx="2507741" cy="2926080"/>
          </a:xfrm>
          <a:prstGeom prst="roundRect">
            <a:avLst>
              <a:gd name="adj" fmla="val 5104"/>
            </a:avLst>
          </a:prstGeom>
          <a:solidFill>
            <a:srgbClr val="FFFFFF"/>
          </a:solidFill>
          <a:ln w="222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751325" y="2048255"/>
            <a:ext cx="45720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51325" y="2286000"/>
            <a:ext cx="1885949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200" b="0" i="0">
                <a:solidFill>
                  <a:srgbClr val="C9A24B"/>
                </a:solidFill>
                <a:latin typeface="Segoe UI Semibold"/>
              </a:rPr>
              <a:t>282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51325" y="3132328"/>
            <a:ext cx="1885949" cy="10739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B2140"/>
                </a:solidFill>
                <a:latin typeface="Segoe UI"/>
              </a:rPr>
              <a:t>предприятия</a:t>
            </a:r>
            <a:r>
              <a:rPr sz="1400" b="0" i="0" dirty="0">
                <a:solidFill>
                  <a:srgbClr val="1B2140"/>
                </a:solidFill>
                <a:latin typeface="Segoe UI"/>
              </a:rPr>
              <a:t> в «</a:t>
            </a:r>
            <a:r>
              <a:rPr sz="1400" b="0" i="0" dirty="0" err="1">
                <a:solidFill>
                  <a:srgbClr val="1B2140"/>
                </a:solidFill>
                <a:latin typeface="Segoe UI"/>
              </a:rPr>
              <a:t>Производительности</a:t>
            </a:r>
            <a:r>
              <a:rPr sz="14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1B2140"/>
                </a:solidFill>
                <a:latin typeface="Segoe UI"/>
              </a:rPr>
              <a:t>труда</a:t>
            </a:r>
            <a:r>
              <a:rPr sz="1400" b="0" i="0" dirty="0">
                <a:solidFill>
                  <a:srgbClr val="1B2140"/>
                </a:solidFill>
                <a:latin typeface="Segoe UI"/>
              </a:rPr>
              <a:t>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1325" y="4279392"/>
            <a:ext cx="188594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 b="0" i="1">
                <a:solidFill>
                  <a:srgbClr val="6B7699"/>
                </a:solidFill>
                <a:latin typeface="Segoe UI"/>
              </a:rPr>
              <a:t>Источник: </a:t>
            </a:r>
            <a:r>
              <a:rPr sz="900" b="0" i="1" u="sng">
                <a:solidFill>
                  <a:srgbClr val="6B7699"/>
                </a:solidFill>
                <a:latin typeface="Segoe UI"/>
                <a:hlinkClick r:id="rId3"/>
              </a:rPr>
              <a:t>Правительство области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0779" y="1737360"/>
            <a:ext cx="2507741" cy="2926080"/>
          </a:xfrm>
          <a:prstGeom prst="roundRect">
            <a:avLst>
              <a:gd name="adj" fmla="val 5104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09359" y="1805939"/>
            <a:ext cx="2370582" cy="2788920"/>
          </a:xfrm>
          <a:prstGeom prst="roundRect">
            <a:avLst>
              <a:gd name="adj" fmla="val 3857"/>
            </a:avLst>
          </a:prstGeom>
          <a:noFill/>
          <a:ln w="6350">
            <a:solidFill>
              <a:srgbClr val="E3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51675" y="2048255"/>
            <a:ext cx="457200" cy="411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51675" y="2286000"/>
            <a:ext cx="1885949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200" b="0" i="0">
                <a:solidFill>
                  <a:srgbClr val="1E2761"/>
                </a:solidFill>
                <a:latin typeface="Segoe UI Semibold"/>
              </a:rPr>
              <a:t>57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1675" y="3132328"/>
            <a:ext cx="1885949" cy="500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B2140"/>
                </a:solidFill>
                <a:latin typeface="Segoe UI"/>
              </a:rPr>
              <a:t>млрд</a:t>
            </a:r>
            <a:r>
              <a:rPr sz="1400" b="0" i="0" dirty="0">
                <a:solidFill>
                  <a:srgbClr val="1B2140"/>
                </a:solidFill>
                <a:latin typeface="Segoe UI"/>
              </a:rPr>
              <a:t> ₽ </a:t>
            </a:r>
            <a:r>
              <a:rPr lang="ru-RU" sz="1400" b="0" i="0" dirty="0">
                <a:solidFill>
                  <a:srgbClr val="1B2140"/>
                </a:solidFill>
                <a:latin typeface="Segoe UI"/>
              </a:rPr>
              <a:t>от</a:t>
            </a:r>
            <a:r>
              <a:rPr sz="14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1B2140"/>
                </a:solidFill>
                <a:latin typeface="Segoe UI"/>
              </a:rPr>
              <a:t>фонда</a:t>
            </a:r>
            <a:r>
              <a:rPr sz="14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1B2140"/>
                </a:solidFill>
                <a:latin typeface="Segoe UI"/>
              </a:rPr>
              <a:t>промышленности</a:t>
            </a:r>
            <a:endParaRPr sz="1400" b="0" i="0" dirty="0">
              <a:solidFill>
                <a:srgbClr val="1B2140"/>
              </a:solidFill>
              <a:latin typeface="Segoe U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51675" y="4279392"/>
            <a:ext cx="188594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 b="0" i="1">
                <a:solidFill>
                  <a:srgbClr val="6B7699"/>
                </a:solidFill>
                <a:latin typeface="Segoe UI"/>
              </a:rPr>
              <a:t>Источник: </a:t>
            </a:r>
            <a:r>
              <a:rPr sz="900" b="0" i="1" u="sng">
                <a:solidFill>
                  <a:srgbClr val="6B7699"/>
                </a:solidFill>
                <a:latin typeface="Segoe UI"/>
                <a:hlinkClick r:id="rId4"/>
              </a:rPr>
              <a:t>ФТРП области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41129" y="1737360"/>
            <a:ext cx="2507741" cy="2926080"/>
          </a:xfrm>
          <a:prstGeom prst="roundRect">
            <a:avLst>
              <a:gd name="adj" fmla="val 5104"/>
            </a:avLst>
          </a:prstGeom>
          <a:solidFill>
            <a:srgbClr val="FFFFFF"/>
          </a:solidFill>
          <a:ln w="222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352025" y="2048255"/>
            <a:ext cx="45720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52025" y="2286000"/>
            <a:ext cx="1885949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200" b="0" i="0">
                <a:solidFill>
                  <a:srgbClr val="C9A24B"/>
                </a:solidFill>
                <a:latin typeface="Segoe UI Semibold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2025" y="3132328"/>
            <a:ext cx="1885949" cy="763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B2140"/>
                </a:solidFill>
                <a:latin typeface="Segoe UI"/>
              </a:rPr>
              <a:t>структур</a:t>
            </a:r>
            <a:r>
              <a:rPr sz="14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1B2140"/>
                </a:solidFill>
                <a:latin typeface="Segoe UI"/>
              </a:rPr>
              <a:t>отвечает</a:t>
            </a:r>
            <a:r>
              <a:rPr sz="14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1B2140"/>
                </a:solidFill>
                <a:latin typeface="Segoe UI"/>
              </a:rPr>
              <a:t>за</a:t>
            </a:r>
            <a:r>
              <a:rPr sz="14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1B2140"/>
                </a:solidFill>
                <a:latin typeface="Segoe UI"/>
              </a:rPr>
              <a:t>путь</a:t>
            </a:r>
            <a:r>
              <a:rPr lang="ru-RU" sz="1400" b="0" i="0" dirty="0">
                <a:solidFill>
                  <a:srgbClr val="1B2140"/>
                </a:solidFill>
                <a:latin typeface="Segoe UI"/>
              </a:rPr>
              <a:t> от проблемы</a:t>
            </a:r>
            <a:r>
              <a:rPr sz="14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1B2140"/>
                </a:solidFill>
                <a:latin typeface="Segoe UI"/>
              </a:rPr>
              <a:t>до</a:t>
            </a:r>
            <a:r>
              <a:rPr sz="14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1B2140"/>
                </a:solidFill>
                <a:latin typeface="Segoe UI"/>
              </a:rPr>
              <a:t>внедрения</a:t>
            </a:r>
            <a:endParaRPr sz="1400" b="0" i="0" dirty="0">
              <a:solidFill>
                <a:srgbClr val="1B2140"/>
              </a:solidFill>
              <a:latin typeface="Segoe U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40079" y="5120639"/>
            <a:ext cx="68579" cy="1321307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4127" y="5102352"/>
            <a:ext cx="10360152" cy="12786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lang="ru-RU" sz="2500" b="0" i="0" dirty="0">
                <a:solidFill>
                  <a:srgbClr val="1E2761"/>
                </a:solidFill>
                <a:latin typeface="Segoe UI Semibold"/>
              </a:rPr>
              <a:t>Мы предлагаем усилить развитие инфраструктуры за счет связи проблем предприятий и контролируемого внедрения целевых решений.</a:t>
            </a:r>
            <a:endParaRPr sz="2500" b="0" i="0" dirty="0">
              <a:solidFill>
                <a:srgbClr val="1E2761"/>
              </a:solidFill>
              <a:latin typeface="Segoe UI Semibold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0080" y="6510528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 b="0" i="0">
                <a:solidFill>
                  <a:srgbClr val="6B7699"/>
                </a:solidFill>
                <a:latin typeface="Segoe UI Semibold"/>
              </a:rPr>
              <a:t>Ситалл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68712" y="6510528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900" b="0" i="0">
                <a:solidFill>
                  <a:srgbClr val="6B7699"/>
                </a:solidFill>
                <a:latin typeface="Segoe UI"/>
              </a:rP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 spc="300">
                <a:solidFill>
                  <a:srgbClr val="C9A24B"/>
                </a:solidFill>
                <a:latin typeface="Segoe UI Semibold"/>
              </a:rPr>
              <a:t>КАК ЭТО РАБОТАЕТ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0879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 i="0">
                <a:solidFill>
                  <a:srgbClr val="1E2761"/>
                </a:solidFill>
                <a:latin typeface="Segoe UI Semibold"/>
              </a:rPr>
              <a:t>Один цикл: от задачи завода до внедрения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371600" cy="5029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121408" y="1664208"/>
            <a:ext cx="2233422" cy="457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121408" y="1792224"/>
            <a:ext cx="223342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400" b="0" i="0">
                <a:solidFill>
                  <a:srgbClr val="1E2761"/>
                </a:solidFill>
                <a:latin typeface="Segoe UI Semibold"/>
              </a:rPr>
              <a:t>1. Задача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19422" y="1664208"/>
            <a:ext cx="2233422" cy="457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19422" y="1792224"/>
            <a:ext cx="223342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400" b="0" i="0">
                <a:solidFill>
                  <a:srgbClr val="1E2761"/>
                </a:solidFill>
                <a:latin typeface="Segoe UI Semibold"/>
              </a:rPr>
              <a:t>2. Поиск и проверка</a:t>
            </a:r>
          </a:p>
        </p:txBody>
      </p:sp>
      <p:sp>
        <p:nvSpPr>
          <p:cNvPr id="9" name="Rectangle 8"/>
          <p:cNvSpPr/>
          <p:nvPr/>
        </p:nvSpPr>
        <p:spPr>
          <a:xfrm>
            <a:off x="6917436" y="1664208"/>
            <a:ext cx="2233422" cy="457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17436" y="1792224"/>
            <a:ext cx="223342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400" b="0" i="0">
                <a:solidFill>
                  <a:srgbClr val="1E2761"/>
                </a:solidFill>
                <a:latin typeface="Segoe UI Semibold"/>
              </a:rPr>
              <a:t>3. Сделка и поддержка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15450" y="1664208"/>
            <a:ext cx="2233422" cy="457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15450" y="1792224"/>
            <a:ext cx="223342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400" b="0" i="0">
                <a:solidFill>
                  <a:srgbClr val="1E2761"/>
                </a:solidFill>
                <a:latin typeface="Segoe UI Semibold"/>
              </a:rPr>
              <a:t>4. Внедрение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31136"/>
            <a:ext cx="1298448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0" i="0">
                <a:solidFill>
                  <a:srgbClr val="6B7699"/>
                </a:solidFill>
                <a:latin typeface="Segoe UI Semibold"/>
              </a:rPr>
              <a:t>ПРЕДПРИЯТИЕ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21408" y="2231136"/>
            <a:ext cx="2233422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340864" y="2454689"/>
            <a:ext cx="1794510" cy="4855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lang="ru-RU" sz="1400" b="0" i="0" dirty="0">
                <a:solidFill>
                  <a:srgbClr val="1B2140"/>
                </a:solidFill>
                <a:latin typeface="Segoe UI"/>
              </a:rPr>
              <a:t>Обозначает потребность</a:t>
            </a:r>
            <a:endParaRPr sz="1400" b="0" i="0" dirty="0">
              <a:solidFill>
                <a:srgbClr val="1B2140"/>
              </a:solidFill>
              <a:latin typeface="Segoe U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519422" y="2231136"/>
            <a:ext cx="2233422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38878" y="2581807"/>
            <a:ext cx="1794510" cy="2313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lang="ru-RU" sz="1400" dirty="0">
                <a:solidFill>
                  <a:srgbClr val="1B2140"/>
                </a:solidFill>
                <a:latin typeface="Segoe UI"/>
              </a:rPr>
              <a:t>В</a:t>
            </a:r>
            <a:r>
              <a:rPr sz="1400" b="0" i="0" dirty="0" err="1">
                <a:solidFill>
                  <a:srgbClr val="1B2140"/>
                </a:solidFill>
                <a:latin typeface="Segoe UI"/>
              </a:rPr>
              <a:t>ыбирает</a:t>
            </a:r>
            <a:r>
              <a:rPr sz="14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1B2140"/>
                </a:solidFill>
                <a:latin typeface="Segoe UI"/>
              </a:rPr>
              <a:t>из</a:t>
            </a:r>
            <a:r>
              <a:rPr sz="14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lang="ru-RU" sz="1400" b="0" i="0" dirty="0">
                <a:solidFill>
                  <a:srgbClr val="1B2140"/>
                </a:solidFill>
                <a:latin typeface="Segoe UI"/>
              </a:rPr>
              <a:t>списка</a:t>
            </a:r>
            <a:endParaRPr sz="1400" b="0" i="0" dirty="0">
              <a:solidFill>
                <a:srgbClr val="1B2140"/>
              </a:solidFill>
              <a:latin typeface="Segoe U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917436" y="2231136"/>
            <a:ext cx="2233422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6892" y="2454689"/>
            <a:ext cx="1794510" cy="4855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lang="ru-RU" sz="1400" dirty="0">
                <a:solidFill>
                  <a:srgbClr val="1B2140"/>
                </a:solidFill>
                <a:latin typeface="Segoe UI"/>
              </a:rPr>
              <a:t>П</a:t>
            </a:r>
            <a:r>
              <a:rPr sz="1400" b="0" i="0" dirty="0" err="1">
                <a:solidFill>
                  <a:srgbClr val="1B2140"/>
                </a:solidFill>
                <a:latin typeface="Segoe UI"/>
              </a:rPr>
              <a:t>одписывает</a:t>
            </a:r>
            <a:r>
              <a:rPr sz="14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1B2140"/>
                </a:solidFill>
                <a:latin typeface="Segoe UI"/>
              </a:rPr>
              <a:t>договор</a:t>
            </a:r>
            <a:endParaRPr sz="1400" b="0" i="0" dirty="0">
              <a:solidFill>
                <a:srgbClr val="1B2140"/>
              </a:solidFill>
              <a:latin typeface="Segoe U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315450" y="2231136"/>
            <a:ext cx="2233422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34906" y="2327571"/>
            <a:ext cx="1794510" cy="7398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lang="ru-RU" sz="1400" dirty="0">
                <a:solidFill>
                  <a:srgbClr val="1B2140"/>
                </a:solidFill>
                <a:latin typeface="Segoe UI"/>
              </a:rPr>
              <a:t>П</a:t>
            </a:r>
            <a:r>
              <a:rPr sz="1400" b="0" i="0" dirty="0" err="1">
                <a:solidFill>
                  <a:srgbClr val="1B2140"/>
                </a:solidFill>
                <a:latin typeface="Segoe UI"/>
              </a:rPr>
              <a:t>олучает</a:t>
            </a:r>
            <a:r>
              <a:rPr lang="ru-RU" sz="1400" b="0" i="0" dirty="0">
                <a:solidFill>
                  <a:srgbClr val="1B2140"/>
                </a:solidFill>
                <a:latin typeface="Segoe UI"/>
              </a:rPr>
              <a:t> работающую</a:t>
            </a:r>
            <a:r>
              <a:rPr sz="14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1B2140"/>
                </a:solidFill>
                <a:latin typeface="Segoe UI"/>
              </a:rPr>
              <a:t>технологию</a:t>
            </a:r>
            <a:endParaRPr sz="1400" b="0" i="0" dirty="0">
              <a:solidFill>
                <a:srgbClr val="1B2140"/>
              </a:solidFill>
              <a:latin typeface="Segoe U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0080" y="3291840"/>
            <a:ext cx="1298448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0" i="0">
                <a:solidFill>
                  <a:srgbClr val="1E2761"/>
                </a:solidFill>
                <a:latin typeface="Segoe UI Semibold"/>
              </a:rPr>
              <a:t>СИТАЛЛ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21408" y="3291840"/>
            <a:ext cx="2233422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254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340864" y="3515393"/>
            <a:ext cx="1794510" cy="4855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lang="ru-RU" sz="1400" b="0" i="0" dirty="0">
                <a:solidFill>
                  <a:srgbClr val="1E2761"/>
                </a:solidFill>
                <a:latin typeface="Segoe UI Semibold"/>
              </a:rPr>
              <a:t>П</a:t>
            </a:r>
            <a:r>
              <a:rPr sz="1400" b="0" i="0" dirty="0" err="1">
                <a:solidFill>
                  <a:srgbClr val="1E2761"/>
                </a:solidFill>
                <a:latin typeface="Segoe UI Semibold"/>
              </a:rPr>
              <a:t>еревод</a:t>
            </a:r>
            <a:r>
              <a:rPr lang="ru-RU" sz="1400" dirty="0">
                <a:solidFill>
                  <a:srgbClr val="1E2761"/>
                </a:solidFill>
                <a:latin typeface="Segoe UI Semibold"/>
              </a:rPr>
              <a:t>им</a:t>
            </a:r>
            <a:r>
              <a:rPr sz="1400" b="0" i="0" dirty="0">
                <a:solidFill>
                  <a:srgbClr val="1E2761"/>
                </a:solidFill>
                <a:latin typeface="Segoe UI Semibold"/>
              </a:rPr>
              <a:t>
в </a:t>
            </a:r>
            <a:r>
              <a:rPr sz="1400" b="0" i="0" dirty="0" err="1">
                <a:solidFill>
                  <a:srgbClr val="1E2761"/>
                </a:solidFill>
                <a:latin typeface="Segoe UI Semibold"/>
              </a:rPr>
              <a:t>техзадание</a:t>
            </a:r>
            <a:endParaRPr sz="1400" b="0" i="0" dirty="0">
              <a:solidFill>
                <a:srgbClr val="1E2761"/>
              </a:solidFill>
              <a:latin typeface="Segoe UI Semibold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519422" y="3291840"/>
            <a:ext cx="2233422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254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38878" y="3388275"/>
            <a:ext cx="1794510" cy="7398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lang="ru-RU" sz="1400" dirty="0">
                <a:solidFill>
                  <a:srgbClr val="1E2761"/>
                </a:solidFill>
                <a:latin typeface="Segoe UI Semibold"/>
              </a:rPr>
              <a:t>Ищем </a:t>
            </a:r>
            <a:r>
              <a:rPr sz="1400" b="0" i="0" dirty="0">
                <a:solidFill>
                  <a:srgbClr val="1E2761"/>
                </a:solidFill>
                <a:latin typeface="Segoe UI Semibold"/>
              </a:rPr>
              <a:t>и </a:t>
            </a:r>
            <a:r>
              <a:rPr sz="1400" b="0" i="0" dirty="0" err="1">
                <a:solidFill>
                  <a:srgbClr val="1E2761"/>
                </a:solidFill>
                <a:latin typeface="Segoe UI Semibold"/>
              </a:rPr>
              <a:t>проверяе</a:t>
            </a:r>
            <a:r>
              <a:rPr lang="ru-RU" sz="1400" b="0" i="0" dirty="0">
                <a:solidFill>
                  <a:srgbClr val="1E2761"/>
                </a:solidFill>
                <a:latin typeface="Segoe UI Semibold"/>
              </a:rPr>
              <a:t>м</a:t>
            </a:r>
            <a:r>
              <a:rPr lang="ru-RU" sz="1400" dirty="0">
                <a:solidFill>
                  <a:srgbClr val="1E2761"/>
                </a:solidFill>
                <a:latin typeface="Segoe UI Semibold"/>
              </a:rPr>
              <a:t> решения и их поставщиков</a:t>
            </a:r>
            <a:endParaRPr lang="ru-RU" sz="1400" b="0" i="0" dirty="0">
              <a:solidFill>
                <a:srgbClr val="1E2761"/>
              </a:solidFill>
              <a:latin typeface="Segoe UI Semibold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917436" y="3291840"/>
            <a:ext cx="2233422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254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36892" y="3515393"/>
            <a:ext cx="1794510" cy="4855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lang="ru-RU" sz="1400" dirty="0">
                <a:solidFill>
                  <a:srgbClr val="1E2761"/>
                </a:solidFill>
                <a:latin typeface="Segoe UI Semibold"/>
              </a:rPr>
              <a:t>С</a:t>
            </a:r>
            <a:r>
              <a:rPr sz="1400" b="0" i="0" dirty="0" err="1">
                <a:solidFill>
                  <a:srgbClr val="1E2761"/>
                </a:solidFill>
                <a:latin typeface="Segoe UI Semibold"/>
              </a:rPr>
              <a:t>обирае</a:t>
            </a:r>
            <a:r>
              <a:rPr lang="ru-RU" sz="1400" b="0" i="0" dirty="0">
                <a:solidFill>
                  <a:srgbClr val="1E2761"/>
                </a:solidFill>
                <a:latin typeface="Segoe UI Semibold"/>
              </a:rPr>
              <a:t>м</a:t>
            </a:r>
            <a:r>
              <a:rPr sz="1400" b="0" i="0" dirty="0">
                <a:solidFill>
                  <a:srgbClr val="1E2761"/>
                </a:solidFill>
                <a:latin typeface="Segoe UI Semibold"/>
              </a:rPr>
              <a:t> </a:t>
            </a:r>
            <a:r>
              <a:rPr sz="1400" b="0" i="0" dirty="0" err="1">
                <a:solidFill>
                  <a:srgbClr val="1E2761"/>
                </a:solidFill>
                <a:latin typeface="Segoe UI Semibold"/>
              </a:rPr>
              <a:t>сделку</a:t>
            </a:r>
            <a:r>
              <a:rPr sz="1400" b="0" i="0" dirty="0">
                <a:solidFill>
                  <a:srgbClr val="1E2761"/>
                </a:solidFill>
                <a:latin typeface="Segoe UI Semibold"/>
              </a:rPr>
              <a:t>
и </a:t>
            </a:r>
            <a:r>
              <a:rPr sz="1400" b="0" i="0" dirty="0" err="1">
                <a:solidFill>
                  <a:srgbClr val="1E2761"/>
                </a:solidFill>
                <a:latin typeface="Segoe UI Semibold"/>
              </a:rPr>
              <a:t>поддержку</a:t>
            </a:r>
            <a:endParaRPr sz="1400" b="0" i="0" dirty="0">
              <a:solidFill>
                <a:srgbClr val="1E2761"/>
              </a:solidFill>
              <a:latin typeface="Segoe UI Semibold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9315450" y="3291840"/>
            <a:ext cx="2233422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254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34906" y="3388275"/>
            <a:ext cx="1794510" cy="7398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lang="ru-RU" sz="1400" b="0" i="0" dirty="0">
                <a:solidFill>
                  <a:srgbClr val="1E2761"/>
                </a:solidFill>
                <a:latin typeface="Segoe UI Semibold"/>
              </a:rPr>
              <a:t>Сопровождаем внедрение </a:t>
            </a:r>
            <a:r>
              <a:rPr lang="ru-RU" sz="1400" dirty="0">
                <a:solidFill>
                  <a:srgbClr val="1E2761"/>
                </a:solidFill>
                <a:latin typeface="Segoe UI Semibold"/>
              </a:rPr>
              <a:t>до запуска</a:t>
            </a:r>
            <a:endParaRPr sz="1400" b="0" i="0" dirty="0">
              <a:solidFill>
                <a:srgbClr val="1E2761"/>
              </a:solidFill>
              <a:latin typeface="Segoe UI Semibold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0080" y="4352544"/>
            <a:ext cx="1298448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0" i="0" dirty="0">
                <a:solidFill>
                  <a:srgbClr val="6B7699"/>
                </a:solidFill>
                <a:latin typeface="Segoe UI Semibold"/>
              </a:rPr>
              <a:t>НАУКА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19422" y="4352544"/>
            <a:ext cx="2233422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38878" y="4703215"/>
            <a:ext cx="1794510" cy="2313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lang="ru-RU" sz="1400" dirty="0">
                <a:solidFill>
                  <a:srgbClr val="1B2140"/>
                </a:solidFill>
                <a:latin typeface="Segoe UI"/>
              </a:rPr>
              <a:t>Д</a:t>
            </a:r>
            <a:r>
              <a:rPr sz="1400" b="0" i="0" dirty="0" err="1">
                <a:solidFill>
                  <a:srgbClr val="1B2140"/>
                </a:solidFill>
                <a:latin typeface="Segoe UI"/>
              </a:rPr>
              <a:t>аёт</a:t>
            </a:r>
            <a:r>
              <a:rPr sz="14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1B2140"/>
                </a:solidFill>
                <a:latin typeface="Segoe UI"/>
              </a:rPr>
              <a:t>решения</a:t>
            </a:r>
            <a:endParaRPr sz="1400" b="0" i="0" dirty="0">
              <a:solidFill>
                <a:srgbClr val="1B2140"/>
              </a:solidFill>
              <a:latin typeface="Segoe UI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917436" y="4352544"/>
            <a:ext cx="2233422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36892" y="4703215"/>
            <a:ext cx="1794510" cy="2313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lang="ru-RU" sz="1400" dirty="0">
                <a:solidFill>
                  <a:srgbClr val="1B2140"/>
                </a:solidFill>
                <a:latin typeface="Segoe UI"/>
              </a:rPr>
              <a:t>И</a:t>
            </a:r>
            <a:r>
              <a:rPr sz="1400" b="0" i="0" dirty="0" err="1">
                <a:solidFill>
                  <a:srgbClr val="1B2140"/>
                </a:solidFill>
                <a:latin typeface="Segoe UI"/>
              </a:rPr>
              <a:t>сполняет</a:t>
            </a:r>
            <a:r>
              <a:rPr sz="1400" b="0" i="0" dirty="0">
                <a:solidFill>
                  <a:srgbClr val="1B2140"/>
                </a:solidFill>
                <a:latin typeface="Segoe UI"/>
              </a:rPr>
              <a:t> НИОКР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15450" y="4352544"/>
            <a:ext cx="2233422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534906" y="4576097"/>
            <a:ext cx="1794510" cy="4855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lang="ru-RU" sz="1400" dirty="0">
                <a:solidFill>
                  <a:srgbClr val="1B2140"/>
                </a:solidFill>
                <a:latin typeface="Segoe UI"/>
              </a:rPr>
              <a:t>Д</a:t>
            </a:r>
            <a:r>
              <a:rPr sz="1400" b="0" i="0" dirty="0" err="1">
                <a:solidFill>
                  <a:srgbClr val="1B2140"/>
                </a:solidFill>
                <a:latin typeface="Segoe UI"/>
              </a:rPr>
              <a:t>орабатывает</a:t>
            </a:r>
            <a:r>
              <a:rPr sz="1400" b="0" i="0" dirty="0">
                <a:solidFill>
                  <a:srgbClr val="1B2140"/>
                </a:solidFill>
                <a:latin typeface="Segoe UI"/>
              </a:rPr>
              <a:t>
</a:t>
            </a:r>
            <a:r>
              <a:rPr sz="1400" b="0" i="0" dirty="0" err="1">
                <a:solidFill>
                  <a:srgbClr val="1B2140"/>
                </a:solidFill>
                <a:latin typeface="Segoe UI"/>
              </a:rPr>
              <a:t>под</a:t>
            </a:r>
            <a:r>
              <a:rPr sz="14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1B2140"/>
                </a:solidFill>
                <a:latin typeface="Segoe UI"/>
              </a:rPr>
              <a:t>производство</a:t>
            </a:r>
            <a:endParaRPr sz="1400" b="0" i="0" dirty="0">
              <a:solidFill>
                <a:srgbClr val="1B2140"/>
              </a:solidFill>
              <a:latin typeface="Segoe U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0080" y="5468112"/>
            <a:ext cx="10908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 spc="250" dirty="0">
                <a:solidFill>
                  <a:srgbClr val="C9A24B"/>
                </a:solidFill>
                <a:latin typeface="Segoe UI Semibold"/>
              </a:rPr>
              <a:t>ГОСУДАРСТВЕННЫЕ ИНСТРУМЕНТЫ, КОТОРЫЕ МЫ ПОДКЛЮЧАЕМ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833872"/>
            <a:ext cx="252145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00" b="0" i="0" dirty="0" err="1">
                <a:solidFill>
                  <a:srgbClr val="1E2761"/>
                </a:solidFill>
                <a:latin typeface="Segoe UI Semibold"/>
              </a:rPr>
              <a:t>Постановление</a:t>
            </a:r>
            <a:r>
              <a:rPr sz="1300" b="0" i="0" dirty="0">
                <a:solidFill>
                  <a:srgbClr val="1E2761"/>
                </a:solidFill>
                <a:latin typeface="Segoe UI Semibold"/>
              </a:rPr>
              <a:t> № 218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071616"/>
            <a:ext cx="2521458" cy="1955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lang="ru-RU" sz="1200" b="0" i="0" dirty="0">
                <a:solidFill>
                  <a:srgbClr val="6B7699"/>
                </a:solidFill>
                <a:latin typeface="Segoe UI"/>
              </a:rPr>
              <a:t>Компенсация </a:t>
            </a:r>
            <a:r>
              <a:rPr sz="1200" b="0" i="0" dirty="0" err="1">
                <a:solidFill>
                  <a:srgbClr val="6B7699"/>
                </a:solidFill>
                <a:latin typeface="Segoe UI"/>
              </a:rPr>
              <a:t>до</a:t>
            </a:r>
            <a:r>
              <a:rPr sz="1200" b="0" i="0" dirty="0">
                <a:solidFill>
                  <a:srgbClr val="6B7699"/>
                </a:solidFill>
                <a:latin typeface="Segoe UI"/>
              </a:rPr>
              <a:t> 70% </a:t>
            </a:r>
            <a:r>
              <a:rPr sz="1200" b="0" i="0" dirty="0" err="1">
                <a:solidFill>
                  <a:srgbClr val="6B7699"/>
                </a:solidFill>
                <a:latin typeface="Segoe UI"/>
              </a:rPr>
              <a:t>стоимости</a:t>
            </a:r>
            <a:endParaRPr sz="1200" b="0" i="0" dirty="0">
              <a:solidFill>
                <a:srgbClr val="6B7699"/>
              </a:solidFill>
              <a:latin typeface="Segoe U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435857" y="5833872"/>
            <a:ext cx="252145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00" b="0" i="0">
                <a:solidFill>
                  <a:srgbClr val="1E2761"/>
                </a:solidFill>
                <a:latin typeface="Segoe UI Semibold"/>
              </a:rPr>
              <a:t>Коэффициент 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35857" y="6071616"/>
            <a:ext cx="2521458" cy="1955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00" b="0" i="0" dirty="0">
                <a:solidFill>
                  <a:srgbClr val="6B7699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6B7699"/>
                </a:solidFill>
                <a:latin typeface="Segoe UI"/>
              </a:rPr>
              <a:t>налогу</a:t>
            </a:r>
            <a:r>
              <a:rPr sz="1200" b="0" i="0" dirty="0">
                <a:solidFill>
                  <a:srgbClr val="6B7699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6B7699"/>
                </a:solidFill>
                <a:latin typeface="Segoe UI"/>
              </a:rPr>
              <a:t>на</a:t>
            </a:r>
            <a:r>
              <a:rPr sz="1200" b="0" i="0" dirty="0">
                <a:solidFill>
                  <a:srgbClr val="6B7699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6B7699"/>
                </a:solidFill>
                <a:latin typeface="Segoe UI"/>
              </a:rPr>
              <a:t>прибыль</a:t>
            </a:r>
            <a:endParaRPr sz="1200" b="0" i="0" dirty="0">
              <a:solidFill>
                <a:srgbClr val="6B7699"/>
              </a:solidFill>
              <a:latin typeface="Segoe U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231636" y="5833872"/>
            <a:ext cx="252145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00" b="0" i="0">
                <a:solidFill>
                  <a:srgbClr val="1E2761"/>
                </a:solidFill>
                <a:latin typeface="Segoe UI Semibold"/>
              </a:rPr>
              <a:t>Грант на доращивание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31636" y="6071616"/>
            <a:ext cx="252145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00" b="0" i="0" dirty="0" err="1">
                <a:solidFill>
                  <a:srgbClr val="6B7699"/>
                </a:solidFill>
                <a:latin typeface="Segoe UI"/>
              </a:rPr>
              <a:t>до</a:t>
            </a:r>
            <a:r>
              <a:rPr sz="1200" b="0" i="0" dirty="0">
                <a:solidFill>
                  <a:srgbClr val="6B7699"/>
                </a:solidFill>
                <a:latin typeface="Segoe UI"/>
              </a:rPr>
              <a:t> 250 </a:t>
            </a:r>
            <a:r>
              <a:rPr sz="1200" b="0" i="0" dirty="0" err="1">
                <a:solidFill>
                  <a:srgbClr val="6B7699"/>
                </a:solidFill>
                <a:latin typeface="Segoe UI"/>
              </a:rPr>
              <a:t>млн</a:t>
            </a:r>
            <a:r>
              <a:rPr sz="1200" b="0" i="0" dirty="0">
                <a:solidFill>
                  <a:srgbClr val="6B7699"/>
                </a:solidFill>
                <a:latin typeface="Segoe UI"/>
              </a:rPr>
              <a:t> 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27413" y="5833872"/>
            <a:ext cx="252145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00" b="0" i="0">
                <a:solidFill>
                  <a:srgbClr val="1E2761"/>
                </a:solidFill>
                <a:latin typeface="Segoe UI Semibold"/>
              </a:rPr>
              <a:t>Займы фонда региона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27413" y="6071616"/>
            <a:ext cx="252145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00" b="0" i="0" dirty="0">
                <a:solidFill>
                  <a:srgbClr val="6B7699"/>
                </a:solidFill>
                <a:latin typeface="Segoe UI"/>
              </a:rPr>
              <a:t>20–200 </a:t>
            </a:r>
            <a:r>
              <a:rPr sz="1200" b="0" i="0" dirty="0" err="1">
                <a:solidFill>
                  <a:srgbClr val="6B7699"/>
                </a:solidFill>
                <a:latin typeface="Segoe UI"/>
              </a:rPr>
              <a:t>млн</a:t>
            </a:r>
            <a:r>
              <a:rPr sz="1200" b="0" i="0" dirty="0">
                <a:solidFill>
                  <a:srgbClr val="6B7699"/>
                </a:solidFill>
                <a:latin typeface="Segoe UI"/>
              </a:rPr>
              <a:t> 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510528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 b="0" i="0">
                <a:solidFill>
                  <a:srgbClr val="6B7699"/>
                </a:solidFill>
                <a:latin typeface="Segoe UI Semibold"/>
              </a:rPr>
              <a:t>Ситалл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68712" y="6510528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900" b="0" i="0">
                <a:solidFill>
                  <a:srgbClr val="6B7699"/>
                </a:solidFill>
                <a:latin typeface="Segoe UI"/>
              </a:rP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 spc="300">
                <a:solidFill>
                  <a:srgbClr val="C9A24B"/>
                </a:solidFill>
                <a:latin typeface="Segoe UI Semibold"/>
              </a:rPr>
              <a:t>КТО 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0879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 i="0">
                <a:solidFill>
                  <a:srgbClr val="1E2761"/>
                </a:solidFill>
                <a:latin typeface="Segoe UI Semibold"/>
              </a:rPr>
              <a:t>Внешний офис трансфера технологий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371600" cy="5029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262372" cy="221284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08659" y="1805939"/>
            <a:ext cx="5125212" cy="2075688"/>
          </a:xfrm>
          <a:prstGeom prst="roundRect">
            <a:avLst>
              <a:gd name="adj" fmla="val 4405"/>
            </a:avLst>
          </a:prstGeom>
          <a:noFill/>
          <a:ln w="6350">
            <a:solidFill>
              <a:srgbClr val="E3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5840" y="210312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096503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600" b="0" i="0" dirty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61488"/>
            <a:ext cx="453085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0" i="0">
                <a:solidFill>
                  <a:srgbClr val="1E2761"/>
                </a:solidFill>
                <a:latin typeface="Segoe UI Semibold"/>
              </a:rPr>
              <a:t>От задачи, а не от разработки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14600"/>
            <a:ext cx="45308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B2140"/>
                </a:solidFill>
                <a:latin typeface="Segoe UI"/>
              </a:rPr>
              <a:t>Начинаем</a:t>
            </a:r>
            <a:r>
              <a:rPr sz="14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1B2140"/>
                </a:solidFill>
                <a:latin typeface="Segoe UI"/>
              </a:rPr>
              <a:t>там</a:t>
            </a:r>
            <a:r>
              <a:rPr sz="1400" b="0" i="0" dirty="0">
                <a:solidFill>
                  <a:srgbClr val="1B2140"/>
                </a:solidFill>
                <a:latin typeface="Segoe UI"/>
              </a:rPr>
              <a:t>, </a:t>
            </a:r>
            <a:r>
              <a:rPr sz="1400" b="0" i="0" dirty="0" err="1">
                <a:solidFill>
                  <a:srgbClr val="1B2140"/>
                </a:solidFill>
                <a:latin typeface="Segoe UI"/>
              </a:rPr>
              <a:t>где</a:t>
            </a:r>
            <a:r>
              <a:rPr sz="14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1B2140"/>
                </a:solidFill>
                <a:latin typeface="Segoe UI"/>
              </a:rPr>
              <a:t>предприятие</a:t>
            </a:r>
            <a:r>
              <a:rPr sz="14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1B2140"/>
                </a:solidFill>
                <a:latin typeface="Segoe UI"/>
              </a:rPr>
              <a:t>теряет</a:t>
            </a:r>
            <a:r>
              <a:rPr sz="14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1B2140"/>
                </a:solidFill>
                <a:latin typeface="Segoe UI"/>
              </a:rPr>
              <a:t>деньги</a:t>
            </a:r>
            <a:endParaRPr sz="1400" b="0" i="0" dirty="0">
              <a:solidFill>
                <a:srgbClr val="1B2140"/>
              </a:solidFill>
              <a:latin typeface="Segoe U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86500" y="1737360"/>
            <a:ext cx="5262372" cy="221284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222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652260" y="2103120"/>
            <a:ext cx="457200" cy="457200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52260" y="2096503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2260" y="2761488"/>
            <a:ext cx="453085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0" i="0">
                <a:solidFill>
                  <a:srgbClr val="1E2761"/>
                </a:solidFill>
                <a:latin typeface="Segoe UI Semibold"/>
              </a:rPr>
              <a:t>Отвечаем деньгами за внедрение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2260" y="3214600"/>
            <a:ext cx="45308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400" b="0" i="0">
                <a:solidFill>
                  <a:srgbClr val="1B2140"/>
                </a:solidFill>
                <a:latin typeface="Segoe UI"/>
              </a:rPr>
              <a:t>Часть вознаграждения только при результате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224527"/>
            <a:ext cx="5262372" cy="221284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08659" y="4293107"/>
            <a:ext cx="5125212" cy="2075688"/>
          </a:xfrm>
          <a:prstGeom prst="roundRect">
            <a:avLst>
              <a:gd name="adj" fmla="val 4405"/>
            </a:avLst>
          </a:prstGeom>
          <a:noFill/>
          <a:ln w="6350">
            <a:solidFill>
              <a:srgbClr val="E3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05840" y="459028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5836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248655"/>
            <a:ext cx="453085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0" i="0">
                <a:solidFill>
                  <a:srgbClr val="1E2761"/>
                </a:solidFill>
                <a:latin typeface="Segoe UI Semibold"/>
              </a:rPr>
              <a:t>Господдержку собираем сами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701767"/>
            <a:ext cx="4530852" cy="478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lang="ru-RU" sz="1400" b="0" i="0" dirty="0">
                <a:solidFill>
                  <a:srgbClr val="1B2140"/>
                </a:solidFill>
                <a:latin typeface="Segoe UI"/>
              </a:rPr>
              <a:t>Документацию</a:t>
            </a:r>
            <a:r>
              <a:rPr sz="14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1B2140"/>
                </a:solidFill>
                <a:latin typeface="Segoe UI"/>
              </a:rPr>
              <a:t>готовим</a:t>
            </a:r>
            <a:r>
              <a:rPr sz="14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1B2140"/>
                </a:solidFill>
                <a:latin typeface="Segoe UI"/>
              </a:rPr>
              <a:t>мы</a:t>
            </a:r>
            <a:r>
              <a:rPr sz="1400" b="0" i="0" dirty="0">
                <a:solidFill>
                  <a:srgbClr val="1B2140"/>
                </a:solidFill>
                <a:latin typeface="Segoe UI"/>
              </a:rPr>
              <a:t>, а </a:t>
            </a:r>
            <a:r>
              <a:rPr sz="1400" b="0" i="0" dirty="0" err="1">
                <a:solidFill>
                  <a:srgbClr val="1B2140"/>
                </a:solidFill>
                <a:latin typeface="Segoe UI"/>
              </a:rPr>
              <a:t>не</a:t>
            </a:r>
            <a:r>
              <a:rPr sz="14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1B2140"/>
                </a:solidFill>
                <a:latin typeface="Segoe UI"/>
              </a:rPr>
              <a:t>сотрудники</a:t>
            </a:r>
            <a:r>
              <a:rPr sz="14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lang="ru-RU" sz="1400" b="0" i="0" dirty="0">
                <a:solidFill>
                  <a:srgbClr val="1B2140"/>
                </a:solidFill>
                <a:latin typeface="Segoe UI"/>
              </a:rPr>
              <a:t>предприятия</a:t>
            </a:r>
            <a:endParaRPr sz="1400" b="0" i="0" dirty="0">
              <a:solidFill>
                <a:srgbClr val="1B2140"/>
              </a:solidFill>
              <a:latin typeface="Segoe U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286500" y="4224527"/>
            <a:ext cx="5262372" cy="221284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222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652260" y="4590288"/>
            <a:ext cx="457200" cy="457200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52260" y="45836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2260" y="5248655"/>
            <a:ext cx="453085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0" i="0">
                <a:solidFill>
                  <a:srgbClr val="1E2761"/>
                </a:solidFill>
                <a:latin typeface="Segoe UI Semibold"/>
              </a:rPr>
              <a:t>Госцентрам приводим заказчика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2260" y="5701767"/>
            <a:ext cx="45308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400" b="0" i="0" dirty="0">
                <a:solidFill>
                  <a:srgbClr val="1B2140"/>
                </a:solidFill>
                <a:latin typeface="Segoe UI"/>
              </a:rPr>
              <a:t>НОЦ, ЦТТ и </a:t>
            </a:r>
            <a:r>
              <a:rPr sz="1400" b="0" i="0" dirty="0" err="1">
                <a:solidFill>
                  <a:srgbClr val="1B2140"/>
                </a:solidFill>
                <a:latin typeface="Segoe UI"/>
              </a:rPr>
              <a:t>фонды</a:t>
            </a:r>
            <a:r>
              <a:rPr sz="14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1B2140"/>
                </a:solidFill>
                <a:latin typeface="Segoe UI"/>
              </a:rPr>
              <a:t>для</a:t>
            </a:r>
            <a:r>
              <a:rPr sz="14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1B2140"/>
                </a:solidFill>
                <a:latin typeface="Segoe UI"/>
              </a:rPr>
              <a:t>нас</a:t>
            </a:r>
            <a:r>
              <a:rPr sz="14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1B2140"/>
                </a:solidFill>
                <a:latin typeface="Segoe UI"/>
              </a:rPr>
              <a:t>партнёры</a:t>
            </a:r>
            <a:r>
              <a:rPr sz="1400" b="0" i="0" dirty="0">
                <a:solidFill>
                  <a:srgbClr val="1B2140"/>
                </a:solidFill>
                <a:latin typeface="Segoe UI"/>
              </a:rPr>
              <a:t> и </a:t>
            </a:r>
            <a:r>
              <a:rPr sz="1400" b="0" i="0" dirty="0" err="1">
                <a:solidFill>
                  <a:srgbClr val="1B2140"/>
                </a:solidFill>
                <a:latin typeface="Segoe UI"/>
              </a:rPr>
              <a:t>исполнители</a:t>
            </a:r>
            <a:endParaRPr sz="1400" b="0" i="0" dirty="0">
              <a:solidFill>
                <a:srgbClr val="1B2140"/>
              </a:solidFill>
              <a:latin typeface="Segoe U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0080" y="6510528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 b="0" i="0">
                <a:solidFill>
                  <a:srgbClr val="6B7699"/>
                </a:solidFill>
                <a:latin typeface="Segoe UI Semibold"/>
              </a:rPr>
              <a:t>Ситалл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68712" y="6510528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900" b="0" i="0">
                <a:solidFill>
                  <a:srgbClr val="6B7699"/>
                </a:solidFill>
                <a:latin typeface="Segoe UI"/>
              </a:rP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 spc="300">
                <a:solidFill>
                  <a:srgbClr val="C9A24B"/>
                </a:solidFill>
                <a:latin typeface="Segoe UI Semibold"/>
              </a:rPr>
              <a:t>ЧЕМ РАБОТАЕМ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08792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 i="0" dirty="0" err="1">
                <a:solidFill>
                  <a:srgbClr val="1E2761"/>
                </a:solidFill>
                <a:latin typeface="Segoe UI Semibold"/>
              </a:rPr>
              <a:t>Ситалл</a:t>
            </a:r>
            <a:r>
              <a:rPr sz="3000" b="0" i="0" dirty="0">
                <a:solidFill>
                  <a:srgbClr val="1E2761"/>
                </a:solidFill>
                <a:latin typeface="Segoe UI Semibold"/>
              </a:rPr>
              <a:t> </a:t>
            </a:r>
            <a:r>
              <a:rPr sz="3000" b="0" i="0" dirty="0" err="1">
                <a:solidFill>
                  <a:srgbClr val="1E2761"/>
                </a:solidFill>
                <a:latin typeface="Segoe UI Semibold"/>
              </a:rPr>
              <a:t>Скаут</a:t>
            </a:r>
            <a:r>
              <a:rPr sz="3000" b="0" i="0" dirty="0">
                <a:solidFill>
                  <a:srgbClr val="1E2761"/>
                </a:solidFill>
                <a:latin typeface="Segoe UI Semibold"/>
              </a:rPr>
              <a:t>: </a:t>
            </a:r>
            <a:r>
              <a:rPr lang="ru-RU" sz="3000" dirty="0">
                <a:solidFill>
                  <a:srgbClr val="1E2761"/>
                </a:solidFill>
                <a:latin typeface="Segoe UI Semibold"/>
              </a:rPr>
              <a:t>собственная платформа </a:t>
            </a:r>
            <a:r>
              <a:rPr sz="3000" b="0" i="0" dirty="0" err="1">
                <a:solidFill>
                  <a:srgbClr val="1E2761"/>
                </a:solidFill>
                <a:latin typeface="Segoe UI Semibold"/>
              </a:rPr>
              <a:t>подбор</a:t>
            </a:r>
            <a:r>
              <a:rPr lang="ru-RU" sz="3000" b="0" i="0" dirty="0">
                <a:solidFill>
                  <a:srgbClr val="1E2761"/>
                </a:solidFill>
                <a:latin typeface="Segoe UI Semibold"/>
              </a:rPr>
              <a:t>а</a:t>
            </a:r>
            <a:r>
              <a:rPr sz="3000" b="0" i="0" dirty="0">
                <a:solidFill>
                  <a:srgbClr val="1E2761"/>
                </a:solidFill>
                <a:latin typeface="Segoe UI Semibold"/>
              </a:rPr>
              <a:t> </a:t>
            </a:r>
            <a:r>
              <a:rPr sz="3000" b="0" i="0" dirty="0" err="1">
                <a:solidFill>
                  <a:srgbClr val="1E2761"/>
                </a:solidFill>
                <a:latin typeface="Segoe UI Semibold"/>
              </a:rPr>
              <a:t>решений</a:t>
            </a:r>
            <a:endParaRPr sz="3000" b="0" i="0" dirty="0">
              <a:solidFill>
                <a:srgbClr val="1E2761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371600" cy="5029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4363516" cy="4023360"/>
          </a:xfrm>
          <a:prstGeom prst="roundRect">
            <a:avLst>
              <a:gd name="adj" fmla="val 3181"/>
            </a:avLst>
          </a:prstGeom>
          <a:solidFill>
            <a:srgbClr val="FFFFFF"/>
          </a:solidFill>
          <a:ln w="254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0" y="2103120"/>
            <a:ext cx="548640" cy="54864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395728"/>
            <a:ext cx="344911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0" b="0" i="0">
                <a:solidFill>
                  <a:srgbClr val="1E2761"/>
                </a:solidFill>
                <a:latin typeface="Segoe UI Semibold"/>
              </a:rPr>
              <a:t>5–7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950208"/>
            <a:ext cx="3449116" cy="10522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900" b="0" i="0" dirty="0" err="1">
                <a:solidFill>
                  <a:srgbClr val="1B2140"/>
                </a:solidFill>
                <a:latin typeface="Segoe UI"/>
              </a:rPr>
              <a:t>проверенных</a:t>
            </a:r>
            <a:r>
              <a:rPr sz="19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900" b="0" i="0" dirty="0" err="1">
                <a:solidFill>
                  <a:srgbClr val="1B2140"/>
                </a:solidFill>
                <a:latin typeface="Segoe UI"/>
              </a:rPr>
              <a:t>решений</a:t>
            </a:r>
            <a:r>
              <a:rPr sz="1900" b="0" i="0" dirty="0">
                <a:solidFill>
                  <a:srgbClr val="1B2140"/>
                </a:solidFill>
                <a:latin typeface="Segoe UI"/>
              </a:rPr>
              <a:t>
</a:t>
            </a:r>
            <a:r>
              <a:rPr sz="1900" b="0" i="0" dirty="0" err="1">
                <a:solidFill>
                  <a:srgbClr val="1B2140"/>
                </a:solidFill>
                <a:latin typeface="Segoe UI"/>
              </a:rPr>
              <a:t>под</a:t>
            </a:r>
            <a:r>
              <a:rPr sz="19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900" b="0" i="0" dirty="0" err="1">
                <a:solidFill>
                  <a:srgbClr val="1B2140"/>
                </a:solidFill>
                <a:latin typeface="Segoe UI"/>
              </a:rPr>
              <a:t>задачу</a:t>
            </a:r>
            <a:r>
              <a:rPr sz="19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900" b="0" i="0" dirty="0" err="1">
                <a:solidFill>
                  <a:srgbClr val="1B2140"/>
                </a:solidFill>
                <a:latin typeface="Segoe UI"/>
              </a:rPr>
              <a:t>предприятия</a:t>
            </a:r>
            <a:r>
              <a:rPr sz="1900" b="0" i="0" dirty="0">
                <a:solidFill>
                  <a:srgbClr val="1B2140"/>
                </a:solidFill>
                <a:latin typeface="Segoe UI"/>
              </a:rPr>
              <a:t>.
</a:t>
            </a:r>
            <a:r>
              <a:rPr sz="1900" b="0" i="0" dirty="0" err="1">
                <a:solidFill>
                  <a:srgbClr val="1B2140"/>
                </a:solidFill>
                <a:latin typeface="Segoe UI"/>
              </a:rPr>
              <a:t>Срок</a:t>
            </a:r>
            <a:r>
              <a:rPr sz="1900" b="0" i="0" dirty="0">
                <a:solidFill>
                  <a:srgbClr val="1B2140"/>
                </a:solidFill>
                <a:latin typeface="Segoe UI"/>
              </a:rPr>
              <a:t>: </a:t>
            </a:r>
            <a:r>
              <a:rPr sz="1900" i="0" dirty="0" err="1">
                <a:solidFill>
                  <a:srgbClr val="1B2140"/>
                </a:solidFill>
                <a:latin typeface="Segoe UI"/>
              </a:rPr>
              <a:t>сутки</a:t>
            </a:r>
            <a:r>
              <a:rPr sz="19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900" b="0" i="0" dirty="0" err="1">
                <a:solidFill>
                  <a:srgbClr val="1B2140"/>
                </a:solidFill>
                <a:latin typeface="Segoe UI"/>
              </a:rPr>
              <a:t>вместо</a:t>
            </a:r>
            <a:r>
              <a:rPr sz="19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900" b="0" i="0" dirty="0" err="1">
                <a:solidFill>
                  <a:srgbClr val="1B2140"/>
                </a:solidFill>
                <a:latin typeface="Segoe UI"/>
              </a:rPr>
              <a:t>недель</a:t>
            </a:r>
            <a:endParaRPr sz="1900" b="0" i="0" dirty="0">
              <a:solidFill>
                <a:srgbClr val="1B2140"/>
              </a:solidFill>
              <a:latin typeface="Segoe U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387644" y="1737360"/>
            <a:ext cx="6161227" cy="1225296"/>
          </a:xfrm>
          <a:prstGeom prst="roundRect">
            <a:avLst>
              <a:gd name="adj" fmla="val 10447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56224" y="1805939"/>
            <a:ext cx="6024067" cy="1088136"/>
          </a:xfrm>
          <a:prstGeom prst="roundRect">
            <a:avLst>
              <a:gd name="adj" fmla="val 8403"/>
            </a:avLst>
          </a:prstGeom>
          <a:noFill/>
          <a:ln w="6350">
            <a:solidFill>
              <a:srgbClr val="E3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35116" y="2048255"/>
            <a:ext cx="402336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35116" y="2231136"/>
            <a:ext cx="546628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900" b="0" i="0">
                <a:solidFill>
                  <a:srgbClr val="1E2761"/>
                </a:solidFill>
                <a:latin typeface="Segoe UI Semibold"/>
              </a:rPr>
              <a:t>Проверяет человек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35116" y="2596896"/>
            <a:ext cx="5813629" cy="2281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B2140"/>
                </a:solidFill>
                <a:latin typeface="Segoe UI"/>
              </a:rPr>
              <a:t>Инструмент</a:t>
            </a:r>
            <a:r>
              <a:rPr sz="14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1B2140"/>
                </a:solidFill>
                <a:latin typeface="Segoe UI"/>
              </a:rPr>
              <a:t>даёт</a:t>
            </a:r>
            <a:r>
              <a:rPr sz="14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lang="ru-RU" sz="1400" b="0" i="0" dirty="0">
                <a:solidFill>
                  <a:srgbClr val="1B2140"/>
                </a:solidFill>
                <a:latin typeface="Segoe UI"/>
              </a:rPr>
              <a:t>варианты</a:t>
            </a:r>
            <a:r>
              <a:rPr sz="1400" b="0" i="0" dirty="0">
                <a:solidFill>
                  <a:srgbClr val="1B2140"/>
                </a:solidFill>
                <a:latin typeface="Segoe UI"/>
              </a:rPr>
              <a:t>, </a:t>
            </a:r>
            <a:r>
              <a:rPr sz="1400" b="0" i="0" dirty="0" err="1">
                <a:solidFill>
                  <a:srgbClr val="1B2140"/>
                </a:solidFill>
                <a:latin typeface="Segoe UI"/>
              </a:rPr>
              <a:t>подтверждает</a:t>
            </a:r>
            <a:r>
              <a:rPr sz="14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lang="ru-RU" sz="1400" b="0" i="0" dirty="0">
                <a:solidFill>
                  <a:srgbClr val="1B2140"/>
                </a:solidFill>
                <a:latin typeface="Segoe UI"/>
              </a:rPr>
              <a:t>профильный специалист</a:t>
            </a:r>
            <a:endParaRPr sz="1400" b="0" i="0" dirty="0">
              <a:solidFill>
                <a:srgbClr val="1B2140"/>
              </a:solidFill>
              <a:latin typeface="Segoe U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387644" y="3136391"/>
            <a:ext cx="6161227" cy="1225296"/>
          </a:xfrm>
          <a:prstGeom prst="roundRect">
            <a:avLst>
              <a:gd name="adj" fmla="val 10447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56224" y="3204972"/>
            <a:ext cx="6024067" cy="1088136"/>
          </a:xfrm>
          <a:prstGeom prst="roundRect">
            <a:avLst>
              <a:gd name="adj" fmla="val 8403"/>
            </a:avLst>
          </a:prstGeom>
          <a:noFill/>
          <a:ln w="6350">
            <a:solidFill>
              <a:srgbClr val="E3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35116" y="3447287"/>
            <a:ext cx="402336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35116" y="3630168"/>
            <a:ext cx="546628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900" b="0" i="0">
                <a:solidFill>
                  <a:srgbClr val="1E2761"/>
                </a:solidFill>
                <a:latin typeface="Segoe UI Semibold"/>
              </a:rPr>
              <a:t>Открытые данные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35116" y="3995927"/>
            <a:ext cx="546628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400" b="0" i="0">
                <a:solidFill>
                  <a:srgbClr val="1B2140"/>
                </a:solidFill>
                <a:latin typeface="Segoe UI"/>
              </a:rPr>
              <a:t>Публикации, патенты, гранты, российский и мировой веб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87644" y="4535424"/>
            <a:ext cx="6161227" cy="1225296"/>
          </a:xfrm>
          <a:prstGeom prst="roundRect">
            <a:avLst>
              <a:gd name="adj" fmla="val 10447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456224" y="4604004"/>
            <a:ext cx="6024067" cy="1088136"/>
          </a:xfrm>
          <a:prstGeom prst="roundRect">
            <a:avLst>
              <a:gd name="adj" fmla="val 8403"/>
            </a:avLst>
          </a:prstGeom>
          <a:noFill/>
          <a:ln w="6350">
            <a:solidFill>
              <a:srgbClr val="E3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735116" y="4846320"/>
            <a:ext cx="402336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35116" y="5029200"/>
            <a:ext cx="546628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900" b="0" i="0" dirty="0" err="1">
                <a:solidFill>
                  <a:srgbClr val="1E2761"/>
                </a:solidFill>
                <a:latin typeface="Segoe UI Semibold"/>
              </a:rPr>
              <a:t>Готов</a:t>
            </a:r>
            <a:r>
              <a:rPr lang="ru-RU" sz="1900" b="0" i="0" dirty="0">
                <a:solidFill>
                  <a:srgbClr val="1E2761"/>
                </a:solidFill>
                <a:latin typeface="Segoe UI Semibold"/>
              </a:rPr>
              <a:t>ы</a:t>
            </a:r>
            <a:r>
              <a:rPr sz="1900" b="0" i="0" dirty="0">
                <a:solidFill>
                  <a:srgbClr val="1E2761"/>
                </a:solidFill>
                <a:latin typeface="Segoe UI Semibold"/>
              </a:rPr>
              <a:t> к ГИС НИОКР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35116" y="5394960"/>
            <a:ext cx="546628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B2140"/>
                </a:solidFill>
                <a:latin typeface="Segoe UI"/>
              </a:rPr>
              <a:t>Подключимся</a:t>
            </a:r>
            <a:r>
              <a:rPr sz="1400" b="0" i="0" dirty="0">
                <a:solidFill>
                  <a:srgbClr val="1B2140"/>
                </a:solidFill>
                <a:latin typeface="Segoe UI"/>
              </a:rPr>
              <a:t>, </a:t>
            </a:r>
            <a:r>
              <a:rPr sz="1400" b="0" i="0" dirty="0" err="1">
                <a:solidFill>
                  <a:srgbClr val="1B2140"/>
                </a:solidFill>
                <a:latin typeface="Segoe UI"/>
              </a:rPr>
              <a:t>когда</a:t>
            </a:r>
            <a:r>
              <a:rPr sz="14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1B2140"/>
                </a:solidFill>
                <a:latin typeface="Segoe UI"/>
              </a:rPr>
              <a:t>система</a:t>
            </a:r>
            <a:r>
              <a:rPr sz="14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1B2140"/>
                </a:solidFill>
                <a:latin typeface="Segoe UI"/>
              </a:rPr>
              <a:t>откроется</a:t>
            </a:r>
            <a:r>
              <a:rPr sz="14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1B2140"/>
                </a:solidFill>
                <a:latin typeface="Segoe UI"/>
              </a:rPr>
              <a:t>для</a:t>
            </a:r>
            <a:r>
              <a:rPr sz="14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1B2140"/>
                </a:solidFill>
                <a:latin typeface="Segoe UI"/>
              </a:rPr>
              <a:t>рынка</a:t>
            </a:r>
            <a:endParaRPr sz="1400" b="0" i="0" dirty="0">
              <a:solidFill>
                <a:srgbClr val="1B2140"/>
              </a:solidFill>
              <a:latin typeface="Segoe U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 b="0" i="0">
                <a:solidFill>
                  <a:srgbClr val="6B7699"/>
                </a:solidFill>
                <a:latin typeface="Segoe UI Semibold"/>
              </a:rPr>
              <a:t>Ситалл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68712" y="6510528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900" b="0" i="0">
                <a:solidFill>
                  <a:srgbClr val="6B7699"/>
                </a:solidFill>
                <a:latin typeface="Segoe UI"/>
              </a:rP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 spc="300">
                <a:solidFill>
                  <a:srgbClr val="C9A24B"/>
                </a:solidFill>
                <a:latin typeface="Segoe UI Semibold"/>
              </a:rPr>
              <a:t>ЦЕННОСТЬ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0879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 i="0">
                <a:solidFill>
                  <a:srgbClr val="1E2761"/>
                </a:solidFill>
                <a:latin typeface="Segoe UI Semibold"/>
              </a:rPr>
              <a:t>Что получает каждая сторона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371600" cy="5029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416807" cy="4114800"/>
          </a:xfrm>
          <a:prstGeom prst="roundRect">
            <a:avLst>
              <a:gd name="adj" fmla="val 3746"/>
            </a:avLst>
          </a:prstGeom>
          <a:solidFill>
            <a:srgbClr val="FFFFFF"/>
          </a:solidFill>
          <a:ln w="222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5840" y="2048256"/>
            <a:ext cx="402336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249424"/>
            <a:ext cx="26852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00" b="0" i="0" spc="250">
                <a:solidFill>
                  <a:srgbClr val="1E2761"/>
                </a:solidFill>
                <a:latin typeface="Segoe UI Semibold"/>
              </a:rPr>
              <a:t>РЕГИОНУ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2871216"/>
            <a:ext cx="82296" cy="8229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61872" y="2743200"/>
            <a:ext cx="242925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50" b="0" i="0" dirty="0" err="1">
                <a:solidFill>
                  <a:srgbClr val="1B2140"/>
                </a:solidFill>
                <a:latin typeface="Segoe UI"/>
              </a:rPr>
              <a:t>Рост</a:t>
            </a:r>
            <a:r>
              <a:rPr sz="155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50" b="0" i="0" dirty="0" err="1">
                <a:solidFill>
                  <a:srgbClr val="1B2140"/>
                </a:solidFill>
                <a:latin typeface="Segoe UI"/>
              </a:rPr>
              <a:t>частных</a:t>
            </a:r>
            <a:r>
              <a:rPr sz="155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50" b="0" i="0" dirty="0" err="1">
                <a:solidFill>
                  <a:srgbClr val="1B2140"/>
                </a:solidFill>
                <a:latin typeface="Segoe UI"/>
              </a:rPr>
              <a:t>вложений</a:t>
            </a:r>
            <a:r>
              <a:rPr sz="1550" b="0" i="0" dirty="0">
                <a:solidFill>
                  <a:srgbClr val="1B2140"/>
                </a:solidFill>
                <a:latin typeface="Segoe UI"/>
              </a:rPr>
              <a:t> в </a:t>
            </a:r>
            <a:r>
              <a:rPr sz="1550" b="0" i="0" dirty="0" err="1">
                <a:solidFill>
                  <a:srgbClr val="1B2140"/>
                </a:solidFill>
                <a:latin typeface="Segoe UI"/>
              </a:rPr>
              <a:t>науку</a:t>
            </a:r>
            <a:endParaRPr sz="1550" b="0" i="0" dirty="0">
              <a:solidFill>
                <a:srgbClr val="1B2140"/>
              </a:solidFill>
              <a:latin typeface="Segoe UI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005840" y="3730752"/>
            <a:ext cx="82296" cy="8229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61872" y="3602736"/>
            <a:ext cx="24292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50" b="0" i="0" dirty="0" err="1">
                <a:solidFill>
                  <a:srgbClr val="1B2140"/>
                </a:solidFill>
                <a:latin typeface="Segoe UI"/>
              </a:rPr>
              <a:t>Загрузка</a:t>
            </a:r>
            <a:r>
              <a:rPr sz="155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50" b="0" i="0" dirty="0" err="1">
                <a:solidFill>
                  <a:srgbClr val="1B2140"/>
                </a:solidFill>
                <a:latin typeface="Segoe UI"/>
              </a:rPr>
              <a:t>вузов</a:t>
            </a:r>
            <a:r>
              <a:rPr sz="155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50" b="0" i="0" dirty="0" err="1">
                <a:solidFill>
                  <a:srgbClr val="1B2140"/>
                </a:solidFill>
                <a:latin typeface="Segoe UI"/>
              </a:rPr>
              <a:t>заказами</a:t>
            </a:r>
            <a:endParaRPr sz="1550" b="0" i="0" dirty="0">
              <a:solidFill>
                <a:srgbClr val="1B2140"/>
              </a:solidFill>
              <a:latin typeface="Segoe UI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005840" y="4315968"/>
            <a:ext cx="82296" cy="8229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61872" y="4187952"/>
            <a:ext cx="242925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50" b="0" i="0" dirty="0" err="1">
                <a:solidFill>
                  <a:srgbClr val="1B2140"/>
                </a:solidFill>
                <a:latin typeface="Segoe UI"/>
              </a:rPr>
              <a:t>Федеральные</a:t>
            </a:r>
            <a:r>
              <a:rPr sz="155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50" b="0" i="0" dirty="0" err="1">
                <a:solidFill>
                  <a:srgbClr val="1B2140"/>
                </a:solidFill>
                <a:latin typeface="Segoe UI"/>
              </a:rPr>
              <a:t>деньги</a:t>
            </a:r>
            <a:r>
              <a:rPr sz="1550" b="0" i="0" dirty="0">
                <a:solidFill>
                  <a:srgbClr val="1B2140"/>
                </a:solidFill>
                <a:latin typeface="Segoe UI"/>
              </a:rPr>
              <a:t> в </a:t>
            </a:r>
            <a:r>
              <a:rPr sz="1550" b="0" i="0" dirty="0" err="1">
                <a:solidFill>
                  <a:srgbClr val="1B2140"/>
                </a:solidFill>
                <a:latin typeface="Segoe UI"/>
              </a:rPr>
              <a:t>регион</a:t>
            </a:r>
            <a:endParaRPr sz="1550" b="0" i="0" dirty="0">
              <a:solidFill>
                <a:srgbClr val="1B2140"/>
              </a:solidFill>
              <a:latin typeface="Segoe UI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005840" y="5175503"/>
            <a:ext cx="82296" cy="8229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61872" y="5047488"/>
            <a:ext cx="24292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50" b="0" i="0" dirty="0" err="1">
                <a:solidFill>
                  <a:srgbClr val="1B2140"/>
                </a:solidFill>
                <a:latin typeface="Segoe UI"/>
              </a:rPr>
              <a:t>Расходов</a:t>
            </a:r>
            <a:r>
              <a:rPr sz="155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50" b="0" i="0" dirty="0" err="1">
                <a:solidFill>
                  <a:srgbClr val="1B2140"/>
                </a:solidFill>
                <a:latin typeface="Segoe UI"/>
              </a:rPr>
              <a:t>бюджета</a:t>
            </a:r>
            <a:r>
              <a:rPr sz="155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50" b="0" i="0" dirty="0" err="1">
                <a:solidFill>
                  <a:srgbClr val="1B2140"/>
                </a:solidFill>
                <a:latin typeface="Segoe UI"/>
              </a:rPr>
              <a:t>нет</a:t>
            </a:r>
            <a:endParaRPr sz="1550" b="0" i="0" dirty="0">
              <a:solidFill>
                <a:srgbClr val="1B2140"/>
              </a:solidFill>
              <a:latin typeface="Segoe U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386072" y="1737360"/>
            <a:ext cx="3416807" cy="4114800"/>
          </a:xfrm>
          <a:prstGeom prst="roundRect">
            <a:avLst>
              <a:gd name="adj" fmla="val 3746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454652" y="1805939"/>
            <a:ext cx="3279648" cy="3977639"/>
          </a:xfrm>
          <a:prstGeom prst="roundRect">
            <a:avLst>
              <a:gd name="adj" fmla="val 2788"/>
            </a:avLst>
          </a:prstGeom>
          <a:noFill/>
          <a:ln w="6350">
            <a:solidFill>
              <a:srgbClr val="E3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51832" y="2048256"/>
            <a:ext cx="402336" cy="411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1832" y="2249424"/>
            <a:ext cx="26852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00" b="0" i="0" spc="250">
                <a:solidFill>
                  <a:srgbClr val="1E2761"/>
                </a:solidFill>
                <a:latin typeface="Segoe UI Semibold"/>
              </a:rPr>
              <a:t>ПРЕДПРИЯТИЮ</a:t>
            </a:r>
          </a:p>
        </p:txBody>
      </p:sp>
      <p:sp>
        <p:nvSpPr>
          <p:cNvPr id="20" name="Oval 19"/>
          <p:cNvSpPr/>
          <p:nvPr/>
        </p:nvSpPr>
        <p:spPr>
          <a:xfrm>
            <a:off x="4751832" y="2871216"/>
            <a:ext cx="82296" cy="822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07864" y="2743200"/>
            <a:ext cx="24292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50" b="0" i="0" dirty="0" err="1">
                <a:solidFill>
                  <a:srgbClr val="1B2140"/>
                </a:solidFill>
                <a:latin typeface="Segoe UI"/>
              </a:rPr>
              <a:t>Решение</a:t>
            </a:r>
            <a:r>
              <a:rPr sz="155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50" b="0" i="0" dirty="0" err="1">
                <a:solidFill>
                  <a:srgbClr val="1B2140"/>
                </a:solidFill>
                <a:latin typeface="Segoe UI"/>
              </a:rPr>
              <a:t>без</a:t>
            </a:r>
            <a:r>
              <a:rPr sz="155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50" b="0" i="0" dirty="0" err="1">
                <a:solidFill>
                  <a:srgbClr val="1B2140"/>
                </a:solidFill>
                <a:latin typeface="Segoe UI"/>
              </a:rPr>
              <a:t>своего</a:t>
            </a:r>
            <a:r>
              <a:rPr sz="1550" b="0" i="0" dirty="0">
                <a:solidFill>
                  <a:srgbClr val="1B2140"/>
                </a:solidFill>
                <a:latin typeface="Segoe UI"/>
              </a:rPr>
              <a:t> R&amp;D</a:t>
            </a:r>
          </a:p>
        </p:txBody>
      </p:sp>
      <p:sp>
        <p:nvSpPr>
          <p:cNvPr id="22" name="Oval 21"/>
          <p:cNvSpPr/>
          <p:nvPr/>
        </p:nvSpPr>
        <p:spPr>
          <a:xfrm>
            <a:off x="4751832" y="3456432"/>
            <a:ext cx="82296" cy="822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07864" y="3328416"/>
            <a:ext cx="2429255" cy="537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lang="ru-RU" sz="1550" b="0" i="0" dirty="0">
                <a:solidFill>
                  <a:srgbClr val="1B2140"/>
                </a:solidFill>
                <a:latin typeface="Segoe UI"/>
              </a:rPr>
              <a:t>На </a:t>
            </a:r>
            <a:r>
              <a:rPr sz="1550" b="0" i="0" dirty="0">
                <a:solidFill>
                  <a:srgbClr val="1B2140"/>
                </a:solidFill>
                <a:latin typeface="Segoe UI"/>
              </a:rPr>
              <a:t>100 </a:t>
            </a:r>
            <a:r>
              <a:rPr sz="1550" b="0" i="0" dirty="0" err="1">
                <a:solidFill>
                  <a:srgbClr val="1B2140"/>
                </a:solidFill>
                <a:latin typeface="Segoe UI"/>
              </a:rPr>
              <a:t>млн</a:t>
            </a:r>
            <a:r>
              <a:rPr sz="1550" b="0" i="0" dirty="0">
                <a:solidFill>
                  <a:srgbClr val="1B2140"/>
                </a:solidFill>
                <a:latin typeface="Segoe UI"/>
              </a:rPr>
              <a:t> ₽ </a:t>
            </a:r>
            <a:r>
              <a:rPr sz="1550" b="0" i="0" dirty="0" err="1">
                <a:solidFill>
                  <a:srgbClr val="1B2140"/>
                </a:solidFill>
                <a:latin typeface="Segoe UI"/>
              </a:rPr>
              <a:t>проекта</a:t>
            </a:r>
            <a:r>
              <a:rPr lang="ru-RU" sz="1550" dirty="0">
                <a:solidFill>
                  <a:srgbClr val="1B2140"/>
                </a:solidFill>
                <a:latin typeface="Segoe UI"/>
              </a:rPr>
              <a:t> только </a:t>
            </a:r>
            <a:r>
              <a:rPr sz="1550" b="0" i="0" dirty="0">
                <a:solidFill>
                  <a:srgbClr val="1B2140"/>
                </a:solidFill>
                <a:latin typeface="Segoe UI"/>
              </a:rPr>
              <a:t>15–30 </a:t>
            </a:r>
            <a:r>
              <a:rPr sz="1550" b="0" i="0" dirty="0" err="1">
                <a:solidFill>
                  <a:srgbClr val="1B2140"/>
                </a:solidFill>
                <a:latin typeface="Segoe UI"/>
              </a:rPr>
              <a:t>млн</a:t>
            </a:r>
            <a:r>
              <a:rPr sz="1550" b="0" i="0" dirty="0">
                <a:solidFill>
                  <a:srgbClr val="1B2140"/>
                </a:solidFill>
                <a:latin typeface="Segoe UI"/>
              </a:rPr>
              <a:t> ₽ </a:t>
            </a:r>
            <a:r>
              <a:rPr sz="1550" b="0" i="0" dirty="0" err="1">
                <a:solidFill>
                  <a:srgbClr val="1B2140"/>
                </a:solidFill>
                <a:latin typeface="Segoe UI"/>
              </a:rPr>
              <a:t>своих</a:t>
            </a:r>
            <a:endParaRPr sz="1550" b="0" i="0" dirty="0">
              <a:solidFill>
                <a:srgbClr val="1B2140"/>
              </a:solidFill>
              <a:latin typeface="Segoe UI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751832" y="4315968"/>
            <a:ext cx="82296" cy="822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07864" y="4187952"/>
            <a:ext cx="2429255" cy="537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50" b="0" i="0" dirty="0" err="1">
                <a:solidFill>
                  <a:srgbClr val="1B2140"/>
                </a:solidFill>
                <a:latin typeface="Segoe UI"/>
              </a:rPr>
              <a:t>Один</a:t>
            </a:r>
            <a:r>
              <a:rPr sz="155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50" b="0" i="0" dirty="0" err="1">
                <a:solidFill>
                  <a:srgbClr val="1B2140"/>
                </a:solidFill>
                <a:latin typeface="Segoe UI"/>
              </a:rPr>
              <a:t>подрядчик</a:t>
            </a:r>
            <a:r>
              <a:rPr sz="155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50" b="0" i="0" dirty="0" err="1">
                <a:solidFill>
                  <a:srgbClr val="1B2140"/>
                </a:solidFill>
                <a:latin typeface="Segoe UI"/>
              </a:rPr>
              <a:t>вместо</a:t>
            </a:r>
            <a:r>
              <a:rPr sz="155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50" b="0" i="0" dirty="0" err="1">
                <a:solidFill>
                  <a:srgbClr val="1B2140"/>
                </a:solidFill>
                <a:latin typeface="Segoe UI"/>
              </a:rPr>
              <a:t>десяти</a:t>
            </a:r>
            <a:r>
              <a:rPr lang="ru-RU" sz="1550" b="0" i="0" dirty="0">
                <a:solidFill>
                  <a:srgbClr val="1B2140"/>
                </a:solidFill>
                <a:latin typeface="Segoe UI"/>
              </a:rPr>
              <a:t> на все этапы</a:t>
            </a:r>
            <a:endParaRPr sz="1550" b="0" i="0" dirty="0">
              <a:solidFill>
                <a:srgbClr val="1B2140"/>
              </a:solidFill>
              <a:latin typeface="Segoe UI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4751832" y="5175503"/>
            <a:ext cx="82296" cy="822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07864" y="5047488"/>
            <a:ext cx="242925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50" b="0" i="0" dirty="0" err="1">
                <a:solidFill>
                  <a:srgbClr val="1B2140"/>
                </a:solidFill>
                <a:latin typeface="Segoe UI"/>
              </a:rPr>
              <a:t>Ответ</a:t>
            </a:r>
            <a:r>
              <a:rPr sz="155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50" b="0" i="0" dirty="0" err="1">
                <a:solidFill>
                  <a:srgbClr val="1B2140"/>
                </a:solidFill>
                <a:latin typeface="Segoe UI"/>
              </a:rPr>
              <a:t>за</a:t>
            </a:r>
            <a:r>
              <a:rPr sz="1550" b="0" i="0" dirty="0">
                <a:solidFill>
                  <a:srgbClr val="1B2140"/>
                </a:solidFill>
                <a:latin typeface="Segoe UI"/>
              </a:rPr>
              <a:t> 3–4 </a:t>
            </a:r>
            <a:r>
              <a:rPr sz="1550" b="0" i="0" dirty="0" err="1">
                <a:solidFill>
                  <a:srgbClr val="1B2140"/>
                </a:solidFill>
                <a:latin typeface="Segoe UI"/>
              </a:rPr>
              <a:t>недели</a:t>
            </a:r>
            <a:r>
              <a:rPr sz="1550" b="0" i="0" dirty="0">
                <a:solidFill>
                  <a:srgbClr val="1B2140"/>
                </a:solidFill>
                <a:latin typeface="Segoe UI"/>
              </a:rPr>
              <a:t>, а </a:t>
            </a:r>
            <a:r>
              <a:rPr sz="1550" b="0" i="0" dirty="0" err="1">
                <a:solidFill>
                  <a:srgbClr val="1B2140"/>
                </a:solidFill>
                <a:latin typeface="Segoe UI"/>
              </a:rPr>
              <a:t>не</a:t>
            </a:r>
            <a:r>
              <a:rPr sz="155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50" b="0" i="0" dirty="0" err="1">
                <a:solidFill>
                  <a:srgbClr val="1B2140"/>
                </a:solidFill>
                <a:latin typeface="Segoe UI"/>
              </a:rPr>
              <a:t>за</a:t>
            </a:r>
            <a:r>
              <a:rPr sz="155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50" b="0" i="0" dirty="0" err="1">
                <a:solidFill>
                  <a:srgbClr val="1B2140"/>
                </a:solidFill>
                <a:latin typeface="Segoe UI"/>
              </a:rPr>
              <a:t>два</a:t>
            </a:r>
            <a:r>
              <a:rPr sz="155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50" b="0" i="0" dirty="0" err="1">
                <a:solidFill>
                  <a:srgbClr val="1B2140"/>
                </a:solidFill>
                <a:latin typeface="Segoe UI"/>
              </a:rPr>
              <a:t>года</a:t>
            </a:r>
            <a:endParaRPr sz="1550" b="0" i="0" dirty="0">
              <a:solidFill>
                <a:srgbClr val="1B2140"/>
              </a:solidFill>
              <a:latin typeface="Segoe U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132063" y="1737360"/>
            <a:ext cx="3416807" cy="4114800"/>
          </a:xfrm>
          <a:prstGeom prst="roundRect">
            <a:avLst>
              <a:gd name="adj" fmla="val 3746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200643" y="1805939"/>
            <a:ext cx="3279648" cy="3977639"/>
          </a:xfrm>
          <a:prstGeom prst="roundRect">
            <a:avLst>
              <a:gd name="adj" fmla="val 2788"/>
            </a:avLst>
          </a:prstGeom>
          <a:noFill/>
          <a:ln w="6350">
            <a:solidFill>
              <a:srgbClr val="E3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497824" y="2048256"/>
            <a:ext cx="402336" cy="411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97824" y="2249424"/>
            <a:ext cx="26852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00" b="0" i="0" spc="250">
                <a:solidFill>
                  <a:srgbClr val="1E2761"/>
                </a:solidFill>
                <a:latin typeface="Segoe UI Semibold"/>
              </a:rPr>
              <a:t>НАУКЕ</a:t>
            </a:r>
          </a:p>
        </p:txBody>
      </p:sp>
      <p:sp>
        <p:nvSpPr>
          <p:cNvPr id="32" name="Oval 31"/>
          <p:cNvSpPr/>
          <p:nvPr/>
        </p:nvSpPr>
        <p:spPr>
          <a:xfrm>
            <a:off x="8497824" y="2871216"/>
            <a:ext cx="82296" cy="822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53856" y="2743200"/>
            <a:ext cx="242925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50" b="0" i="0" dirty="0" err="1">
                <a:solidFill>
                  <a:srgbClr val="1B2140"/>
                </a:solidFill>
                <a:latin typeface="Segoe UI"/>
              </a:rPr>
              <a:t>Оплаченные</a:t>
            </a:r>
            <a:r>
              <a:rPr sz="155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50" b="0" i="0" dirty="0" err="1">
                <a:solidFill>
                  <a:srgbClr val="1B2140"/>
                </a:solidFill>
                <a:latin typeface="Segoe UI"/>
              </a:rPr>
              <a:t>заказы</a:t>
            </a:r>
            <a:r>
              <a:rPr sz="155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50" b="0" i="0" dirty="0" err="1">
                <a:solidFill>
                  <a:srgbClr val="1B2140"/>
                </a:solidFill>
                <a:latin typeface="Segoe UI"/>
              </a:rPr>
              <a:t>от</a:t>
            </a:r>
            <a:r>
              <a:rPr sz="155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50" b="0" i="0" dirty="0" err="1">
                <a:solidFill>
                  <a:srgbClr val="1B2140"/>
                </a:solidFill>
                <a:latin typeface="Segoe UI"/>
              </a:rPr>
              <a:t>заводов</a:t>
            </a:r>
            <a:endParaRPr sz="1550" b="0" i="0" dirty="0">
              <a:solidFill>
                <a:srgbClr val="1B2140"/>
              </a:solidFill>
              <a:latin typeface="Segoe UI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8497824" y="3730752"/>
            <a:ext cx="82296" cy="822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53856" y="3602736"/>
            <a:ext cx="242925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50" b="0" i="0" dirty="0" err="1">
                <a:solidFill>
                  <a:srgbClr val="1B2140"/>
                </a:solidFill>
                <a:latin typeface="Segoe UI"/>
              </a:rPr>
              <a:t>Перевод</a:t>
            </a:r>
            <a:r>
              <a:rPr sz="155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50" b="0" i="0" dirty="0" err="1">
                <a:solidFill>
                  <a:srgbClr val="1B2140"/>
                </a:solidFill>
                <a:latin typeface="Segoe UI"/>
              </a:rPr>
              <a:t>на</a:t>
            </a:r>
            <a:r>
              <a:rPr sz="155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50" b="0" i="0" dirty="0" err="1">
                <a:solidFill>
                  <a:srgbClr val="1B2140"/>
                </a:solidFill>
                <a:latin typeface="Segoe UI"/>
              </a:rPr>
              <a:t>язык</a:t>
            </a:r>
            <a:r>
              <a:rPr sz="155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50" b="0" i="0" dirty="0" err="1">
                <a:solidFill>
                  <a:srgbClr val="1B2140"/>
                </a:solidFill>
                <a:latin typeface="Segoe UI"/>
              </a:rPr>
              <a:t>бизнеса</a:t>
            </a:r>
            <a:r>
              <a:rPr sz="155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50" b="0" i="0" dirty="0" err="1">
                <a:solidFill>
                  <a:srgbClr val="1B2140"/>
                </a:solidFill>
                <a:latin typeface="Segoe UI"/>
              </a:rPr>
              <a:t>за</a:t>
            </a:r>
            <a:r>
              <a:rPr sz="155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50" b="0" i="0" dirty="0" err="1">
                <a:solidFill>
                  <a:srgbClr val="1B2140"/>
                </a:solidFill>
                <a:latin typeface="Segoe UI"/>
              </a:rPr>
              <a:t>нами</a:t>
            </a:r>
            <a:endParaRPr sz="1550" b="0" i="0" dirty="0">
              <a:solidFill>
                <a:srgbClr val="1B2140"/>
              </a:solidFill>
              <a:latin typeface="Segoe UI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8497824" y="4590288"/>
            <a:ext cx="82296" cy="822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753856" y="4462272"/>
            <a:ext cx="24292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50" b="0" i="0" dirty="0" err="1">
                <a:solidFill>
                  <a:srgbClr val="1B2140"/>
                </a:solidFill>
                <a:latin typeface="Segoe UI"/>
              </a:rPr>
              <a:t>Участие</a:t>
            </a:r>
            <a:r>
              <a:rPr sz="155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50" b="0" i="0" dirty="0" err="1">
                <a:solidFill>
                  <a:srgbClr val="1B2140"/>
                </a:solidFill>
                <a:latin typeface="Segoe UI"/>
              </a:rPr>
              <a:t>бесплатно</a:t>
            </a:r>
            <a:endParaRPr sz="1550" b="0" i="0" dirty="0">
              <a:solidFill>
                <a:srgbClr val="1B2140"/>
              </a:solidFill>
              <a:latin typeface="Segoe U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0080" y="6510528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 b="0" i="0">
                <a:solidFill>
                  <a:srgbClr val="6B7699"/>
                </a:solidFill>
                <a:latin typeface="Segoe UI Semibold"/>
              </a:rPr>
              <a:t>Ситалл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68712" y="6510528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900" b="0" i="0">
                <a:solidFill>
                  <a:srgbClr val="6B7699"/>
                </a:solidFill>
                <a:latin typeface="Segoe UI"/>
              </a:rP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 spc="300">
                <a:solidFill>
                  <a:srgbClr val="C9A24B"/>
                </a:solidFill>
                <a:latin typeface="Segoe UI Semibold"/>
              </a:rPr>
              <a:t>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0879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 i="0">
                <a:solidFill>
                  <a:srgbClr val="1E2761"/>
                </a:solidFill>
                <a:latin typeface="Segoe UI Semibold"/>
              </a:rPr>
              <a:t>Четыре прямых ответа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371600" cy="5029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262372" cy="221284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08659" y="1805939"/>
            <a:ext cx="5125212" cy="2075688"/>
          </a:xfrm>
          <a:prstGeom prst="roundRect">
            <a:avLst>
              <a:gd name="adj" fmla="val 4405"/>
            </a:avLst>
          </a:prstGeom>
          <a:noFill/>
          <a:ln w="6350">
            <a:solidFill>
              <a:srgbClr val="E3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5840" y="2084831"/>
            <a:ext cx="438912" cy="438912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068487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600" b="0" i="0" dirty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9344" y="2066543"/>
            <a:ext cx="392734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900" b="0" i="0">
                <a:solidFill>
                  <a:srgbClr val="1E2761"/>
                </a:solidFill>
                <a:latin typeface="Segoe UI Semibold"/>
              </a:rPr>
              <a:t>У нас есть НОЦ, ЦТТ и фонд.
Зачем вы?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18097"/>
            <a:ext cx="4530852" cy="8052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1B2140"/>
                </a:solidFill>
                <a:latin typeface="Segoe UI"/>
              </a:rPr>
              <a:t>Они</a:t>
            </a:r>
            <a:r>
              <a:rPr sz="15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1B2140"/>
                </a:solidFill>
                <a:latin typeface="Segoe UI"/>
              </a:rPr>
              <a:t>работают</a:t>
            </a:r>
            <a:r>
              <a:rPr sz="15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1B2140"/>
                </a:solidFill>
                <a:latin typeface="Segoe UI"/>
              </a:rPr>
              <a:t>от</a:t>
            </a:r>
            <a:r>
              <a:rPr sz="15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1B2140"/>
                </a:solidFill>
                <a:latin typeface="Segoe UI"/>
              </a:rPr>
              <a:t>разработки</a:t>
            </a:r>
            <a:r>
              <a:rPr sz="1500" b="0" i="0" dirty="0">
                <a:solidFill>
                  <a:srgbClr val="1B2140"/>
                </a:solidFill>
                <a:latin typeface="Segoe UI"/>
              </a:rPr>
              <a:t>. </a:t>
            </a:r>
            <a:r>
              <a:rPr sz="1500" b="0" i="0" dirty="0" err="1">
                <a:solidFill>
                  <a:srgbClr val="1B2140"/>
                </a:solidFill>
                <a:latin typeface="Segoe UI"/>
              </a:rPr>
              <a:t>Мы</a:t>
            </a:r>
            <a:r>
              <a:rPr sz="15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1B2140"/>
                </a:solidFill>
                <a:latin typeface="Segoe UI"/>
              </a:rPr>
              <a:t>от</a:t>
            </a:r>
            <a:r>
              <a:rPr sz="15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1B2140"/>
                </a:solidFill>
                <a:latin typeface="Segoe UI"/>
              </a:rPr>
              <a:t>задачи</a:t>
            </a:r>
            <a:r>
              <a:rPr sz="15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1B2140"/>
                </a:solidFill>
                <a:latin typeface="Segoe UI"/>
              </a:rPr>
              <a:t>завода</a:t>
            </a:r>
            <a:r>
              <a:rPr sz="1500" b="0" i="0" dirty="0">
                <a:solidFill>
                  <a:srgbClr val="1B2140"/>
                </a:solidFill>
                <a:latin typeface="Segoe UI"/>
              </a:rPr>
              <a:t> и </a:t>
            </a:r>
            <a:r>
              <a:rPr sz="1500" b="0" i="0" dirty="0" err="1">
                <a:solidFill>
                  <a:srgbClr val="1B2140"/>
                </a:solidFill>
                <a:latin typeface="Segoe UI"/>
              </a:rPr>
              <a:t>отвечаем</a:t>
            </a:r>
            <a:r>
              <a:rPr sz="15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1B2140"/>
                </a:solidFill>
                <a:latin typeface="Segoe UI"/>
              </a:rPr>
              <a:t>деньгами</a:t>
            </a:r>
            <a:r>
              <a:rPr sz="15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1B2140"/>
                </a:solidFill>
                <a:latin typeface="Segoe UI"/>
              </a:rPr>
              <a:t>за</a:t>
            </a:r>
            <a:r>
              <a:rPr sz="15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1B2140"/>
                </a:solidFill>
                <a:latin typeface="Segoe UI"/>
              </a:rPr>
              <a:t>внедрение</a:t>
            </a:r>
            <a:r>
              <a:rPr lang="ru-RU" sz="1500" b="0" i="0" dirty="0">
                <a:solidFill>
                  <a:srgbClr val="1B2140"/>
                </a:solidFill>
                <a:latin typeface="Segoe UI"/>
              </a:rPr>
              <a:t>, доведение до работающего результата.</a:t>
            </a:r>
            <a:endParaRPr sz="1500" b="0" i="0" dirty="0">
              <a:solidFill>
                <a:srgbClr val="1B2140"/>
              </a:solidFill>
              <a:latin typeface="Segoe U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86500" y="1737360"/>
            <a:ext cx="5262372" cy="221284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222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652260" y="2084831"/>
            <a:ext cx="438912" cy="438912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52260" y="2068487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55764" y="2066543"/>
            <a:ext cx="392734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900" b="0" i="0">
                <a:solidFill>
                  <a:srgbClr val="1E2761"/>
                </a:solidFill>
                <a:latin typeface="Segoe UI Semibold"/>
              </a:rPr>
              <a:t>Что просите у бюджета?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2260" y="2918097"/>
            <a:ext cx="4530852" cy="5282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1B2140"/>
                </a:solidFill>
                <a:latin typeface="Segoe UI"/>
              </a:rPr>
              <a:t>Статус</a:t>
            </a:r>
            <a:r>
              <a:rPr sz="15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1B2140"/>
                </a:solidFill>
                <a:latin typeface="Segoe UI"/>
              </a:rPr>
              <a:t>партнёра</a:t>
            </a:r>
            <a:r>
              <a:rPr sz="1500" b="0" i="0" dirty="0">
                <a:solidFill>
                  <a:srgbClr val="1B2140"/>
                </a:solidFill>
                <a:latin typeface="Segoe UI"/>
              </a:rPr>
              <a:t> и </a:t>
            </a:r>
            <a:r>
              <a:rPr sz="1500" b="0" i="0" dirty="0" err="1">
                <a:solidFill>
                  <a:srgbClr val="1B2140"/>
                </a:solidFill>
                <a:latin typeface="Segoe UI"/>
              </a:rPr>
              <a:t>представление</a:t>
            </a:r>
            <a:r>
              <a:rPr sz="15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1B2140"/>
                </a:solidFill>
                <a:latin typeface="Segoe UI"/>
              </a:rPr>
              <a:t>предприятиям</a:t>
            </a:r>
            <a:r>
              <a:rPr lang="ru-RU" sz="1500" dirty="0">
                <a:solidFill>
                  <a:srgbClr val="1B2140"/>
                </a:solidFill>
                <a:latin typeface="Segoe UI"/>
              </a:rPr>
              <a:t>. Бюджетные деньги нам не нужны.</a:t>
            </a:r>
            <a:endParaRPr sz="1500" b="0" i="0" dirty="0">
              <a:solidFill>
                <a:srgbClr val="1B2140"/>
              </a:solidFill>
              <a:latin typeface="Segoe U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4224527"/>
            <a:ext cx="5262372" cy="221284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222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05840" y="4571999"/>
            <a:ext cx="438912" cy="438912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555655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9344" y="4553712"/>
            <a:ext cx="392734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900" b="0" i="0" dirty="0" err="1">
                <a:solidFill>
                  <a:srgbClr val="1E2761"/>
                </a:solidFill>
                <a:latin typeface="Segoe UI Semibold"/>
              </a:rPr>
              <a:t>Зачем</a:t>
            </a:r>
            <a:r>
              <a:rPr sz="1900" b="0" i="0" dirty="0">
                <a:solidFill>
                  <a:srgbClr val="1E2761"/>
                </a:solidFill>
                <a:latin typeface="Segoe UI Semibold"/>
              </a:rPr>
              <a:t> </a:t>
            </a:r>
            <a:r>
              <a:rPr sz="1900" b="0" i="0" dirty="0" err="1">
                <a:solidFill>
                  <a:srgbClr val="1E2761"/>
                </a:solidFill>
                <a:latin typeface="Segoe UI Semibold"/>
              </a:rPr>
              <a:t>посредник</a:t>
            </a:r>
            <a:r>
              <a:rPr sz="1900" b="0" i="0" dirty="0">
                <a:solidFill>
                  <a:srgbClr val="1E2761"/>
                </a:solidFill>
                <a:latin typeface="Segoe UI Semibold"/>
              </a:rPr>
              <a:t>?
</a:t>
            </a:r>
            <a:r>
              <a:rPr sz="1900" b="0" i="0" dirty="0" err="1">
                <a:solidFill>
                  <a:srgbClr val="1E2761"/>
                </a:solidFill>
                <a:latin typeface="Segoe UI Semibold"/>
              </a:rPr>
              <a:t>Пойдём</a:t>
            </a:r>
            <a:r>
              <a:rPr sz="1900" b="0" i="0" dirty="0">
                <a:solidFill>
                  <a:srgbClr val="1E2761"/>
                </a:solidFill>
                <a:latin typeface="Segoe UI Semibold"/>
              </a:rPr>
              <a:t> </a:t>
            </a:r>
            <a:r>
              <a:rPr sz="1900" b="0" i="0" dirty="0" err="1">
                <a:solidFill>
                  <a:srgbClr val="1E2761"/>
                </a:solidFill>
                <a:latin typeface="Segoe UI Semibold"/>
              </a:rPr>
              <a:t>напрямую</a:t>
            </a:r>
            <a:endParaRPr sz="1900" b="0" i="0" dirty="0">
              <a:solidFill>
                <a:srgbClr val="1E2761"/>
              </a:solidFill>
              <a:latin typeface="Segoe UI Semibold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05840" y="5405264"/>
            <a:ext cx="4530852" cy="8052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1B2140"/>
                </a:solidFill>
                <a:latin typeface="Segoe UI"/>
              </a:rPr>
              <a:t>Напрямую</a:t>
            </a:r>
            <a:r>
              <a:rPr sz="15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1B2140"/>
                </a:solidFill>
                <a:latin typeface="Segoe UI"/>
              </a:rPr>
              <a:t>это</a:t>
            </a:r>
            <a:r>
              <a:rPr sz="15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1B2140"/>
                </a:solidFill>
                <a:latin typeface="Segoe UI"/>
              </a:rPr>
              <a:t>один</a:t>
            </a:r>
            <a:r>
              <a:rPr sz="15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1B2140"/>
                </a:solidFill>
                <a:latin typeface="Segoe UI"/>
              </a:rPr>
              <a:t>институт</a:t>
            </a:r>
            <a:r>
              <a:rPr sz="1500" b="0" i="0" dirty="0">
                <a:solidFill>
                  <a:srgbClr val="1B2140"/>
                </a:solidFill>
                <a:latin typeface="Segoe UI"/>
              </a:rPr>
              <a:t> и </a:t>
            </a:r>
            <a:r>
              <a:rPr sz="1500" b="0" i="0" dirty="0" err="1">
                <a:solidFill>
                  <a:srgbClr val="1B2140"/>
                </a:solidFill>
                <a:latin typeface="Segoe UI"/>
              </a:rPr>
              <a:t>его</a:t>
            </a:r>
            <a:r>
              <a:rPr sz="15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1B2140"/>
                </a:solidFill>
                <a:latin typeface="Segoe UI"/>
              </a:rPr>
              <a:t>оценка</a:t>
            </a:r>
            <a:r>
              <a:rPr sz="15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1B2140"/>
                </a:solidFill>
                <a:latin typeface="Segoe UI"/>
              </a:rPr>
              <a:t>своей</a:t>
            </a:r>
            <a:r>
              <a:rPr sz="15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1B2140"/>
                </a:solidFill>
                <a:latin typeface="Segoe UI"/>
              </a:rPr>
              <a:t>же</a:t>
            </a:r>
            <a:r>
              <a:rPr sz="15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1B2140"/>
                </a:solidFill>
                <a:latin typeface="Segoe UI"/>
              </a:rPr>
              <a:t>разработки</a:t>
            </a:r>
            <a:r>
              <a:rPr lang="ru-RU" sz="1500" b="0" i="0" dirty="0">
                <a:solidFill>
                  <a:srgbClr val="1B2140"/>
                </a:solidFill>
                <a:latin typeface="Segoe UI"/>
              </a:rPr>
              <a:t>. Мы дадим квалифицированную выборку и ответственно доведем до запуска</a:t>
            </a:r>
            <a:endParaRPr sz="1500" b="0" i="0" dirty="0">
              <a:solidFill>
                <a:srgbClr val="1B2140"/>
              </a:solidFill>
              <a:latin typeface="Segoe U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86500" y="4224527"/>
            <a:ext cx="5262372" cy="2212848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355080" y="4293107"/>
            <a:ext cx="5125212" cy="2075688"/>
          </a:xfrm>
          <a:prstGeom prst="roundRect">
            <a:avLst>
              <a:gd name="adj" fmla="val 4405"/>
            </a:avLst>
          </a:prstGeom>
          <a:noFill/>
          <a:ln w="6350">
            <a:solidFill>
              <a:srgbClr val="E3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652260" y="4571999"/>
            <a:ext cx="438912" cy="438912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52260" y="4555655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55764" y="4553712"/>
            <a:ext cx="392734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900" b="0" i="0">
                <a:solidFill>
                  <a:srgbClr val="1E2761"/>
                </a:solidFill>
                <a:latin typeface="Segoe UI Semibold"/>
              </a:rPr>
              <a:t>А если субсидию не дадут?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2260" y="5405264"/>
            <a:ext cx="4530852" cy="8052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1B2140"/>
                </a:solidFill>
                <a:latin typeface="Segoe UI"/>
              </a:rPr>
              <a:t>Экономику</a:t>
            </a:r>
            <a:r>
              <a:rPr lang="ru-RU" sz="1500" b="0" i="0" dirty="0">
                <a:solidFill>
                  <a:srgbClr val="1B2140"/>
                </a:solidFill>
                <a:latin typeface="Segoe UI"/>
              </a:rPr>
              <a:t> сделок базово</a:t>
            </a:r>
            <a:r>
              <a:rPr sz="15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1B2140"/>
                </a:solidFill>
                <a:latin typeface="Segoe UI"/>
              </a:rPr>
              <a:t>считаем</a:t>
            </a:r>
            <a:r>
              <a:rPr sz="15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1B2140"/>
                </a:solidFill>
                <a:latin typeface="Segoe UI"/>
              </a:rPr>
              <a:t>без</a:t>
            </a:r>
            <a:r>
              <a:rPr sz="15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1B2140"/>
                </a:solidFill>
                <a:latin typeface="Segoe UI"/>
              </a:rPr>
              <a:t>неё</a:t>
            </a:r>
            <a:r>
              <a:rPr sz="1500" b="0" i="0" dirty="0">
                <a:solidFill>
                  <a:srgbClr val="1B2140"/>
                </a:solidFill>
                <a:latin typeface="Segoe UI"/>
              </a:rPr>
              <a:t>. </a:t>
            </a:r>
            <a:r>
              <a:rPr sz="1500" b="0" i="0" dirty="0" err="1">
                <a:solidFill>
                  <a:srgbClr val="1B2140"/>
                </a:solidFill>
                <a:latin typeface="Segoe UI"/>
              </a:rPr>
              <a:t>Двойной</a:t>
            </a:r>
            <a:r>
              <a:rPr sz="15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1B2140"/>
                </a:solidFill>
                <a:latin typeface="Segoe UI"/>
              </a:rPr>
              <a:t>вычет</a:t>
            </a:r>
            <a:r>
              <a:rPr sz="15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1B2140"/>
                </a:solidFill>
                <a:latin typeface="Segoe UI"/>
              </a:rPr>
              <a:t>идёт</a:t>
            </a:r>
            <a:r>
              <a:rPr sz="15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1B2140"/>
                </a:solidFill>
                <a:latin typeface="Segoe UI"/>
              </a:rPr>
              <a:t>без</a:t>
            </a:r>
            <a:r>
              <a:rPr sz="15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1B2140"/>
                </a:solidFill>
                <a:latin typeface="Segoe UI"/>
              </a:rPr>
              <a:t>конкурса</a:t>
            </a:r>
            <a:r>
              <a:rPr lang="ru-RU" sz="1500" b="0" i="0" dirty="0">
                <a:solidFill>
                  <a:srgbClr val="1B2140"/>
                </a:solidFill>
                <a:latin typeface="Segoe UI"/>
              </a:rPr>
              <a:t>, остальное – бонус.</a:t>
            </a:r>
            <a:endParaRPr sz="1500" b="0" i="0" dirty="0">
              <a:solidFill>
                <a:srgbClr val="1B2140"/>
              </a:solidFill>
              <a:latin typeface="Segoe U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0080" y="6510528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 b="0" i="0">
                <a:solidFill>
                  <a:srgbClr val="6B7699"/>
                </a:solidFill>
                <a:latin typeface="Segoe UI Semibold"/>
              </a:rPr>
              <a:t>Ситалл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68712" y="6510528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900" b="0" i="0">
                <a:solidFill>
                  <a:srgbClr val="6B7699"/>
                </a:solidFill>
                <a:latin typeface="Segoe UI"/>
              </a:rP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 spc="300">
                <a:solidFill>
                  <a:srgbClr val="C9A24B"/>
                </a:solidFill>
                <a:latin typeface="Segoe UI Semibold"/>
              </a:rPr>
              <a:t>КОМАНДА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0879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 i="0">
                <a:solidFill>
                  <a:srgbClr val="1E2761"/>
                </a:solidFill>
                <a:latin typeface="Segoe UI Semibold"/>
              </a:rPr>
              <a:t>Доводим проекты до внедрения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371600" cy="5029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416807" cy="4114800"/>
          </a:xfrm>
          <a:prstGeom prst="roundRect">
            <a:avLst>
              <a:gd name="adj" fmla="val 3746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08659" y="1805939"/>
            <a:ext cx="3279648" cy="3977639"/>
          </a:xfrm>
          <a:prstGeom prst="roundRect">
            <a:avLst>
              <a:gd name="adj" fmla="val 2788"/>
            </a:avLst>
          </a:prstGeom>
          <a:noFill/>
          <a:ln w="6350">
            <a:solidFill>
              <a:srgbClr val="E3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05840" y="2048256"/>
            <a:ext cx="402336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26852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300" b="0" i="0">
                <a:solidFill>
                  <a:srgbClr val="1E2761"/>
                </a:solidFill>
                <a:latin typeface="Segoe UI Semibold"/>
              </a:rPr>
              <a:t>Кирилл Уклонский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2685288" cy="1955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lang="ru-RU" sz="1200" b="0" i="0" spc="200" dirty="0">
                <a:solidFill>
                  <a:srgbClr val="C9A24B"/>
                </a:solidFill>
                <a:latin typeface="Segoe UI Semibold"/>
              </a:rPr>
              <a:t>СО-</a:t>
            </a:r>
            <a:r>
              <a:rPr sz="1200" b="0" i="0" spc="200" dirty="0">
                <a:solidFill>
                  <a:srgbClr val="C9A24B"/>
                </a:solidFill>
                <a:latin typeface="Segoe UI Semibold"/>
              </a:rPr>
              <a:t>ОСНОВАТЕЛЬ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3374136"/>
            <a:ext cx="82296" cy="822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61872" y="3255264"/>
            <a:ext cx="2429255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 i="0">
                <a:solidFill>
                  <a:srgbClr val="1B2140"/>
                </a:solidFill>
                <a:latin typeface="Segoe UI"/>
              </a:rPr>
              <a:t>«ФинАналитик», Роспатент № 2024618827: учёт 10 млрд ₽ в год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4178808"/>
            <a:ext cx="82296" cy="822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61872" y="4059936"/>
            <a:ext cx="2429255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 i="0">
                <a:solidFill>
                  <a:srgbClr val="1B2140"/>
                </a:solidFill>
                <a:latin typeface="Segoe UI"/>
              </a:rPr>
              <a:t>Платформа «Больше, чем путешествие»: 80 000 пользователей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4983480"/>
            <a:ext cx="82296" cy="822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61872" y="4864608"/>
            <a:ext cx="2429255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 i="0">
                <a:solidFill>
                  <a:srgbClr val="1B2140"/>
                </a:solidFill>
                <a:latin typeface="Segoe UI"/>
              </a:rPr>
              <a:t>РАНХиГС, госуправление. Преподаватель РЭУ им. Плеханова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6072" y="1737360"/>
            <a:ext cx="3416807" cy="4114800"/>
          </a:xfrm>
          <a:prstGeom prst="roundRect">
            <a:avLst>
              <a:gd name="adj" fmla="val 3746"/>
            </a:avLst>
          </a:prstGeom>
          <a:solidFill>
            <a:srgbClr val="FFFFFF"/>
          </a:solidFill>
          <a:ln w="222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51832" y="2048256"/>
            <a:ext cx="402336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1832" y="2286000"/>
            <a:ext cx="26852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300" b="0" i="0">
                <a:solidFill>
                  <a:srgbClr val="1E2761"/>
                </a:solidFill>
                <a:latin typeface="Segoe UI Semibold"/>
              </a:rPr>
              <a:t>Данила Кашев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1832" y="2743200"/>
            <a:ext cx="2685288" cy="1955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lang="ru-RU" sz="1200" b="0" i="0" spc="200" dirty="0">
                <a:solidFill>
                  <a:srgbClr val="C9A24B"/>
                </a:solidFill>
                <a:latin typeface="Segoe UI Semibold"/>
              </a:rPr>
              <a:t>СО-ОСНОВАТЕЛЬ</a:t>
            </a:r>
            <a:endParaRPr sz="1200" b="0" i="0" spc="200" dirty="0">
              <a:solidFill>
                <a:srgbClr val="C9A24B"/>
              </a:solidFill>
              <a:latin typeface="Segoe UI Semibold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751832" y="3374136"/>
            <a:ext cx="82296" cy="822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07864" y="3255264"/>
            <a:ext cx="2429255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 i="0">
                <a:solidFill>
                  <a:srgbClr val="1B2140"/>
                </a:solidFill>
                <a:latin typeface="Segoe UI"/>
              </a:rPr>
              <a:t>ФГУП «ЗащитаИнфоТранс»: импортозамещение, реестр ПО</a:t>
            </a:r>
          </a:p>
        </p:txBody>
      </p:sp>
      <p:sp>
        <p:nvSpPr>
          <p:cNvPr id="22" name="Oval 21"/>
          <p:cNvSpPr/>
          <p:nvPr/>
        </p:nvSpPr>
        <p:spPr>
          <a:xfrm>
            <a:off x="4751832" y="4178808"/>
            <a:ext cx="82296" cy="822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07864" y="4059936"/>
            <a:ext cx="2429255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 i="0">
                <a:solidFill>
                  <a:srgbClr val="1B2140"/>
                </a:solidFill>
                <a:latin typeface="Segoe UI"/>
              </a:rPr>
              <a:t>Студия разработки: команда 4 → 15 человек, 50 проектов</a:t>
            </a:r>
          </a:p>
        </p:txBody>
      </p:sp>
      <p:sp>
        <p:nvSpPr>
          <p:cNvPr id="24" name="Oval 23"/>
          <p:cNvSpPr/>
          <p:nvPr/>
        </p:nvSpPr>
        <p:spPr>
          <a:xfrm>
            <a:off x="4751832" y="4983480"/>
            <a:ext cx="82296" cy="822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07864" y="4864608"/>
            <a:ext cx="2429255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 i="0">
                <a:solidFill>
                  <a:srgbClr val="1B2140"/>
                </a:solidFill>
                <a:latin typeface="Segoe UI"/>
              </a:rPr>
              <a:t>МГУ им. Ломоносова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2063" y="1737360"/>
            <a:ext cx="3416807" cy="4114800"/>
          </a:xfrm>
          <a:prstGeom prst="roundRect">
            <a:avLst>
              <a:gd name="adj" fmla="val 3746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200643" y="1805939"/>
            <a:ext cx="3279648" cy="3977639"/>
          </a:xfrm>
          <a:prstGeom prst="roundRect">
            <a:avLst>
              <a:gd name="adj" fmla="val 2788"/>
            </a:avLst>
          </a:prstGeom>
          <a:noFill/>
          <a:ln w="6350">
            <a:solidFill>
              <a:srgbClr val="E3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497824" y="2048256"/>
            <a:ext cx="402336" cy="41148"/>
          </a:xfrm>
          <a:prstGeom prst="rect">
            <a:avLst/>
          </a:prstGeom>
          <a:solidFill>
            <a:srgbClr val="C9D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97824" y="2286000"/>
            <a:ext cx="26852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00" b="0" i="0" spc="200">
                <a:solidFill>
                  <a:srgbClr val="6B7699"/>
                </a:solidFill>
                <a:latin typeface="Segoe UI Semibold"/>
              </a:rPr>
              <a:t>ПАРТНЁР ПРОЕКТА В РЕГИОНЕ</a:t>
            </a:r>
          </a:p>
        </p:txBody>
      </p:sp>
      <p:sp>
        <p:nvSpPr>
          <p:cNvPr id="30" name="Oval 29"/>
          <p:cNvSpPr/>
          <p:nvPr/>
        </p:nvSpPr>
        <p:spPr>
          <a:xfrm>
            <a:off x="8497824" y="3374136"/>
            <a:ext cx="82296" cy="82296"/>
          </a:xfrm>
          <a:prstGeom prst="ellipse">
            <a:avLst/>
          </a:prstGeom>
          <a:solidFill>
            <a:srgbClr val="C9D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753856" y="3255264"/>
            <a:ext cx="2429255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6B7699"/>
                </a:solidFill>
                <a:latin typeface="Segoe UI"/>
              </a:rPr>
              <a:t>Место</a:t>
            </a:r>
            <a:r>
              <a:rPr sz="1400" b="0" i="0" dirty="0">
                <a:solidFill>
                  <a:srgbClr val="6B7699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6B7699"/>
                </a:solidFill>
                <a:latin typeface="Segoe UI"/>
              </a:rPr>
              <a:t>для</a:t>
            </a:r>
            <a:r>
              <a:rPr sz="1400" b="0" i="0" dirty="0">
                <a:solidFill>
                  <a:srgbClr val="6B7699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6B7699"/>
                </a:solidFill>
                <a:latin typeface="Segoe UI"/>
              </a:rPr>
              <a:t>партнёра</a:t>
            </a:r>
            <a:r>
              <a:rPr sz="1400" b="0" i="0" dirty="0">
                <a:solidFill>
                  <a:srgbClr val="6B7699"/>
                </a:solidFill>
                <a:latin typeface="Segoe UI"/>
              </a:rPr>
              <a:t>, </a:t>
            </a:r>
            <a:r>
              <a:rPr sz="1400" b="0" i="0" dirty="0" err="1">
                <a:solidFill>
                  <a:srgbClr val="6B7699"/>
                </a:solidFill>
                <a:latin typeface="Segoe UI"/>
              </a:rPr>
              <a:t>который</a:t>
            </a:r>
            <a:r>
              <a:rPr sz="1400" b="0" i="0" dirty="0">
                <a:solidFill>
                  <a:srgbClr val="6B7699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6B7699"/>
                </a:solidFill>
                <a:latin typeface="Segoe UI"/>
              </a:rPr>
              <a:t>открывает</a:t>
            </a:r>
            <a:r>
              <a:rPr sz="1400" b="0" i="0" dirty="0">
                <a:solidFill>
                  <a:srgbClr val="6B7699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6B7699"/>
                </a:solidFill>
                <a:latin typeface="Segoe UI"/>
              </a:rPr>
              <a:t>проект</a:t>
            </a:r>
            <a:endParaRPr sz="1400" b="0" i="0" dirty="0">
              <a:solidFill>
                <a:srgbClr val="6B7699"/>
              </a:solidFill>
              <a:latin typeface="Segoe UI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8497824" y="4178808"/>
            <a:ext cx="82296" cy="82296"/>
          </a:xfrm>
          <a:prstGeom prst="ellipse">
            <a:avLst/>
          </a:prstGeom>
          <a:solidFill>
            <a:srgbClr val="C9D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53856" y="4059936"/>
            <a:ext cx="2429255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 i="0">
                <a:solidFill>
                  <a:srgbClr val="6B7699"/>
                </a:solidFill>
                <a:latin typeface="Segoe UI"/>
              </a:rPr>
              <a:t>Научная проверка: эксперты институтов под задачу</a:t>
            </a:r>
          </a:p>
        </p:txBody>
      </p:sp>
      <p:sp>
        <p:nvSpPr>
          <p:cNvPr id="34" name="Oval 33"/>
          <p:cNvSpPr/>
          <p:nvPr/>
        </p:nvSpPr>
        <p:spPr>
          <a:xfrm>
            <a:off x="8497824" y="4983480"/>
            <a:ext cx="82296" cy="82296"/>
          </a:xfrm>
          <a:prstGeom prst="ellipse">
            <a:avLst/>
          </a:prstGeom>
          <a:solidFill>
            <a:srgbClr val="C9D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53856" y="4864608"/>
            <a:ext cx="2429255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 i="0">
                <a:solidFill>
                  <a:srgbClr val="6B7699"/>
                </a:solidFill>
                <a:latin typeface="Segoe UI"/>
              </a:rPr>
              <a:t>Внедрение: инжиниринговые центры, ответственность на нас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510528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00" b="0" i="0">
                <a:solidFill>
                  <a:srgbClr val="6B7699"/>
                </a:solidFill>
                <a:latin typeface="Segoe UI Semibold"/>
              </a:rPr>
              <a:t>Ситалл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68712" y="6510528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900" b="0" i="0">
                <a:solidFill>
                  <a:srgbClr val="6B7699"/>
                </a:solidFill>
                <a:latin typeface="Segoe U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 spc="300">
                <a:solidFill>
                  <a:srgbClr val="C9A24B"/>
                </a:solidFill>
                <a:latin typeface="Segoe UI Semibold"/>
              </a:rPr>
              <a:t>ПРЕДЛОЖЕНИЕ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0879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 i="0">
                <a:solidFill>
                  <a:srgbClr val="1E2761"/>
                </a:solidFill>
                <a:latin typeface="Segoe UI Semibold"/>
              </a:rPr>
              <a:t>Соглашение с Правительством Свердловской области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371600" cy="5029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67257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0" i="0" spc="250">
                <a:solidFill>
                  <a:srgbClr val="C9A24B"/>
                </a:solidFill>
                <a:latin typeface="Segoe UI Semibold"/>
              </a:rPr>
              <a:t>ЧТО ДЕЛАЕМ ЗА ПЕРВЫЙ ГОД, ЗА СВОЙ СЧЁТ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57984"/>
            <a:ext cx="5672571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2340864"/>
            <a:ext cx="4300971" cy="2607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lang="ru-RU" sz="1600" dirty="0">
                <a:solidFill>
                  <a:srgbClr val="1B2140"/>
                </a:solidFill>
                <a:latin typeface="Segoe UI"/>
              </a:rPr>
              <a:t>Обработанные з</a:t>
            </a:r>
            <a:r>
              <a:rPr sz="1600" b="0" i="0" dirty="0" err="1">
                <a:solidFill>
                  <a:srgbClr val="1B2140"/>
                </a:solidFill>
                <a:latin typeface="Segoe UI"/>
              </a:rPr>
              <a:t>адачи</a:t>
            </a:r>
            <a:r>
              <a:rPr sz="16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1B2140"/>
                </a:solidFill>
                <a:latin typeface="Segoe UI"/>
              </a:rPr>
              <a:t>предприятий</a:t>
            </a:r>
            <a:endParaRPr sz="1600" b="0" i="0" dirty="0">
              <a:solidFill>
                <a:srgbClr val="1B2140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15371" y="2231136"/>
            <a:ext cx="786384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3000" b="0" i="0">
                <a:solidFill>
                  <a:srgbClr val="C9A24B"/>
                </a:solidFill>
                <a:latin typeface="Segoe UI Semibold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89504"/>
            <a:ext cx="5672571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3072384"/>
            <a:ext cx="43009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1B2140"/>
                </a:solidFill>
                <a:latin typeface="Segoe UI"/>
              </a:rPr>
              <a:t>Подборов</a:t>
            </a:r>
            <a:r>
              <a:rPr sz="1600" b="0" i="0" dirty="0">
                <a:solidFill>
                  <a:srgbClr val="1B2140"/>
                </a:solidFill>
                <a:latin typeface="Segoe UI"/>
              </a:rPr>
              <a:t> с </a:t>
            </a:r>
            <a:r>
              <a:rPr sz="1600" b="0" i="0" dirty="0" err="1">
                <a:solidFill>
                  <a:srgbClr val="1B2140"/>
                </a:solidFill>
                <a:latin typeface="Segoe UI"/>
              </a:rPr>
              <a:t>проверкой</a:t>
            </a:r>
            <a:endParaRPr sz="1600" b="0" i="0" dirty="0">
              <a:solidFill>
                <a:srgbClr val="1B2140"/>
              </a:solidFill>
              <a:latin typeface="Segoe U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215371" y="2962656"/>
            <a:ext cx="786384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3000" b="0" i="0" dirty="0">
                <a:solidFill>
                  <a:srgbClr val="C9A24B"/>
                </a:solidFill>
                <a:latin typeface="Segoe UI Semibold"/>
              </a:rP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21024"/>
            <a:ext cx="5672571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9264" y="3803904"/>
            <a:ext cx="43009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600" b="0" i="0">
                <a:solidFill>
                  <a:srgbClr val="1B2140"/>
                </a:solidFill>
                <a:latin typeface="Segoe UI"/>
              </a:rPr>
              <a:t>Заявок на софинансирование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5371" y="3694176"/>
            <a:ext cx="786384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3000" b="0" i="0">
                <a:solidFill>
                  <a:srgbClr val="C9A24B"/>
                </a:solidFill>
                <a:latin typeface="Segoe UI Semibold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352544"/>
            <a:ext cx="5672571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" y="4535424"/>
            <a:ext cx="43009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1B2140"/>
                </a:solidFill>
                <a:latin typeface="Segoe UI"/>
              </a:rPr>
              <a:t>Внедрённый</a:t>
            </a:r>
            <a:r>
              <a:rPr sz="16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1B2140"/>
                </a:solidFill>
                <a:latin typeface="Segoe UI"/>
              </a:rPr>
              <a:t>проект</a:t>
            </a:r>
            <a:endParaRPr sz="1600" b="0" i="0" dirty="0">
              <a:solidFill>
                <a:srgbClr val="1B2140"/>
              </a:solidFill>
              <a:latin typeface="Segoe U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215371" y="4425696"/>
            <a:ext cx="786384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3000" b="0" i="0">
                <a:solidFill>
                  <a:srgbClr val="C9A24B"/>
                </a:solidFill>
                <a:latin typeface="Segoe UI Semibold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084064"/>
            <a:ext cx="5672571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9264" y="5266944"/>
            <a:ext cx="43009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1B2140"/>
                </a:solidFill>
                <a:latin typeface="Segoe UI"/>
              </a:rPr>
              <a:t>Открытый</a:t>
            </a:r>
            <a:r>
              <a:rPr sz="16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1B2140"/>
                </a:solidFill>
                <a:latin typeface="Segoe UI"/>
              </a:rPr>
              <a:t>отчёт</a:t>
            </a:r>
            <a:r>
              <a:rPr sz="16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1B2140"/>
                </a:solidFill>
                <a:latin typeface="Segoe UI"/>
              </a:rPr>
              <a:t>по</a:t>
            </a:r>
            <a:r>
              <a:rPr sz="1600" b="0" i="0" dirty="0">
                <a:solidFill>
                  <a:srgbClr val="1B2140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1B2140"/>
                </a:solidFill>
                <a:latin typeface="Segoe UI"/>
              </a:rPr>
              <a:t>региону</a:t>
            </a:r>
            <a:endParaRPr sz="1600" b="0" i="0" dirty="0">
              <a:solidFill>
                <a:srgbClr val="1B2140"/>
              </a:solidFill>
              <a:latin typeface="Segoe U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15371" y="5157216"/>
            <a:ext cx="786384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</a:pPr>
            <a:r>
              <a:rPr sz="3000" b="0" i="0">
                <a:solidFill>
                  <a:srgbClr val="C9A24B"/>
                </a:solidFill>
                <a:latin typeface="Segoe UI Semibold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43599"/>
            <a:ext cx="56725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700" b="0" i="0">
                <a:solidFill>
                  <a:srgbClr val="1E2761"/>
                </a:solidFill>
                <a:latin typeface="Segoe UI Semibold"/>
              </a:rPr>
              <a:t>Расходов областного бюджета нет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6699" y="1737360"/>
            <a:ext cx="48521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0" i="0" spc="250">
                <a:solidFill>
                  <a:srgbClr val="C9A24B"/>
                </a:solidFill>
                <a:latin typeface="Segoe UI Semibold"/>
              </a:rPr>
              <a:t>ЧТО ПРОСИМ</a:t>
            </a:r>
          </a:p>
        </p:txBody>
      </p:sp>
      <p:sp>
        <p:nvSpPr>
          <p:cNvPr id="23" name="Oval 22"/>
          <p:cNvSpPr/>
          <p:nvPr/>
        </p:nvSpPr>
        <p:spPr>
          <a:xfrm>
            <a:off x="6696699" y="2157984"/>
            <a:ext cx="420624" cy="420624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96699" y="2185415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00203" y="2176272"/>
            <a:ext cx="42486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700" b="0" i="0" dirty="0" err="1">
                <a:solidFill>
                  <a:srgbClr val="1E2761"/>
                </a:solidFill>
                <a:latin typeface="Segoe UI Semibold"/>
              </a:rPr>
              <a:t>Соглашение</a:t>
            </a:r>
            <a:r>
              <a:rPr sz="1700" b="0" i="0" dirty="0">
                <a:solidFill>
                  <a:srgbClr val="1E2761"/>
                </a:solidFill>
                <a:latin typeface="Segoe UI Semibold"/>
              </a:rPr>
              <a:t> о </a:t>
            </a:r>
            <a:r>
              <a:rPr sz="1700" b="0" i="0" dirty="0" err="1">
                <a:solidFill>
                  <a:srgbClr val="1E2761"/>
                </a:solidFill>
                <a:latin typeface="Segoe UI Semibold"/>
              </a:rPr>
              <a:t>сотрудничестве</a:t>
            </a:r>
            <a:endParaRPr sz="1700" b="0" i="0" dirty="0">
              <a:solidFill>
                <a:srgbClr val="1E2761"/>
              </a:solidFill>
              <a:latin typeface="Segoe UI Semibold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696699" y="2761487"/>
            <a:ext cx="420624" cy="420624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96699" y="2788919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00203" y="2779775"/>
            <a:ext cx="424866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700" b="0" i="0" dirty="0" err="1">
                <a:solidFill>
                  <a:srgbClr val="1E2761"/>
                </a:solidFill>
                <a:latin typeface="Segoe UI Semibold"/>
              </a:rPr>
              <a:t>Представление</a:t>
            </a:r>
            <a:r>
              <a:rPr sz="1700" b="0" i="0" dirty="0">
                <a:solidFill>
                  <a:srgbClr val="1E2761"/>
                </a:solidFill>
                <a:latin typeface="Segoe UI Semibold"/>
              </a:rPr>
              <a:t> 5–7 </a:t>
            </a:r>
            <a:r>
              <a:rPr sz="1700" b="0" i="0" dirty="0" err="1">
                <a:solidFill>
                  <a:srgbClr val="1E2761"/>
                </a:solidFill>
                <a:latin typeface="Segoe UI Semibold"/>
              </a:rPr>
              <a:t>предприятиям</a:t>
            </a:r>
            <a:r>
              <a:rPr sz="1700" b="0" i="0" dirty="0">
                <a:solidFill>
                  <a:srgbClr val="1E2761"/>
                </a:solidFill>
                <a:latin typeface="Segoe UI Semibold"/>
              </a:rPr>
              <a:t> и </a:t>
            </a:r>
            <a:r>
              <a:rPr sz="1700" b="0" i="0" dirty="0" err="1">
                <a:solidFill>
                  <a:srgbClr val="1E2761"/>
                </a:solidFill>
                <a:latin typeface="Segoe UI Semibold"/>
              </a:rPr>
              <a:t>институтам</a:t>
            </a:r>
            <a:endParaRPr sz="1700" b="0" i="0" dirty="0">
              <a:solidFill>
                <a:srgbClr val="1E2761"/>
              </a:solidFill>
              <a:latin typeface="Segoe UI Semibold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6696699" y="3639311"/>
            <a:ext cx="420624" cy="420624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96699" y="366674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00203" y="3657599"/>
            <a:ext cx="424866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700" b="0" i="0" dirty="0" err="1">
                <a:solidFill>
                  <a:srgbClr val="1E2761"/>
                </a:solidFill>
                <a:latin typeface="Segoe UI Semibold"/>
              </a:rPr>
              <a:t>Участие</a:t>
            </a:r>
            <a:r>
              <a:rPr sz="1700" b="0" i="0" dirty="0">
                <a:solidFill>
                  <a:srgbClr val="1E2761"/>
                </a:solidFill>
                <a:latin typeface="Segoe UI Semibold"/>
              </a:rPr>
              <a:t> в </a:t>
            </a:r>
            <a:r>
              <a:rPr sz="1700" b="0" i="0" dirty="0" err="1">
                <a:solidFill>
                  <a:srgbClr val="1E2761"/>
                </a:solidFill>
                <a:latin typeface="Segoe UI Semibold"/>
              </a:rPr>
              <a:t>площадках</a:t>
            </a:r>
            <a:r>
              <a:rPr sz="1700" b="0" i="0" dirty="0">
                <a:solidFill>
                  <a:srgbClr val="1E2761"/>
                </a:solidFill>
                <a:latin typeface="Segoe UI Semibold"/>
              </a:rPr>
              <a:t> </a:t>
            </a:r>
            <a:r>
              <a:rPr sz="1700" b="0" i="0" dirty="0" err="1">
                <a:solidFill>
                  <a:srgbClr val="1E2761"/>
                </a:solidFill>
                <a:latin typeface="Segoe UI Semibold"/>
              </a:rPr>
              <a:t>региона</a:t>
            </a:r>
            <a:r>
              <a:rPr sz="1700" b="0" i="0" dirty="0">
                <a:solidFill>
                  <a:srgbClr val="1E2761"/>
                </a:solidFill>
                <a:latin typeface="Segoe UI Semibold"/>
              </a:rPr>
              <a:t> </a:t>
            </a:r>
            <a:r>
              <a:rPr sz="1700" b="0" i="0" dirty="0" err="1">
                <a:solidFill>
                  <a:srgbClr val="1E2761"/>
                </a:solidFill>
                <a:latin typeface="Segoe UI Semibold"/>
              </a:rPr>
              <a:t>как</a:t>
            </a:r>
            <a:r>
              <a:rPr sz="1700" b="0" i="0" dirty="0">
                <a:solidFill>
                  <a:srgbClr val="1E2761"/>
                </a:solidFill>
                <a:latin typeface="Segoe UI Semibold"/>
              </a:rPr>
              <a:t> </a:t>
            </a:r>
            <a:r>
              <a:rPr sz="1700" b="0" i="0" dirty="0" err="1">
                <a:solidFill>
                  <a:srgbClr val="1E2761"/>
                </a:solidFill>
                <a:latin typeface="Segoe UI Semibold"/>
              </a:rPr>
              <a:t>партнёра</a:t>
            </a:r>
            <a:endParaRPr sz="1700" b="0" i="0" dirty="0">
              <a:solidFill>
                <a:srgbClr val="1E2761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805</Words>
  <Application>Microsoft Office PowerPoint</Application>
  <PresentationFormat>Произвольный</PresentationFormat>
  <Paragraphs>187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Segoe UI</vt:lpstr>
      <vt:lpstr>Segoe UI Semibold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Уклонский Кирилл Андреевич</dc:creator>
  <cp:keywords/>
  <dc:description>generated using python-pptx</dc:description>
  <cp:lastModifiedBy>Уклонский Кирилл Андреевич</cp:lastModifiedBy>
  <cp:revision>3</cp:revision>
  <dcterms:created xsi:type="dcterms:W3CDTF">2013-01-27T09:14:16Z</dcterms:created>
  <dcterms:modified xsi:type="dcterms:W3CDTF">2026-08-22T19:12:32Z</dcterms:modified>
  <cp:category/>
</cp:coreProperties>
</file>