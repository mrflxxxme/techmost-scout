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>
        <p:scale>
          <a:sx n="138" d="100"/>
          <a:sy n="138" d="100"/>
        </p:scale>
        <p:origin x="64" y="-3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KZ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5DC83B-54F1-FF42-8EBF-1B493607C836}" type="datetimeFigureOut">
              <a:rPr lang="ru-KZ" smtClean="0"/>
              <a:t>23.08.2026</a:t>
            </a:fld>
            <a:endParaRPr lang="ru-KZ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KZ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KZ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A7D08-BC0B-F048-8ECE-02478965929E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41448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KZ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2A7D08-BC0B-F048-8ECE-02478965929E}" type="slidenum">
              <a:rPr lang="ru-KZ" smtClean="0"/>
              <a:t>8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616059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mnews.ru/content/241497/2025-09-30/2025-w40/1007/tekhnologicheskoe-liderstvo-uydet-19-trln-rub" TargetMode="External"/><Relationship Id="rId2" Type="http://schemas.openxmlformats.org/officeDocument/2006/relationships/hyperlink" Target="https://issek.hse.ru/news/1089550497.html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rbc.ru/economics/26/01/2026/6977cac89a7947009cdfec9d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ckinsey.com/capabilities/operations/our-insights/how-digital-manufacturing-can-escape-pilot-purgatory" TargetMode="External"/><Relationship Id="rId2" Type="http://schemas.openxmlformats.org/officeDocument/2006/relationships/hyperlink" Target="https://mackinstitute.wharton.upenn.edu/wp-content/uploads/2019/08/FP0357b_WP_2019Jan.pdf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rospatent.gov.ru/ru/news/rospatent-06122024" TargetMode="External"/><Relationship Id="rId4" Type="http://schemas.openxmlformats.org/officeDocument/2006/relationships/hyperlink" Target="https://d-russia.ru/pochemu-ne-vostrebovany-nalogovye-lgoty-na-niokr-minekonomrazvitiya.html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gzt.ru/news/sverdlovskaya-oblast-voshla-v-top-5-po-rostu-proizvoditelnosti-truda-na-predpriyatiyah/" TargetMode="External"/><Relationship Id="rId2" Type="http://schemas.openxmlformats.org/officeDocument/2006/relationships/hyperlink" Target="https://xn--b1ag8a.xn--p1ai/news/35567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frpso.ru/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955279" y="-2286000"/>
            <a:ext cx="6583680" cy="6583680"/>
          </a:xfrm>
          <a:prstGeom prst="ellipse">
            <a:avLst/>
          </a:prstGeom>
          <a:noFill/>
          <a:ln w="15875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01200" y="3017520"/>
            <a:ext cx="4937760" cy="4937760"/>
          </a:xfrm>
          <a:prstGeom prst="ellipse">
            <a:avLst/>
          </a:prstGeom>
          <a:noFill/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98480" y="1280160"/>
            <a:ext cx="3017520" cy="3017520"/>
          </a:xfrm>
          <a:prstGeom prst="ellipse">
            <a:avLst/>
          </a:prstGeom>
          <a:noFill/>
          <a:ln w="15875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 i="0" spc="300">
                <a:solidFill>
                  <a:srgbClr val="C9A24B"/>
                </a:solidFill>
                <a:latin typeface="Segoe UI Semibold"/>
              </a:rPr>
              <a:t>АВГУСТ 2026 · КОНФИДЕНЦИАЛЬНО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5" y="1371600"/>
            <a:ext cx="9144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0" b="0" i="0" dirty="0" err="1">
                <a:solidFill>
                  <a:srgbClr val="1E2761"/>
                </a:solidFill>
                <a:latin typeface="Segoe UI Semibold"/>
              </a:rPr>
              <a:t>Ситалл</a:t>
            </a:r>
            <a:endParaRPr sz="84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0080" y="3072384"/>
            <a:ext cx="1828800" cy="6858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3346704"/>
            <a:ext cx="8778240" cy="4337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700" b="0" i="0" dirty="0" err="1">
                <a:solidFill>
                  <a:srgbClr val="1E2761"/>
                </a:solidFill>
                <a:latin typeface="Segoe UI"/>
              </a:rPr>
              <a:t>Технологический</a:t>
            </a:r>
            <a:r>
              <a:rPr sz="2700" b="0" i="0" dirty="0">
                <a:solidFill>
                  <a:srgbClr val="1E2761"/>
                </a:solidFill>
                <a:latin typeface="Segoe UI"/>
              </a:rPr>
              <a:t> </a:t>
            </a:r>
            <a:r>
              <a:rPr sz="2700" b="0" i="0" dirty="0" err="1">
                <a:solidFill>
                  <a:srgbClr val="1E2761"/>
                </a:solidFill>
                <a:latin typeface="Segoe UI"/>
              </a:rPr>
              <a:t>брокер</a:t>
            </a:r>
            <a:r>
              <a:rPr lang="ru-RU" sz="2700" dirty="0">
                <a:solidFill>
                  <a:srgbClr val="1E2761"/>
                </a:solidFill>
                <a:latin typeface="Segoe UI"/>
              </a:rPr>
              <a:t> </a:t>
            </a:r>
            <a:r>
              <a:rPr sz="2700" b="0" i="0" dirty="0" err="1">
                <a:solidFill>
                  <a:srgbClr val="1E2761"/>
                </a:solidFill>
                <a:latin typeface="Segoe UI"/>
              </a:rPr>
              <a:t>для</a:t>
            </a:r>
            <a:r>
              <a:rPr sz="2700" b="0" i="0" dirty="0">
                <a:solidFill>
                  <a:srgbClr val="1E2761"/>
                </a:solidFill>
                <a:latin typeface="Segoe UI"/>
              </a:rPr>
              <a:t> </a:t>
            </a:r>
            <a:r>
              <a:rPr sz="2700" b="0" i="0" dirty="0" err="1">
                <a:solidFill>
                  <a:srgbClr val="1E2761"/>
                </a:solidFill>
                <a:latin typeface="Segoe UI"/>
              </a:rPr>
              <a:t>промышленности</a:t>
            </a:r>
            <a:endParaRPr sz="2700" b="0" i="0" dirty="0">
              <a:solidFill>
                <a:srgbClr val="1E2761"/>
              </a:solidFill>
              <a:latin typeface="Sego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3982212"/>
            <a:ext cx="82296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lang="ru-RU" sz="1700" dirty="0">
                <a:solidFill>
                  <a:srgbClr val="1B2140"/>
                </a:solidFill>
                <a:latin typeface="Segoe UI"/>
              </a:rPr>
              <a:t>Работаем от</a:t>
            </a:r>
            <a:r>
              <a:rPr sz="17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1B2140"/>
                </a:solidFill>
                <a:latin typeface="Segoe UI"/>
              </a:rPr>
              <a:t>задачи</a:t>
            </a:r>
            <a:r>
              <a:rPr sz="17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1B2140"/>
                </a:solidFill>
                <a:latin typeface="Segoe UI"/>
              </a:rPr>
              <a:t>предприятия</a:t>
            </a:r>
            <a:r>
              <a:rPr sz="17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1B2140"/>
                </a:solidFill>
                <a:latin typeface="Segoe UI"/>
              </a:rPr>
              <a:t>до</a:t>
            </a:r>
            <a:r>
              <a:rPr sz="17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1B2140"/>
                </a:solidFill>
                <a:latin typeface="Segoe UI"/>
              </a:rPr>
              <a:t>внедрённой</a:t>
            </a:r>
            <a:r>
              <a:rPr sz="17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700" b="0" i="0" dirty="0" err="1">
                <a:solidFill>
                  <a:srgbClr val="1B2140"/>
                </a:solidFill>
                <a:latin typeface="Segoe UI"/>
              </a:rPr>
              <a:t>технологии</a:t>
            </a:r>
            <a:endParaRPr sz="1700" b="0" i="0" dirty="0">
              <a:solidFill>
                <a:srgbClr val="1B2140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 i="0" spc="300">
                <a:solidFill>
                  <a:srgbClr val="C9A24B"/>
                </a:solidFill>
                <a:latin typeface="Segoe UI Semibold"/>
              </a:rPr>
              <a:t>ЗАДАЧА ГОСУДАРСТВА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08792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Деньги</a:t>
            </a:r>
            <a:r>
              <a:rPr sz="30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на</a:t>
            </a:r>
            <a:r>
              <a:rPr sz="30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науку</a:t>
            </a:r>
            <a:r>
              <a:rPr sz="30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есть</a:t>
            </a:r>
            <a:r>
              <a:rPr sz="3000" b="0" i="0" dirty="0">
                <a:solidFill>
                  <a:srgbClr val="1E2761"/>
                </a:solidFill>
                <a:latin typeface="Segoe UI Semibold"/>
              </a:rPr>
              <a:t>. </a:t>
            </a: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Внедрять</a:t>
            </a:r>
            <a:r>
              <a:rPr sz="30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lang="ru-RU" sz="3000" dirty="0">
                <a:solidFill>
                  <a:srgbClr val="1E2761"/>
                </a:solidFill>
                <a:latin typeface="Segoe UI Semibold"/>
              </a:rPr>
              <a:t>технологии</a:t>
            </a:r>
            <a:r>
              <a:rPr sz="30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некому</a:t>
            </a:r>
            <a:endParaRPr sz="30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5029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682496"/>
            <a:ext cx="5262372" cy="2139696"/>
          </a:xfrm>
          <a:prstGeom prst="roundRect">
            <a:avLst>
              <a:gd name="adj" fmla="val 5982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08659" y="1751076"/>
            <a:ext cx="5125212" cy="2002536"/>
          </a:xfrm>
          <a:prstGeom prst="roundRect">
            <a:avLst>
              <a:gd name="adj" fmla="val 4566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50976" y="1993392"/>
            <a:ext cx="457200" cy="411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976" y="2231136"/>
            <a:ext cx="46405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0" i="0" dirty="0">
                <a:solidFill>
                  <a:srgbClr val="1E2761"/>
                </a:solidFill>
                <a:latin typeface="Segoe UI Semibold"/>
              </a:rPr>
              <a:t>2% ВВП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104388"/>
            <a:ext cx="4640580" cy="2718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</a:pPr>
            <a:r>
              <a:rPr lang="ru-RU" sz="1600" b="0" i="0" dirty="0">
                <a:solidFill>
                  <a:srgbClr val="1B2140"/>
                </a:solidFill>
                <a:latin typeface="Segoe UI"/>
              </a:rPr>
              <a:t>Цель по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затрат</a:t>
            </a:r>
            <a:r>
              <a:rPr lang="ru-RU" sz="1600" b="0" i="0" dirty="0" err="1">
                <a:solidFill>
                  <a:srgbClr val="1B2140"/>
                </a:solidFill>
                <a:latin typeface="Segoe UI"/>
              </a:rPr>
              <a:t>ам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на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науку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к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2030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году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.</a:t>
            </a:r>
            <a:r>
              <a:rPr lang="ru-RU" sz="1600" dirty="0">
                <a:solidFill>
                  <a:srgbClr val="1B2140"/>
                </a:solidFill>
                <a:latin typeface="Segoe UI"/>
              </a:rPr>
              <a:t> </a:t>
            </a:r>
            <a:endParaRPr sz="16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50976" y="3438144"/>
            <a:ext cx="46405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1" dirty="0" err="1">
                <a:solidFill>
                  <a:srgbClr val="6B7699"/>
                </a:solidFill>
                <a:latin typeface="Segoe UI"/>
              </a:rPr>
              <a:t>Источник</a:t>
            </a:r>
            <a:r>
              <a:rPr sz="900" b="0" i="1" dirty="0">
                <a:solidFill>
                  <a:srgbClr val="6B7699"/>
                </a:solidFill>
                <a:latin typeface="Segoe UI"/>
              </a:rPr>
              <a:t>: </a:t>
            </a:r>
            <a:r>
              <a:rPr sz="900" b="0" i="1" u="sng" dirty="0">
                <a:solidFill>
                  <a:srgbClr val="6B7699"/>
                </a:solidFill>
                <a:latin typeface="Segoe UI"/>
                <a:hlinkClick r:id="rId2"/>
              </a:rPr>
              <a:t>ИСИЭЗ НИУ ВШЭ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6500" y="1682496"/>
            <a:ext cx="5262372" cy="2139696"/>
          </a:xfrm>
          <a:prstGeom prst="roundRect">
            <a:avLst>
              <a:gd name="adj" fmla="val 5982"/>
            </a:avLst>
          </a:prstGeom>
          <a:solidFill>
            <a:srgbClr val="FFFFFF"/>
          </a:solidFill>
          <a:ln w="22225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97396" y="1993392"/>
            <a:ext cx="457200" cy="4114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97396" y="2231136"/>
            <a:ext cx="46405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0" i="0">
                <a:solidFill>
                  <a:srgbClr val="C9A24B"/>
                </a:solidFill>
                <a:latin typeface="Segoe UI Semibold"/>
              </a:rPr>
              <a:t>×2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7396" y="3104388"/>
            <a:ext cx="4800706" cy="2718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600" b="0" i="0" dirty="0" err="1">
                <a:solidFill>
                  <a:srgbClr val="1B2140"/>
                </a:solidFill>
                <a:latin typeface="Segoe UI"/>
              </a:rPr>
              <a:t>рост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частн</a:t>
            </a:r>
            <a:r>
              <a:rPr lang="ru-RU" sz="1600" b="0" i="0" dirty="0">
                <a:solidFill>
                  <a:srgbClr val="1B2140"/>
                </a:solidFill>
                <a:latin typeface="Segoe UI"/>
              </a:rPr>
              <a:t>ы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х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вложений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бизнеса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в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науку</a:t>
            </a:r>
            <a:r>
              <a:rPr lang="ru-RU" sz="1600" b="0" i="0" dirty="0">
                <a:solidFill>
                  <a:srgbClr val="1B2140"/>
                </a:solidFill>
                <a:latin typeface="Segoe UI"/>
              </a:rPr>
              <a:t> за 2025 г.</a:t>
            </a:r>
            <a:endParaRPr sz="16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97396" y="3438144"/>
            <a:ext cx="46405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1" dirty="0" err="1">
                <a:solidFill>
                  <a:srgbClr val="6B7699"/>
                </a:solidFill>
                <a:latin typeface="Segoe UI"/>
              </a:rPr>
              <a:t>Источник</a:t>
            </a:r>
            <a:r>
              <a:rPr sz="900" b="0" i="1" dirty="0">
                <a:solidFill>
                  <a:srgbClr val="6B7699"/>
                </a:solidFill>
                <a:latin typeface="Segoe UI"/>
              </a:rPr>
              <a:t>: </a:t>
            </a:r>
            <a:r>
              <a:rPr sz="900" b="0" i="1" u="sng" dirty="0">
                <a:solidFill>
                  <a:srgbClr val="6B7699"/>
                </a:solidFill>
                <a:latin typeface="Segoe UI"/>
                <a:hlinkClick r:id="rId2"/>
              </a:rPr>
              <a:t>ИСИЭЗ НИУ ВШЭ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96511"/>
            <a:ext cx="5262372" cy="2139696"/>
          </a:xfrm>
          <a:prstGeom prst="roundRect">
            <a:avLst>
              <a:gd name="adj" fmla="val 5982"/>
            </a:avLst>
          </a:prstGeom>
          <a:solidFill>
            <a:srgbClr val="FFFFFF"/>
          </a:solidFill>
          <a:ln w="22225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50976" y="4407407"/>
            <a:ext cx="457200" cy="4114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976" y="4645151"/>
            <a:ext cx="46405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0" i="0">
                <a:solidFill>
                  <a:srgbClr val="C9A24B"/>
                </a:solidFill>
                <a:latin typeface="Segoe UI Semibold"/>
              </a:rPr>
              <a:t>1,9 трлн 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5" y="5518403"/>
            <a:ext cx="4882895" cy="2718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600" b="0" i="0" dirty="0" err="1">
                <a:solidFill>
                  <a:srgbClr val="1B2140"/>
                </a:solidFill>
                <a:latin typeface="Segoe UI"/>
              </a:rPr>
              <a:t>нацпроекты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технологического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лидерства</a:t>
            </a:r>
            <a:r>
              <a:rPr lang="ru-RU" sz="1600" b="0" i="0" dirty="0">
                <a:solidFill>
                  <a:srgbClr val="1B2140"/>
                </a:solidFill>
                <a:latin typeface="Segoe UI"/>
              </a:rPr>
              <a:t> к 2028 г.</a:t>
            </a:r>
            <a:endParaRPr sz="16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50976" y="5852159"/>
            <a:ext cx="46405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1">
                <a:solidFill>
                  <a:srgbClr val="6B7699"/>
                </a:solidFill>
                <a:latin typeface="Segoe UI"/>
              </a:rPr>
              <a:t>Источник: </a:t>
            </a:r>
            <a:r>
              <a:rPr sz="900" b="0" i="1" u="sng">
                <a:solidFill>
                  <a:srgbClr val="6B7699"/>
                </a:solidFill>
                <a:latin typeface="Segoe UI"/>
                <a:hlinkClick r:id="rId3"/>
              </a:rPr>
              <a:t>ComNews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6500" y="4096511"/>
            <a:ext cx="5262372" cy="2139696"/>
          </a:xfrm>
          <a:prstGeom prst="roundRect">
            <a:avLst>
              <a:gd name="adj" fmla="val 5982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55080" y="4165091"/>
            <a:ext cx="5125212" cy="2002536"/>
          </a:xfrm>
          <a:prstGeom prst="roundRect">
            <a:avLst>
              <a:gd name="adj" fmla="val 4566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597396" y="4407407"/>
            <a:ext cx="457200" cy="411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97396" y="4645151"/>
            <a:ext cx="46405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0" i="0" dirty="0">
                <a:solidFill>
                  <a:srgbClr val="1E2761"/>
                </a:solidFill>
                <a:latin typeface="Segoe UI Semibold"/>
              </a:rPr>
              <a:t>2,6 </a:t>
            </a:r>
            <a:r>
              <a:rPr sz="5400" b="0" i="0" dirty="0" err="1">
                <a:solidFill>
                  <a:srgbClr val="1E2761"/>
                </a:solidFill>
                <a:latin typeface="Segoe UI Semibold"/>
              </a:rPr>
              <a:t>млн</a:t>
            </a:r>
            <a:endParaRPr sz="54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97396" y="5518403"/>
            <a:ext cx="4882896" cy="2718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600" b="0" i="0" dirty="0" err="1">
                <a:solidFill>
                  <a:srgbClr val="1B2140"/>
                </a:solidFill>
                <a:latin typeface="Segoe UI"/>
              </a:rPr>
              <a:t>дефицит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кадров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. </a:t>
            </a:r>
            <a:r>
              <a:rPr lang="ru-RU" sz="1600" b="0" i="0" dirty="0">
                <a:solidFill>
                  <a:srgbClr val="1B2140"/>
                </a:solidFill>
                <a:latin typeface="Segoe UI"/>
              </a:rPr>
              <a:t>Ставка на производительность</a:t>
            </a:r>
            <a:endParaRPr sz="16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97396" y="5852159"/>
            <a:ext cx="46405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1">
                <a:solidFill>
                  <a:srgbClr val="6B7699"/>
                </a:solidFill>
                <a:latin typeface="Segoe UI"/>
              </a:rPr>
              <a:t>Источник: </a:t>
            </a:r>
            <a:r>
              <a:rPr sz="900" b="0" i="1" u="sng">
                <a:solidFill>
                  <a:srgbClr val="6B7699"/>
                </a:solidFill>
                <a:latin typeface="Segoe UI"/>
                <a:hlinkClick r:id="rId4"/>
              </a:rPr>
              <a:t>РБК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 Semibold"/>
              </a:rPr>
              <a:t>Ситалл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8712" y="6510528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 i="0" spc="300">
                <a:solidFill>
                  <a:srgbClr val="C9A24B"/>
                </a:solidFill>
                <a:latin typeface="Segoe UI Semibold"/>
              </a:rPr>
              <a:t>РАЗРЫВ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0879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1E2761"/>
                </a:solidFill>
                <a:latin typeface="Segoe UI Semibold"/>
              </a:rPr>
              <a:t>Наука не доходит до производства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5029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2507741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08659" y="1805939"/>
            <a:ext cx="2370582" cy="2350008"/>
          </a:xfrm>
          <a:prstGeom prst="roundRect">
            <a:avLst>
              <a:gd name="adj" fmla="val 3891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50976" y="2048255"/>
            <a:ext cx="457200" cy="411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976" y="2286000"/>
            <a:ext cx="1885949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800" b="0" i="0">
                <a:solidFill>
                  <a:srgbClr val="1E2761"/>
                </a:solidFill>
                <a:latin typeface="Segoe UI Semibold"/>
              </a:rPr>
              <a:t>80%+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078480"/>
            <a:ext cx="1885949" cy="688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0" i="0">
                <a:solidFill>
                  <a:srgbClr val="1B2140"/>
                </a:solidFill>
                <a:latin typeface="Segoe UI"/>
              </a:rPr>
              <a:t>патентов не доходят до применения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840480"/>
            <a:ext cx="188594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1">
                <a:solidFill>
                  <a:srgbClr val="6B7699"/>
                </a:solidFill>
                <a:latin typeface="Segoe UI"/>
              </a:rPr>
              <a:t>Источник: </a:t>
            </a:r>
            <a:r>
              <a:rPr sz="900" b="0" i="1" u="sng">
                <a:solidFill>
                  <a:srgbClr val="6B7699"/>
                </a:solidFill>
                <a:latin typeface="Segoe UI"/>
                <a:hlinkClick r:id="rId2"/>
              </a:rPr>
              <a:t>Wharton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0429" y="1737360"/>
            <a:ext cx="2507741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22225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751325" y="2048255"/>
            <a:ext cx="457200" cy="4114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51325" y="2286000"/>
            <a:ext cx="1885949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800" b="0" i="0">
                <a:solidFill>
                  <a:srgbClr val="C9A24B"/>
                </a:solidFill>
                <a:latin typeface="Segoe UI Semibold"/>
              </a:rPr>
              <a:t>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51325" y="3078480"/>
            <a:ext cx="1885949" cy="688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0" i="0">
                <a:solidFill>
                  <a:srgbClr val="1B2140"/>
                </a:solidFill>
                <a:latin typeface="Segoe UI"/>
              </a:rPr>
              <a:t>пилотных проектов не выходят в масштаб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1325" y="3840480"/>
            <a:ext cx="188594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1">
                <a:solidFill>
                  <a:srgbClr val="6B7699"/>
                </a:solidFill>
                <a:latin typeface="Segoe UI"/>
              </a:rPr>
              <a:t>Источник: </a:t>
            </a:r>
            <a:r>
              <a:rPr sz="900" b="0" i="1" u="sng">
                <a:solidFill>
                  <a:srgbClr val="6B7699"/>
                </a:solidFill>
                <a:latin typeface="Segoe UI"/>
                <a:hlinkClick r:id="rId3"/>
              </a:rPr>
              <a:t>McKinsey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0779" y="1737360"/>
            <a:ext cx="2507741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09359" y="1805939"/>
            <a:ext cx="2370582" cy="2350008"/>
          </a:xfrm>
          <a:prstGeom prst="roundRect">
            <a:avLst>
              <a:gd name="adj" fmla="val 3891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51675" y="2048255"/>
            <a:ext cx="457200" cy="411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51675" y="2286000"/>
            <a:ext cx="1885949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800" b="0" i="0" dirty="0">
                <a:solidFill>
                  <a:srgbClr val="1E2761"/>
                </a:solidFill>
                <a:latin typeface="Segoe UI Semibold"/>
              </a:rPr>
              <a:t>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1675" y="3078480"/>
            <a:ext cx="1885949" cy="688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0" i="0" dirty="0" err="1">
                <a:solidFill>
                  <a:srgbClr val="1B2140"/>
                </a:solidFill>
                <a:latin typeface="Segoe UI"/>
              </a:rPr>
              <a:t>компаний</a:t>
            </a:r>
            <a:r>
              <a:rPr sz="14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50" b="0" i="0" dirty="0" err="1">
                <a:solidFill>
                  <a:srgbClr val="1B2140"/>
                </a:solidFill>
                <a:latin typeface="Segoe UI"/>
              </a:rPr>
              <a:t>в</a:t>
            </a:r>
            <a:r>
              <a:rPr sz="14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50" b="0" i="0" dirty="0" err="1">
                <a:solidFill>
                  <a:srgbClr val="1B2140"/>
                </a:solidFill>
                <a:latin typeface="Segoe UI"/>
              </a:rPr>
              <a:t>стране</a:t>
            </a:r>
            <a:r>
              <a:rPr sz="14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50" b="0" i="0" dirty="0" err="1">
                <a:solidFill>
                  <a:srgbClr val="1B2140"/>
                </a:solidFill>
                <a:latin typeface="Segoe UI"/>
              </a:rPr>
              <a:t>берут</a:t>
            </a:r>
            <a:r>
              <a:rPr sz="14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50" b="0" i="0" dirty="0" err="1">
                <a:solidFill>
                  <a:srgbClr val="1B2140"/>
                </a:solidFill>
                <a:latin typeface="Segoe UI"/>
              </a:rPr>
              <a:t>льготу</a:t>
            </a:r>
            <a:r>
              <a:rPr sz="14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50" b="0" i="0" dirty="0" err="1">
                <a:solidFill>
                  <a:srgbClr val="1B2140"/>
                </a:solidFill>
                <a:latin typeface="Segoe UI"/>
              </a:rPr>
              <a:t>на</a:t>
            </a:r>
            <a:r>
              <a:rPr sz="1450" b="0" i="0" dirty="0">
                <a:solidFill>
                  <a:srgbClr val="1B2140"/>
                </a:solidFill>
                <a:latin typeface="Segoe UI"/>
              </a:rPr>
              <a:t> НИОКР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1675" y="3840480"/>
            <a:ext cx="188594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1" dirty="0" err="1">
                <a:solidFill>
                  <a:srgbClr val="6B7699"/>
                </a:solidFill>
                <a:latin typeface="Segoe UI"/>
              </a:rPr>
              <a:t>Источник</a:t>
            </a:r>
            <a:r>
              <a:rPr sz="900" b="0" i="1" dirty="0">
                <a:solidFill>
                  <a:srgbClr val="6B7699"/>
                </a:solidFill>
                <a:latin typeface="Segoe UI"/>
              </a:rPr>
              <a:t>: </a:t>
            </a:r>
            <a:r>
              <a:rPr sz="900" b="0" i="1" u="sng" dirty="0">
                <a:solidFill>
                  <a:srgbClr val="6B7699"/>
                </a:solidFill>
                <a:latin typeface="Segoe UI"/>
                <a:hlinkClick r:id="rId4"/>
              </a:rPr>
              <a:t>Решетников, ПМЭФ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608576"/>
            <a:ext cx="54864" cy="132588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24127" y="4480560"/>
            <a:ext cx="548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200" b="0" i="0">
                <a:solidFill>
                  <a:srgbClr val="C9A24B"/>
                </a:solidFill>
                <a:latin typeface="Segoe UI Semibold"/>
              </a:rPr>
              <a:t>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4626864"/>
            <a:ext cx="972007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100" b="0" i="1">
                <a:solidFill>
                  <a:srgbClr val="1E2761"/>
                </a:solidFill>
                <a:latin typeface="Segoe UI"/>
              </a:rPr>
              <a:t>Чтобы наука и бизнес нашли друг друга,
нужен технологический брокер»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5541264"/>
            <a:ext cx="97200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50" b="0" i="0" u="sng">
                <a:solidFill>
                  <a:srgbClr val="6B7699"/>
                </a:solidFill>
                <a:latin typeface="Segoe UI Semibold"/>
                <a:hlinkClick r:id="rId5"/>
              </a:rPr>
              <a:t>Юрий Зубов, руководитель Роспатента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 Semibold"/>
              </a:rPr>
              <a:t>Ситалл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8712" y="6510528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 i="0" spc="300">
                <a:solidFill>
                  <a:srgbClr val="C9A24B"/>
                </a:solidFill>
                <a:latin typeface="Segoe UI Semibold"/>
              </a:rPr>
              <a:t>РЕГИОН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08792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Свердловская</a:t>
            </a:r>
            <a:r>
              <a:rPr sz="30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область</a:t>
            </a:r>
            <a:r>
              <a:rPr sz="3000" b="0" i="0" dirty="0">
                <a:solidFill>
                  <a:srgbClr val="1E2761"/>
                </a:solidFill>
                <a:latin typeface="Segoe UI Semibold"/>
              </a:rPr>
              <a:t>: </a:t>
            </a: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сильная</a:t>
            </a:r>
            <a:r>
              <a:rPr sz="30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база</a:t>
            </a:r>
            <a:endParaRPr sz="30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5029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2507741" cy="2926080"/>
          </a:xfrm>
          <a:prstGeom prst="roundRect">
            <a:avLst>
              <a:gd name="adj" fmla="val 5104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08659" y="1805939"/>
            <a:ext cx="2370582" cy="2788920"/>
          </a:xfrm>
          <a:prstGeom prst="roundRect">
            <a:avLst>
              <a:gd name="adj" fmla="val 3857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50976" y="2048255"/>
            <a:ext cx="457200" cy="411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0976" y="2286000"/>
            <a:ext cx="1885949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200" b="0" i="0">
                <a:solidFill>
                  <a:srgbClr val="1E2761"/>
                </a:solidFill>
                <a:latin typeface="Segoe UI Semibold"/>
              </a:rPr>
              <a:t>1-е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132328"/>
            <a:ext cx="1885949" cy="10739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>
                <a:solidFill>
                  <a:srgbClr val="1B2140"/>
                </a:solidFill>
                <a:latin typeface="Segoe UI"/>
              </a:rPr>
              <a:t>место в стране по передовым технологиям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4279392"/>
            <a:ext cx="188594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1">
                <a:solidFill>
                  <a:srgbClr val="6B7699"/>
                </a:solidFill>
                <a:latin typeface="Segoe UI"/>
              </a:rPr>
              <a:t>Источник: </a:t>
            </a:r>
            <a:r>
              <a:rPr sz="900" b="0" i="1" u="sng">
                <a:solidFill>
                  <a:srgbClr val="6B7699"/>
                </a:solidFill>
                <a:latin typeface="Segoe UI"/>
                <a:hlinkClick r:id="rId2"/>
              </a:rPr>
              <a:t>Шмыков, июль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0429" y="1737360"/>
            <a:ext cx="2507741" cy="2926080"/>
          </a:xfrm>
          <a:prstGeom prst="roundRect">
            <a:avLst>
              <a:gd name="adj" fmla="val 5104"/>
            </a:avLst>
          </a:prstGeom>
          <a:solidFill>
            <a:srgbClr val="FFFFFF"/>
          </a:solidFill>
          <a:ln w="22225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751325" y="2048255"/>
            <a:ext cx="457200" cy="4114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51325" y="2286000"/>
            <a:ext cx="1885949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200" b="0" i="0">
                <a:solidFill>
                  <a:srgbClr val="C9A24B"/>
                </a:solidFill>
                <a:latin typeface="Segoe UI Semibold"/>
              </a:rPr>
              <a:t>282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51325" y="3132328"/>
            <a:ext cx="1885949" cy="10739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B2140"/>
                </a:solidFill>
                <a:latin typeface="Segoe UI"/>
              </a:rPr>
              <a:t>предприятия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в «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Производительности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труда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1325" y="4279392"/>
            <a:ext cx="188594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1">
                <a:solidFill>
                  <a:srgbClr val="6B7699"/>
                </a:solidFill>
                <a:latin typeface="Segoe UI"/>
              </a:rPr>
              <a:t>Источник: </a:t>
            </a:r>
            <a:r>
              <a:rPr sz="900" b="0" i="1" u="sng">
                <a:solidFill>
                  <a:srgbClr val="6B7699"/>
                </a:solidFill>
                <a:latin typeface="Segoe UI"/>
                <a:hlinkClick r:id="rId3"/>
              </a:rPr>
              <a:t>Правительство области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0779" y="1737360"/>
            <a:ext cx="2507741" cy="2926080"/>
          </a:xfrm>
          <a:prstGeom prst="roundRect">
            <a:avLst>
              <a:gd name="adj" fmla="val 5104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09359" y="1805939"/>
            <a:ext cx="2370582" cy="2788920"/>
          </a:xfrm>
          <a:prstGeom prst="roundRect">
            <a:avLst>
              <a:gd name="adj" fmla="val 3857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51675" y="2048255"/>
            <a:ext cx="457200" cy="411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51675" y="2286000"/>
            <a:ext cx="1885949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200" b="0" i="0" dirty="0">
                <a:solidFill>
                  <a:srgbClr val="1E2761"/>
                </a:solidFill>
                <a:latin typeface="Segoe UI Semibold"/>
              </a:rPr>
              <a:t>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1675" y="3132328"/>
            <a:ext cx="1885949" cy="500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B2140"/>
                </a:solidFill>
                <a:latin typeface="Segoe UI"/>
              </a:rPr>
              <a:t>млрд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₽ </a:t>
            </a:r>
            <a:r>
              <a:rPr lang="ru-RU" sz="1400" b="0" i="0" dirty="0">
                <a:solidFill>
                  <a:srgbClr val="1B2140"/>
                </a:solidFill>
                <a:latin typeface="Segoe UI"/>
              </a:rPr>
              <a:t>от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фонда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промышленности</a:t>
            </a:r>
            <a:endParaRPr sz="14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551675" y="4279392"/>
            <a:ext cx="188594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1">
                <a:solidFill>
                  <a:srgbClr val="6B7699"/>
                </a:solidFill>
                <a:latin typeface="Segoe UI"/>
              </a:rPr>
              <a:t>Источник: </a:t>
            </a:r>
            <a:r>
              <a:rPr sz="900" b="0" i="1" u="sng">
                <a:solidFill>
                  <a:srgbClr val="6B7699"/>
                </a:solidFill>
                <a:latin typeface="Segoe UI"/>
                <a:hlinkClick r:id="rId4"/>
              </a:rPr>
              <a:t>ФТРП области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41129" y="1737360"/>
            <a:ext cx="2507741" cy="2926080"/>
          </a:xfrm>
          <a:prstGeom prst="roundRect">
            <a:avLst>
              <a:gd name="adj" fmla="val 5104"/>
            </a:avLst>
          </a:prstGeom>
          <a:solidFill>
            <a:srgbClr val="FFFFFF"/>
          </a:solidFill>
          <a:ln w="22225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352025" y="2048255"/>
            <a:ext cx="457200" cy="4114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52025" y="2286000"/>
            <a:ext cx="1885949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200" b="0" i="0">
                <a:solidFill>
                  <a:srgbClr val="C9A24B"/>
                </a:solidFill>
                <a:latin typeface="Segoe UI Semibold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2025" y="3132328"/>
            <a:ext cx="1885949" cy="763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B2140"/>
                </a:solidFill>
                <a:latin typeface="Segoe UI"/>
              </a:rPr>
              <a:t>структур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отвечает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за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путь</a:t>
            </a:r>
            <a:r>
              <a:rPr lang="ru-RU" sz="1400" b="0" i="0" dirty="0">
                <a:solidFill>
                  <a:srgbClr val="1B2140"/>
                </a:solidFill>
                <a:latin typeface="Segoe UI"/>
              </a:rPr>
              <a:t> от проблемы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до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внедрения</a:t>
            </a:r>
            <a:endParaRPr sz="14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40079" y="5120639"/>
            <a:ext cx="68579" cy="1321307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24127" y="5102352"/>
            <a:ext cx="10360152" cy="12786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lang="ru-RU" sz="2500" b="0" i="0" dirty="0">
                <a:solidFill>
                  <a:srgbClr val="1E2761"/>
                </a:solidFill>
                <a:latin typeface="Segoe UI Semibold"/>
              </a:rPr>
              <a:t>Мы предлагаем усилить развитие инфраструктуры за счет связи проблем предприятий и контролируемого внедрения целевых решений.</a:t>
            </a:r>
            <a:endParaRPr sz="25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0080" y="651052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 Semibold"/>
              </a:rPr>
              <a:t>Ситалл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68712" y="6510528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 i="0" spc="300">
                <a:solidFill>
                  <a:srgbClr val="C9A24B"/>
                </a:solidFill>
                <a:latin typeface="Segoe UI Semibold"/>
              </a:rPr>
              <a:t>КАК ЭТО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0879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1E2761"/>
                </a:solidFill>
                <a:latin typeface="Segoe UI Semibold"/>
              </a:rPr>
              <a:t>Один цикл: от задачи завода до внедрения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121408" y="1664208"/>
            <a:ext cx="2233422" cy="4572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121408" y="1792224"/>
            <a:ext cx="223342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 dirty="0">
                <a:solidFill>
                  <a:srgbClr val="1E2761"/>
                </a:solidFill>
                <a:latin typeface="Segoe UI Semibold"/>
              </a:rPr>
              <a:t>1. </a:t>
            </a:r>
            <a:r>
              <a:rPr sz="1400" b="0" i="0" dirty="0" err="1">
                <a:solidFill>
                  <a:srgbClr val="1E2761"/>
                </a:solidFill>
                <a:latin typeface="Segoe UI Semibold"/>
              </a:rPr>
              <a:t>Задача</a:t>
            </a:r>
            <a:endParaRPr sz="14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19422" y="1664208"/>
            <a:ext cx="2233422" cy="4572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19422" y="1792224"/>
            <a:ext cx="223342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1E2761"/>
                </a:solidFill>
                <a:latin typeface="Segoe UI Semibold"/>
              </a:rPr>
              <a:t>2. Поиск и проверка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917436" y="1664208"/>
            <a:ext cx="2233422" cy="4572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17436" y="1792224"/>
            <a:ext cx="223342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1E2761"/>
                </a:solidFill>
                <a:latin typeface="Segoe UI Semibold"/>
              </a:rPr>
              <a:t>3. Сделка и поддержка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15450" y="1664208"/>
            <a:ext cx="2233422" cy="4572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315450" y="1792224"/>
            <a:ext cx="223342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1E2761"/>
                </a:solidFill>
                <a:latin typeface="Segoe UI Semibold"/>
              </a:rPr>
              <a:t>4. Внедрение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31136"/>
            <a:ext cx="1298448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6B7699"/>
                </a:solidFill>
                <a:latin typeface="Segoe UI Semibold"/>
              </a:rPr>
              <a:t>ПРЕДПРИЯТИЕ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21408" y="2231136"/>
            <a:ext cx="223342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40864" y="2454689"/>
            <a:ext cx="1794510" cy="4855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ru-RU" sz="1400" b="0" i="0" dirty="0">
                <a:solidFill>
                  <a:srgbClr val="1B2140"/>
                </a:solidFill>
                <a:latin typeface="Segoe UI"/>
              </a:rPr>
              <a:t>Обозначает потребность</a:t>
            </a:r>
            <a:endParaRPr sz="14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519422" y="2231136"/>
            <a:ext cx="223342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38878" y="2581807"/>
            <a:ext cx="1794510" cy="2313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ru-RU" sz="1400" dirty="0">
                <a:solidFill>
                  <a:srgbClr val="1B2140"/>
                </a:solidFill>
                <a:latin typeface="Segoe UI"/>
              </a:rPr>
              <a:t>В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ыбирает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из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lang="ru-RU" sz="1400" b="0" i="0" dirty="0">
                <a:solidFill>
                  <a:srgbClr val="1B2140"/>
                </a:solidFill>
                <a:latin typeface="Segoe UI"/>
              </a:rPr>
              <a:t>списка</a:t>
            </a:r>
            <a:endParaRPr sz="14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917436" y="2231136"/>
            <a:ext cx="223342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36892" y="2454689"/>
            <a:ext cx="1794510" cy="4855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ru-RU" sz="1400" dirty="0">
                <a:solidFill>
                  <a:srgbClr val="1B2140"/>
                </a:solidFill>
                <a:latin typeface="Segoe UI"/>
              </a:rPr>
              <a:t>П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одписывает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договор</a:t>
            </a:r>
            <a:endParaRPr sz="14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315450" y="2231136"/>
            <a:ext cx="223342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34906" y="2327571"/>
            <a:ext cx="1794510" cy="7398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ru-RU" sz="1400" dirty="0">
                <a:solidFill>
                  <a:srgbClr val="1B2140"/>
                </a:solidFill>
                <a:latin typeface="Segoe UI"/>
              </a:rPr>
              <a:t>П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олучает</a:t>
            </a:r>
            <a:r>
              <a:rPr lang="ru-RU" sz="1400" b="0" i="0" dirty="0">
                <a:solidFill>
                  <a:srgbClr val="1B2140"/>
                </a:solidFill>
                <a:latin typeface="Segoe UI"/>
              </a:rPr>
              <a:t> работающую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технологию</a:t>
            </a:r>
            <a:endParaRPr sz="14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0080" y="3291840"/>
            <a:ext cx="1298448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1E2761"/>
                </a:solidFill>
                <a:latin typeface="Segoe UI Semibold"/>
              </a:rPr>
              <a:t>СИТАЛЛ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21408" y="3291840"/>
            <a:ext cx="223342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254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340864" y="3515393"/>
            <a:ext cx="1794510" cy="4855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ru-RU" sz="1400" b="0" i="0" dirty="0">
                <a:solidFill>
                  <a:srgbClr val="1E2761"/>
                </a:solidFill>
                <a:latin typeface="Segoe UI Semibold"/>
              </a:rPr>
              <a:t>П</a:t>
            </a:r>
            <a:r>
              <a:rPr sz="1400" b="0" i="0" dirty="0" err="1">
                <a:solidFill>
                  <a:srgbClr val="1E2761"/>
                </a:solidFill>
                <a:latin typeface="Segoe UI Semibold"/>
              </a:rPr>
              <a:t>еревод</a:t>
            </a:r>
            <a:r>
              <a:rPr lang="ru-RU" sz="1400" dirty="0">
                <a:solidFill>
                  <a:srgbClr val="1E2761"/>
                </a:solidFill>
                <a:latin typeface="Segoe UI Semibold"/>
              </a:rPr>
              <a:t>им</a:t>
            </a:r>
            <a:r>
              <a:rPr sz="1400" b="0" i="0" dirty="0">
                <a:solidFill>
                  <a:srgbClr val="1E2761"/>
                </a:solidFill>
                <a:latin typeface="Segoe UI Semibold"/>
              </a:rPr>
              <a:t>
</a:t>
            </a:r>
            <a:r>
              <a:rPr sz="1400" b="0" i="0" dirty="0" err="1">
                <a:solidFill>
                  <a:srgbClr val="1E2761"/>
                </a:solidFill>
                <a:latin typeface="Segoe UI Semibold"/>
              </a:rPr>
              <a:t>в</a:t>
            </a:r>
            <a:r>
              <a:rPr sz="14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1400" b="0" i="0" dirty="0" err="1">
                <a:solidFill>
                  <a:srgbClr val="1E2761"/>
                </a:solidFill>
                <a:latin typeface="Segoe UI Semibold"/>
              </a:rPr>
              <a:t>техзадание</a:t>
            </a:r>
            <a:endParaRPr sz="14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4519422" y="3291840"/>
            <a:ext cx="223342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254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38878" y="3388275"/>
            <a:ext cx="1794510" cy="7398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ru-RU" sz="1400" dirty="0">
                <a:solidFill>
                  <a:srgbClr val="1E2761"/>
                </a:solidFill>
                <a:latin typeface="Segoe UI Semibold"/>
              </a:rPr>
              <a:t>Ищем </a:t>
            </a:r>
            <a:r>
              <a:rPr sz="1400" b="0" i="0" dirty="0">
                <a:solidFill>
                  <a:srgbClr val="1E2761"/>
                </a:solidFill>
                <a:latin typeface="Segoe UI Semibold"/>
              </a:rPr>
              <a:t>и </a:t>
            </a:r>
            <a:r>
              <a:rPr sz="1400" b="0" i="0" dirty="0" err="1">
                <a:solidFill>
                  <a:srgbClr val="1E2761"/>
                </a:solidFill>
                <a:latin typeface="Segoe UI Semibold"/>
              </a:rPr>
              <a:t>проверяе</a:t>
            </a:r>
            <a:r>
              <a:rPr lang="ru-RU" sz="1400" b="0" i="0" dirty="0">
                <a:solidFill>
                  <a:srgbClr val="1E2761"/>
                </a:solidFill>
                <a:latin typeface="Segoe UI Semibold"/>
              </a:rPr>
              <a:t>м</a:t>
            </a:r>
            <a:r>
              <a:rPr lang="ru-RU" sz="1400" dirty="0">
                <a:solidFill>
                  <a:srgbClr val="1E2761"/>
                </a:solidFill>
                <a:latin typeface="Segoe UI Semibold"/>
              </a:rPr>
              <a:t> решения и их поставщиков</a:t>
            </a:r>
            <a:endParaRPr lang="ru-RU" sz="14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917436" y="3291840"/>
            <a:ext cx="223342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254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6892" y="3515393"/>
            <a:ext cx="1794510" cy="4855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ru-RU" sz="1400" dirty="0">
                <a:solidFill>
                  <a:srgbClr val="1E2761"/>
                </a:solidFill>
                <a:latin typeface="Segoe UI Semibold"/>
              </a:rPr>
              <a:t>Структурируем и ведем</a:t>
            </a:r>
            <a:r>
              <a:rPr sz="14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1400" b="0" i="0" dirty="0" err="1">
                <a:solidFill>
                  <a:srgbClr val="1E2761"/>
                </a:solidFill>
                <a:latin typeface="Segoe UI Semibold"/>
              </a:rPr>
              <a:t>сделку</a:t>
            </a:r>
            <a:endParaRPr sz="14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9315450" y="3291840"/>
            <a:ext cx="223342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254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534906" y="3388275"/>
            <a:ext cx="1794510" cy="7398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ru-RU" sz="1400" b="0" i="0" dirty="0">
                <a:solidFill>
                  <a:srgbClr val="1E2761"/>
                </a:solidFill>
                <a:latin typeface="Segoe UI Semibold"/>
              </a:rPr>
              <a:t>Сопровождаем внедрение </a:t>
            </a:r>
            <a:r>
              <a:rPr lang="ru-RU" sz="1400" dirty="0">
                <a:solidFill>
                  <a:srgbClr val="1E2761"/>
                </a:solidFill>
                <a:latin typeface="Segoe UI Semibold"/>
              </a:rPr>
              <a:t>до запуска</a:t>
            </a:r>
            <a:endParaRPr sz="14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40080" y="4352544"/>
            <a:ext cx="1298448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 dirty="0">
                <a:solidFill>
                  <a:srgbClr val="6B7699"/>
                </a:solidFill>
                <a:latin typeface="Segoe UI Semibold"/>
              </a:rPr>
              <a:t>НАУКА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19422" y="4352544"/>
            <a:ext cx="223342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738878" y="4703215"/>
            <a:ext cx="1794510" cy="2313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ru-RU" sz="1400" dirty="0">
                <a:solidFill>
                  <a:srgbClr val="1B2140"/>
                </a:solidFill>
                <a:latin typeface="Segoe UI"/>
              </a:rPr>
              <a:t>Д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аёт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решения</a:t>
            </a:r>
            <a:endParaRPr sz="14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917436" y="4352544"/>
            <a:ext cx="223342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136892" y="4703215"/>
            <a:ext cx="1794510" cy="2313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ru-RU" sz="1400" dirty="0">
                <a:solidFill>
                  <a:srgbClr val="1B2140"/>
                </a:solidFill>
                <a:latin typeface="Segoe UI"/>
              </a:rPr>
              <a:t>И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сполняет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НИОКР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15450" y="4352544"/>
            <a:ext cx="223342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534906" y="4576097"/>
            <a:ext cx="1794510" cy="4855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ru-RU" sz="1400" dirty="0">
                <a:solidFill>
                  <a:srgbClr val="1B2140"/>
                </a:solidFill>
                <a:latin typeface="Segoe UI"/>
              </a:rPr>
              <a:t>Д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орабатывает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
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под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производство</a:t>
            </a:r>
            <a:endParaRPr sz="14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40080" y="651052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 Semibold"/>
              </a:rPr>
              <a:t>Ситалл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68712" y="6510528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 i="0" spc="300">
                <a:solidFill>
                  <a:srgbClr val="C9A24B"/>
                </a:solidFill>
                <a:latin typeface="Segoe UI Semibold"/>
              </a:rPr>
              <a:t>КТО 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0879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 dirty="0">
                <a:solidFill>
                  <a:srgbClr val="1E2761"/>
                </a:solidFill>
                <a:latin typeface="Segoe UI Semibold"/>
              </a:rPr>
              <a:t>Внешний </a:t>
            </a: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офис</a:t>
            </a:r>
            <a:r>
              <a:rPr sz="30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трансфера</a:t>
            </a:r>
            <a:r>
              <a:rPr sz="30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технологий</a:t>
            </a:r>
            <a:endParaRPr sz="30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5029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62372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08659" y="1805939"/>
            <a:ext cx="5125212" cy="2075688"/>
          </a:xfrm>
          <a:prstGeom prst="roundRect">
            <a:avLst>
              <a:gd name="adj" fmla="val 4405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05840" y="2103120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096503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600" b="0" i="0" dirty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61488"/>
            <a:ext cx="45308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0" i="0">
                <a:solidFill>
                  <a:srgbClr val="1E2761"/>
                </a:solidFill>
                <a:latin typeface="Segoe UI Semibold"/>
              </a:rPr>
              <a:t>От задачи, а не от разработки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14600"/>
            <a:ext cx="45308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B2140"/>
                </a:solidFill>
                <a:latin typeface="Segoe UI"/>
              </a:rPr>
              <a:t>Начинаем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там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,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где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предприятие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теряет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деньги</a:t>
            </a:r>
            <a:endParaRPr sz="14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86500" y="1737360"/>
            <a:ext cx="5262372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 w="22225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652260" y="2103120"/>
            <a:ext cx="457200" cy="457200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52260" y="2096503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2260" y="2761488"/>
            <a:ext cx="45308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0" i="0">
                <a:solidFill>
                  <a:srgbClr val="1E2761"/>
                </a:solidFill>
                <a:latin typeface="Segoe UI Semibold"/>
              </a:rPr>
              <a:t>Отвечаем деньгами за внедрение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2260" y="3214600"/>
            <a:ext cx="45308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1B2140"/>
                </a:solidFill>
                <a:latin typeface="Segoe UI"/>
              </a:rPr>
              <a:t>Часть вознаграждения только при результате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24527"/>
            <a:ext cx="5262372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08659" y="4293107"/>
            <a:ext cx="5125212" cy="2075688"/>
          </a:xfrm>
          <a:prstGeom prst="roundRect">
            <a:avLst>
              <a:gd name="adj" fmla="val 4405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05840" y="4590288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5836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248655"/>
            <a:ext cx="45308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0" i="0">
                <a:solidFill>
                  <a:srgbClr val="1E2761"/>
                </a:solidFill>
                <a:latin typeface="Segoe UI Semibold"/>
              </a:rPr>
              <a:t>Господдержку собираем сами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701767"/>
            <a:ext cx="4530852" cy="478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lang="ru-RU" sz="1400" b="0" i="0" dirty="0">
                <a:solidFill>
                  <a:srgbClr val="1B2140"/>
                </a:solidFill>
                <a:latin typeface="Segoe UI"/>
              </a:rPr>
              <a:t>Документацию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готовим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мы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, а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не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сотрудники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lang="ru-RU" sz="1400" b="0" i="0" dirty="0">
                <a:solidFill>
                  <a:srgbClr val="1B2140"/>
                </a:solidFill>
                <a:latin typeface="Segoe UI"/>
              </a:rPr>
              <a:t>предприятия</a:t>
            </a:r>
            <a:endParaRPr sz="14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286500" y="4224527"/>
            <a:ext cx="5262372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 w="22225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652260" y="4590288"/>
            <a:ext cx="457200" cy="457200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52260" y="458367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2260" y="5248655"/>
            <a:ext cx="45308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0" i="0">
                <a:solidFill>
                  <a:srgbClr val="1E2761"/>
                </a:solidFill>
                <a:latin typeface="Segoe UI Semibold"/>
              </a:rPr>
              <a:t>Госцентрам приводим заказчика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2260" y="5701767"/>
            <a:ext cx="45308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 dirty="0">
                <a:solidFill>
                  <a:srgbClr val="1B2140"/>
                </a:solidFill>
                <a:latin typeface="Segoe UI"/>
              </a:rPr>
              <a:t>НОЦ, ЦТТ и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фонды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для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нас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партнёры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и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исполнители</a:t>
            </a:r>
            <a:endParaRPr sz="14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 Semibold"/>
              </a:rPr>
              <a:t>Ситалл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8712" y="6510528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 i="0" spc="300">
                <a:solidFill>
                  <a:srgbClr val="C9A24B"/>
                </a:solidFill>
                <a:latin typeface="Segoe UI Semibold"/>
              </a:rPr>
              <a:t>ЧЕМ РАБОТАЕМ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08792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Ситалл</a:t>
            </a:r>
            <a:r>
              <a:rPr sz="30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Скаут</a:t>
            </a:r>
            <a:r>
              <a:rPr sz="3000" b="0" i="0" dirty="0">
                <a:solidFill>
                  <a:srgbClr val="1E2761"/>
                </a:solidFill>
                <a:latin typeface="Segoe UI Semibold"/>
              </a:rPr>
              <a:t>: </a:t>
            </a:r>
            <a:r>
              <a:rPr lang="ru-RU" sz="3000" dirty="0">
                <a:solidFill>
                  <a:srgbClr val="1E2761"/>
                </a:solidFill>
                <a:latin typeface="Segoe UI Semibold"/>
              </a:rPr>
              <a:t>собственная платформа </a:t>
            </a: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подбор</a:t>
            </a:r>
            <a:r>
              <a:rPr lang="ru-RU" sz="3000" b="0" i="0" dirty="0">
                <a:solidFill>
                  <a:srgbClr val="1E2761"/>
                </a:solidFill>
                <a:latin typeface="Segoe UI Semibold"/>
              </a:rPr>
              <a:t>а</a:t>
            </a:r>
            <a:r>
              <a:rPr sz="30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3000" b="0" i="0" dirty="0" err="1">
                <a:solidFill>
                  <a:srgbClr val="1E2761"/>
                </a:solidFill>
                <a:latin typeface="Segoe UI Semibold"/>
              </a:rPr>
              <a:t>решений</a:t>
            </a:r>
            <a:endParaRPr sz="30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5029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4363516" cy="4023360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254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7280" y="2103120"/>
            <a:ext cx="548640" cy="54864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395728"/>
            <a:ext cx="344911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0" b="0" i="0">
                <a:solidFill>
                  <a:srgbClr val="1E2761"/>
                </a:solidFill>
                <a:latin typeface="Segoe UI Semibold"/>
              </a:rPr>
              <a:t>5–7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950208"/>
            <a:ext cx="3449116" cy="10522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900" b="0" i="0" dirty="0" err="1">
                <a:solidFill>
                  <a:srgbClr val="1B2140"/>
                </a:solidFill>
                <a:latin typeface="Segoe UI"/>
              </a:rPr>
              <a:t>проверенных</a:t>
            </a:r>
            <a:r>
              <a:rPr sz="19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900" b="0" i="0" dirty="0" err="1">
                <a:solidFill>
                  <a:srgbClr val="1B2140"/>
                </a:solidFill>
                <a:latin typeface="Segoe UI"/>
              </a:rPr>
              <a:t>решений</a:t>
            </a:r>
            <a:r>
              <a:rPr sz="1900" b="0" i="0" dirty="0">
                <a:solidFill>
                  <a:srgbClr val="1B2140"/>
                </a:solidFill>
                <a:latin typeface="Segoe UI"/>
              </a:rPr>
              <a:t>
</a:t>
            </a:r>
            <a:r>
              <a:rPr sz="1900" b="0" i="0" dirty="0" err="1">
                <a:solidFill>
                  <a:srgbClr val="1B2140"/>
                </a:solidFill>
                <a:latin typeface="Segoe UI"/>
              </a:rPr>
              <a:t>под</a:t>
            </a:r>
            <a:r>
              <a:rPr sz="19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900" b="0" i="0" dirty="0" err="1">
                <a:solidFill>
                  <a:srgbClr val="1B2140"/>
                </a:solidFill>
                <a:latin typeface="Segoe UI"/>
              </a:rPr>
              <a:t>задачу</a:t>
            </a:r>
            <a:r>
              <a:rPr sz="19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900" b="0" i="0" dirty="0" err="1">
                <a:solidFill>
                  <a:srgbClr val="1B2140"/>
                </a:solidFill>
                <a:latin typeface="Segoe UI"/>
              </a:rPr>
              <a:t>предприятия</a:t>
            </a:r>
            <a:r>
              <a:rPr sz="1900" b="0" i="0" dirty="0">
                <a:solidFill>
                  <a:srgbClr val="1B2140"/>
                </a:solidFill>
                <a:latin typeface="Segoe UI"/>
              </a:rPr>
              <a:t>.
</a:t>
            </a:r>
            <a:r>
              <a:rPr sz="1900" b="0" i="0" dirty="0" err="1">
                <a:solidFill>
                  <a:srgbClr val="1B2140"/>
                </a:solidFill>
                <a:latin typeface="Segoe UI"/>
              </a:rPr>
              <a:t>Срок</a:t>
            </a:r>
            <a:r>
              <a:rPr sz="1900" b="0" i="0" dirty="0">
                <a:solidFill>
                  <a:srgbClr val="1B2140"/>
                </a:solidFill>
                <a:latin typeface="Segoe UI"/>
              </a:rPr>
              <a:t>: </a:t>
            </a:r>
            <a:r>
              <a:rPr sz="1900" i="0" dirty="0" err="1">
                <a:solidFill>
                  <a:srgbClr val="1B2140"/>
                </a:solidFill>
                <a:latin typeface="Segoe UI"/>
              </a:rPr>
              <a:t>сутки</a:t>
            </a:r>
            <a:r>
              <a:rPr sz="19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900" b="0" i="0" dirty="0" err="1">
                <a:solidFill>
                  <a:srgbClr val="1B2140"/>
                </a:solidFill>
                <a:latin typeface="Segoe UI"/>
              </a:rPr>
              <a:t>вместо</a:t>
            </a:r>
            <a:r>
              <a:rPr sz="19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900" b="0" i="0" dirty="0" err="1">
                <a:solidFill>
                  <a:srgbClr val="1B2140"/>
                </a:solidFill>
                <a:latin typeface="Segoe UI"/>
              </a:rPr>
              <a:t>недель</a:t>
            </a:r>
            <a:endParaRPr sz="19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387644" y="1737360"/>
            <a:ext cx="6161227" cy="1225296"/>
          </a:xfrm>
          <a:prstGeom prst="roundRect">
            <a:avLst>
              <a:gd name="adj" fmla="val 10447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456224" y="1805939"/>
            <a:ext cx="6024067" cy="1088136"/>
          </a:xfrm>
          <a:prstGeom prst="roundRect">
            <a:avLst>
              <a:gd name="adj" fmla="val 8403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735116" y="2048255"/>
            <a:ext cx="402336" cy="4114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35116" y="2231136"/>
            <a:ext cx="546628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900" b="0" i="0">
                <a:solidFill>
                  <a:srgbClr val="1E2761"/>
                </a:solidFill>
                <a:latin typeface="Segoe UI Semibold"/>
              </a:rPr>
              <a:t>Проверяет человек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35116" y="2596896"/>
            <a:ext cx="5813629" cy="2281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B2140"/>
                </a:solidFill>
                <a:latin typeface="Segoe UI"/>
              </a:rPr>
              <a:t>Инструмент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даёт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lang="ru-RU" sz="1400" b="0" i="0" dirty="0">
                <a:solidFill>
                  <a:srgbClr val="1B2140"/>
                </a:solidFill>
                <a:latin typeface="Segoe UI"/>
              </a:rPr>
              <a:t>варианты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,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подтверждает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lang="ru-RU" sz="1400" b="0" i="0" dirty="0">
                <a:solidFill>
                  <a:srgbClr val="1B2140"/>
                </a:solidFill>
                <a:latin typeface="Segoe UI"/>
              </a:rPr>
              <a:t>профильный специалист</a:t>
            </a:r>
            <a:endParaRPr sz="14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387644" y="3136391"/>
            <a:ext cx="6161227" cy="1225296"/>
          </a:xfrm>
          <a:prstGeom prst="roundRect">
            <a:avLst>
              <a:gd name="adj" fmla="val 10447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56224" y="3204972"/>
            <a:ext cx="6024067" cy="1088136"/>
          </a:xfrm>
          <a:prstGeom prst="roundRect">
            <a:avLst>
              <a:gd name="adj" fmla="val 8403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735116" y="3447287"/>
            <a:ext cx="402336" cy="4114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35116" y="3630168"/>
            <a:ext cx="546628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900" b="0" i="0">
                <a:solidFill>
                  <a:srgbClr val="1E2761"/>
                </a:solidFill>
                <a:latin typeface="Segoe UI Semibold"/>
              </a:rPr>
              <a:t>Открытые данные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5116" y="3995927"/>
            <a:ext cx="54662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1B2140"/>
                </a:solidFill>
                <a:latin typeface="Segoe UI"/>
              </a:rPr>
              <a:t>Публикации, патенты, гранты, российский и мировой веб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87644" y="4535424"/>
            <a:ext cx="6161227" cy="1225296"/>
          </a:xfrm>
          <a:prstGeom prst="roundRect">
            <a:avLst>
              <a:gd name="adj" fmla="val 10447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456224" y="4604004"/>
            <a:ext cx="6024067" cy="1088136"/>
          </a:xfrm>
          <a:prstGeom prst="roundRect">
            <a:avLst>
              <a:gd name="adj" fmla="val 8403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735116" y="4846320"/>
            <a:ext cx="402336" cy="4114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35116" y="5029200"/>
            <a:ext cx="546628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900" b="0" i="0" dirty="0" err="1">
                <a:solidFill>
                  <a:srgbClr val="1E2761"/>
                </a:solidFill>
                <a:latin typeface="Segoe UI Semibold"/>
              </a:rPr>
              <a:t>Готов</a:t>
            </a:r>
            <a:r>
              <a:rPr lang="ru-RU" sz="1900" b="0" i="0" dirty="0">
                <a:solidFill>
                  <a:srgbClr val="1E2761"/>
                </a:solidFill>
                <a:latin typeface="Segoe UI Semibold"/>
              </a:rPr>
              <a:t>ы</a:t>
            </a:r>
            <a:r>
              <a:rPr sz="1900" b="0" i="0" dirty="0">
                <a:solidFill>
                  <a:srgbClr val="1E2761"/>
                </a:solidFill>
                <a:latin typeface="Segoe UI Semibold"/>
              </a:rPr>
              <a:t> к ГИС НИОКР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35116" y="5394960"/>
            <a:ext cx="54662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B2140"/>
                </a:solidFill>
                <a:latin typeface="Segoe UI"/>
              </a:rPr>
              <a:t>Подключимся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,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когда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система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откроется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для</a:t>
            </a:r>
            <a:r>
              <a:rPr sz="14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1B2140"/>
                </a:solidFill>
                <a:latin typeface="Segoe UI"/>
              </a:rPr>
              <a:t>рынка</a:t>
            </a:r>
            <a:endParaRPr sz="14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0080" y="651052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 Semibold"/>
              </a:rPr>
              <a:t>Ситалл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6510528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 i="0" spc="300">
                <a:solidFill>
                  <a:srgbClr val="C9A24B"/>
                </a:solidFill>
                <a:latin typeface="Segoe UI Semibold"/>
              </a:rPr>
              <a:t>ЦЕННОСТЬ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0879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1E2761"/>
                </a:solidFill>
                <a:latin typeface="Segoe UI Semibold"/>
              </a:rPr>
              <a:t>Что получает каждая сторона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5029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16807" cy="4114800"/>
          </a:xfrm>
          <a:prstGeom prst="roundRect">
            <a:avLst>
              <a:gd name="adj" fmla="val 3746"/>
            </a:avLst>
          </a:prstGeom>
          <a:solidFill>
            <a:srgbClr val="FFFFFF"/>
          </a:solidFill>
          <a:ln w="22225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" y="2048256"/>
            <a:ext cx="402336" cy="4114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49424"/>
            <a:ext cx="26852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 spc="250">
                <a:solidFill>
                  <a:srgbClr val="1E2761"/>
                </a:solidFill>
                <a:latin typeface="Segoe UI Semibold"/>
              </a:rPr>
              <a:t>РЕГИОНУ</a:t>
            </a:r>
          </a:p>
        </p:txBody>
      </p:sp>
      <p:sp>
        <p:nvSpPr>
          <p:cNvPr id="8" name="Oval 7"/>
          <p:cNvSpPr/>
          <p:nvPr/>
        </p:nvSpPr>
        <p:spPr>
          <a:xfrm>
            <a:off x="1005840" y="2871216"/>
            <a:ext cx="82296" cy="82296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61872" y="2743200"/>
            <a:ext cx="242925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50" b="0" i="0" dirty="0" err="1">
                <a:solidFill>
                  <a:srgbClr val="1B2140"/>
                </a:solidFill>
                <a:latin typeface="Segoe UI"/>
              </a:rPr>
              <a:t>Рост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частных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вложений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в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науку</a:t>
            </a:r>
            <a:endParaRPr sz="155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10" name="Oval 9"/>
          <p:cNvSpPr/>
          <p:nvPr/>
        </p:nvSpPr>
        <p:spPr>
          <a:xfrm>
            <a:off x="1005840" y="3730752"/>
            <a:ext cx="82296" cy="82296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61872" y="3602736"/>
            <a:ext cx="2429255" cy="25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50" b="0" i="0" dirty="0">
                <a:solidFill>
                  <a:srgbClr val="1B2140"/>
                </a:solidFill>
                <a:latin typeface="Segoe UI"/>
              </a:rPr>
              <a:t>Загрузка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вузов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заказами</a:t>
            </a:r>
            <a:endParaRPr sz="155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005840" y="4315968"/>
            <a:ext cx="82296" cy="82296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61872" y="4187952"/>
            <a:ext cx="242925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50" b="0" i="0" dirty="0" err="1">
                <a:solidFill>
                  <a:srgbClr val="1B2140"/>
                </a:solidFill>
                <a:latin typeface="Segoe UI"/>
              </a:rPr>
              <a:t>Федеральные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деньги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в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регион</a:t>
            </a:r>
            <a:endParaRPr sz="155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1005840" y="5175503"/>
            <a:ext cx="82296" cy="82296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61872" y="5047488"/>
            <a:ext cx="2429255" cy="537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ru-RU" sz="1550" b="0" i="0" dirty="0">
                <a:solidFill>
                  <a:srgbClr val="1B2140"/>
                </a:solidFill>
                <a:latin typeface="Segoe UI"/>
              </a:rPr>
              <a:t>Рост целевых расходов на науку и промышленность</a:t>
            </a:r>
            <a:endParaRPr sz="155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86072" y="1737360"/>
            <a:ext cx="3416807" cy="4114800"/>
          </a:xfrm>
          <a:prstGeom prst="roundRect">
            <a:avLst>
              <a:gd name="adj" fmla="val 3746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454652" y="1805939"/>
            <a:ext cx="3279648" cy="3977639"/>
          </a:xfrm>
          <a:prstGeom prst="roundRect">
            <a:avLst>
              <a:gd name="adj" fmla="val 2788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751832" y="2048256"/>
            <a:ext cx="402336" cy="411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1832" y="2249424"/>
            <a:ext cx="26852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 spc="250">
                <a:solidFill>
                  <a:srgbClr val="1E2761"/>
                </a:solidFill>
                <a:latin typeface="Segoe UI Semibold"/>
              </a:rPr>
              <a:t>ПРЕДПРИЯТИЮ</a:t>
            </a:r>
          </a:p>
        </p:txBody>
      </p:sp>
      <p:sp>
        <p:nvSpPr>
          <p:cNvPr id="20" name="Oval 19"/>
          <p:cNvSpPr/>
          <p:nvPr/>
        </p:nvSpPr>
        <p:spPr>
          <a:xfrm>
            <a:off x="4751832" y="2871216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07864" y="2743200"/>
            <a:ext cx="24292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50" b="0" i="0" dirty="0" err="1">
                <a:solidFill>
                  <a:srgbClr val="1B2140"/>
                </a:solidFill>
                <a:latin typeface="Segoe UI"/>
              </a:rPr>
              <a:t>Решение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без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своего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R&amp;D</a:t>
            </a:r>
          </a:p>
        </p:txBody>
      </p:sp>
      <p:sp>
        <p:nvSpPr>
          <p:cNvPr id="22" name="Oval 21"/>
          <p:cNvSpPr/>
          <p:nvPr/>
        </p:nvSpPr>
        <p:spPr>
          <a:xfrm>
            <a:off x="4751832" y="3456432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07864" y="3328416"/>
            <a:ext cx="2429255" cy="537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ru-RU" sz="1550" b="0" i="0" dirty="0">
                <a:solidFill>
                  <a:srgbClr val="1B2140"/>
                </a:solidFill>
                <a:latin typeface="Segoe UI"/>
              </a:rPr>
              <a:t>На 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100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млн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₽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проекта</a:t>
            </a:r>
            <a:r>
              <a:rPr lang="ru-RU" sz="1550" dirty="0">
                <a:solidFill>
                  <a:srgbClr val="1B2140"/>
                </a:solidFill>
                <a:latin typeface="Segoe UI"/>
              </a:rPr>
              <a:t> только 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15–30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млн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₽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своих</a:t>
            </a:r>
            <a:endParaRPr sz="155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751832" y="4315968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07864" y="4187952"/>
            <a:ext cx="2429255" cy="537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50" b="0" i="0" dirty="0" err="1">
                <a:solidFill>
                  <a:srgbClr val="1B2140"/>
                </a:solidFill>
                <a:latin typeface="Segoe UI"/>
              </a:rPr>
              <a:t>Один</a:t>
            </a:r>
            <a:r>
              <a:rPr lang="ru-RU" sz="1550" b="0" i="0" dirty="0">
                <a:solidFill>
                  <a:srgbClr val="1B2140"/>
                </a:solidFill>
                <a:latin typeface="Segoe UI"/>
              </a:rPr>
              <a:t> управляющий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подрядчик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lang="ru-RU" sz="1550" b="0" i="0" dirty="0">
                <a:solidFill>
                  <a:srgbClr val="1B2140"/>
                </a:solidFill>
                <a:latin typeface="Segoe UI"/>
              </a:rPr>
              <a:t>на весь проект</a:t>
            </a:r>
            <a:endParaRPr sz="155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4751832" y="5175503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07864" y="5047488"/>
            <a:ext cx="242925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50" b="0" i="0" dirty="0" err="1">
                <a:solidFill>
                  <a:srgbClr val="1B2140"/>
                </a:solidFill>
                <a:latin typeface="Segoe UI"/>
              </a:rPr>
              <a:t>Ответ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за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3–4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недели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, а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не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за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два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года</a:t>
            </a:r>
            <a:endParaRPr sz="155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132063" y="1737360"/>
            <a:ext cx="3416807" cy="4114800"/>
          </a:xfrm>
          <a:prstGeom prst="roundRect">
            <a:avLst>
              <a:gd name="adj" fmla="val 3746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200643" y="1805939"/>
            <a:ext cx="3279648" cy="3977639"/>
          </a:xfrm>
          <a:prstGeom prst="roundRect">
            <a:avLst>
              <a:gd name="adj" fmla="val 2788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497824" y="2048256"/>
            <a:ext cx="402336" cy="4114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97824" y="2249424"/>
            <a:ext cx="268528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 spc="250">
                <a:solidFill>
                  <a:srgbClr val="1E2761"/>
                </a:solidFill>
                <a:latin typeface="Segoe UI Semibold"/>
              </a:rPr>
              <a:t>НАУКЕ</a:t>
            </a:r>
          </a:p>
        </p:txBody>
      </p:sp>
      <p:sp>
        <p:nvSpPr>
          <p:cNvPr id="32" name="Oval 31"/>
          <p:cNvSpPr/>
          <p:nvPr/>
        </p:nvSpPr>
        <p:spPr>
          <a:xfrm>
            <a:off x="8497824" y="2871216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753856" y="2743200"/>
            <a:ext cx="242925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50" b="0" i="0" dirty="0" err="1">
                <a:solidFill>
                  <a:srgbClr val="1B2140"/>
                </a:solidFill>
                <a:latin typeface="Segoe UI"/>
              </a:rPr>
              <a:t>Оплаченные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заказы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от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заводов</a:t>
            </a:r>
            <a:endParaRPr sz="155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8497824" y="3730752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753856" y="3602736"/>
            <a:ext cx="242925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50" b="0" i="0" dirty="0" err="1">
                <a:solidFill>
                  <a:srgbClr val="1B2140"/>
                </a:solidFill>
                <a:latin typeface="Segoe UI"/>
              </a:rPr>
              <a:t>Перевод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на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язык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бизнеса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за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нами</a:t>
            </a:r>
            <a:endParaRPr sz="155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8497824" y="4590288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753856" y="4462272"/>
            <a:ext cx="24292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550" b="0" i="0" dirty="0" err="1">
                <a:solidFill>
                  <a:srgbClr val="1B2140"/>
                </a:solidFill>
                <a:latin typeface="Segoe UI"/>
              </a:rPr>
              <a:t>Участие</a:t>
            </a:r>
            <a:r>
              <a:rPr sz="155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50" b="0" i="0" dirty="0" err="1">
                <a:solidFill>
                  <a:srgbClr val="1B2140"/>
                </a:solidFill>
                <a:latin typeface="Segoe UI"/>
              </a:rPr>
              <a:t>бесплатно</a:t>
            </a:r>
            <a:endParaRPr sz="155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40080" y="651052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 Semibold"/>
              </a:rPr>
              <a:t>Ситалл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510528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 i="0" spc="300">
                <a:solidFill>
                  <a:srgbClr val="C9A24B"/>
                </a:solidFill>
                <a:latin typeface="Segoe UI Semibold"/>
              </a:rPr>
              <a:t>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0879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1E2761"/>
                </a:solidFill>
                <a:latin typeface="Segoe UI Semibold"/>
              </a:rPr>
              <a:t>Четыре прямых ответа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5029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62372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08659" y="1805939"/>
            <a:ext cx="5125212" cy="2075688"/>
          </a:xfrm>
          <a:prstGeom prst="roundRect">
            <a:avLst>
              <a:gd name="adj" fmla="val 4405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05840" y="2084831"/>
            <a:ext cx="438912" cy="438912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068487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600" b="0" i="0" dirty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2066543"/>
            <a:ext cx="392734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900" b="0" i="0">
                <a:solidFill>
                  <a:srgbClr val="1E2761"/>
                </a:solidFill>
                <a:latin typeface="Segoe UI Semibold"/>
              </a:rPr>
              <a:t>У нас есть НОЦ, ЦТТ и фонд.
Зачем вы?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18097"/>
            <a:ext cx="4530852" cy="8052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 dirty="0" err="1">
                <a:solidFill>
                  <a:srgbClr val="1B2140"/>
                </a:solidFill>
                <a:latin typeface="Segoe UI"/>
              </a:rPr>
              <a:t>Они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работают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от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разработки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.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Мы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от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задачи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завода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и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отвечаем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деньгами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за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внедрение</a:t>
            </a:r>
            <a:r>
              <a:rPr lang="ru-RU" sz="1500" b="0" i="0" dirty="0">
                <a:solidFill>
                  <a:srgbClr val="1B2140"/>
                </a:solidFill>
                <a:latin typeface="Segoe UI"/>
              </a:rPr>
              <a:t>, доведение до работающего результата.</a:t>
            </a:r>
            <a:endParaRPr sz="15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86500" y="1737360"/>
            <a:ext cx="5262372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 w="22225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652260" y="2084831"/>
            <a:ext cx="438912" cy="438912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52260" y="2068487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55764" y="2066543"/>
            <a:ext cx="3927348" cy="305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900" b="0" i="0" dirty="0">
                <a:solidFill>
                  <a:srgbClr val="1E2761"/>
                </a:solidFill>
                <a:latin typeface="Segoe UI Semibold"/>
              </a:rPr>
              <a:t>Что </a:t>
            </a:r>
            <a:r>
              <a:rPr sz="1900" b="0" i="0" dirty="0" err="1">
                <a:solidFill>
                  <a:srgbClr val="1E2761"/>
                </a:solidFill>
                <a:latin typeface="Segoe UI Semibold"/>
              </a:rPr>
              <a:t>просите</a:t>
            </a:r>
            <a:r>
              <a:rPr sz="19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1900" b="0" i="0" dirty="0" err="1">
                <a:solidFill>
                  <a:srgbClr val="1E2761"/>
                </a:solidFill>
                <a:latin typeface="Segoe UI Semibold"/>
              </a:rPr>
              <a:t>у</a:t>
            </a:r>
            <a:r>
              <a:rPr sz="19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lang="ru-RU" sz="1900" b="0" i="0" dirty="0">
                <a:solidFill>
                  <a:srgbClr val="1E2761"/>
                </a:solidFill>
                <a:latin typeface="Segoe UI Semibold"/>
              </a:rPr>
              <a:t>региона</a:t>
            </a:r>
            <a:r>
              <a:rPr sz="1900" b="0" i="0" dirty="0">
                <a:solidFill>
                  <a:srgbClr val="1E2761"/>
                </a:solidFill>
                <a:latin typeface="Segoe UI Semibold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2260" y="2918097"/>
            <a:ext cx="4530852" cy="8052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 dirty="0" err="1">
                <a:solidFill>
                  <a:srgbClr val="1B2140"/>
                </a:solidFill>
                <a:latin typeface="Segoe UI"/>
              </a:rPr>
              <a:t>Статус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партнёра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и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представление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предприятиям</a:t>
            </a:r>
            <a:r>
              <a:rPr lang="ru-RU" sz="1500" dirty="0">
                <a:solidFill>
                  <a:srgbClr val="1B2140"/>
                </a:solidFill>
                <a:latin typeface="Segoe UI"/>
              </a:rPr>
              <a:t>. Бюджетные деньги нам не нужны, они уже выделены для предприятий.</a:t>
            </a:r>
            <a:endParaRPr sz="15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4224527"/>
            <a:ext cx="5262372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 w="22225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05840" y="4571999"/>
            <a:ext cx="438912" cy="438912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555655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9344" y="4553712"/>
            <a:ext cx="392734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900" b="0" i="0" dirty="0" err="1">
                <a:solidFill>
                  <a:srgbClr val="1E2761"/>
                </a:solidFill>
                <a:latin typeface="Segoe UI Semibold"/>
              </a:rPr>
              <a:t>Зачем</a:t>
            </a:r>
            <a:r>
              <a:rPr sz="19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1900" b="0" i="0" dirty="0" err="1">
                <a:solidFill>
                  <a:srgbClr val="1E2761"/>
                </a:solidFill>
                <a:latin typeface="Segoe UI Semibold"/>
              </a:rPr>
              <a:t>посредник</a:t>
            </a:r>
            <a:r>
              <a:rPr sz="1900" b="0" i="0" dirty="0">
                <a:solidFill>
                  <a:srgbClr val="1E2761"/>
                </a:solidFill>
                <a:latin typeface="Segoe UI Semibold"/>
              </a:rPr>
              <a:t>?
</a:t>
            </a:r>
            <a:r>
              <a:rPr sz="1900" b="0" i="0" dirty="0" err="1">
                <a:solidFill>
                  <a:srgbClr val="1E2761"/>
                </a:solidFill>
                <a:latin typeface="Segoe UI Semibold"/>
              </a:rPr>
              <a:t>Пойдём</a:t>
            </a:r>
            <a:r>
              <a:rPr sz="19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1900" b="0" i="0" dirty="0" err="1">
                <a:solidFill>
                  <a:srgbClr val="1E2761"/>
                </a:solidFill>
                <a:latin typeface="Segoe UI Semibold"/>
              </a:rPr>
              <a:t>напрямую</a:t>
            </a:r>
            <a:endParaRPr sz="19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05840" y="5405264"/>
            <a:ext cx="4530852" cy="8052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 dirty="0" err="1">
                <a:solidFill>
                  <a:srgbClr val="1B2140"/>
                </a:solidFill>
                <a:latin typeface="Segoe UI"/>
              </a:rPr>
              <a:t>Напрямую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это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один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институт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и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его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оценка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своей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же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разработки</a:t>
            </a:r>
            <a:r>
              <a:rPr lang="ru-RU" sz="1500" b="0" i="0" dirty="0">
                <a:solidFill>
                  <a:srgbClr val="1B2140"/>
                </a:solidFill>
                <a:latin typeface="Segoe UI"/>
              </a:rPr>
              <a:t>. Мы дадим квалифицированную выборку и ответственно доведем до запуска</a:t>
            </a:r>
            <a:endParaRPr sz="15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86500" y="4224527"/>
            <a:ext cx="5262372" cy="2212848"/>
          </a:xfrm>
          <a:prstGeom prst="roundRect">
            <a:avLst>
              <a:gd name="adj" fmla="val 5785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55080" y="4293107"/>
            <a:ext cx="5125212" cy="2075688"/>
          </a:xfrm>
          <a:prstGeom prst="roundRect">
            <a:avLst>
              <a:gd name="adj" fmla="val 4405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652260" y="4571999"/>
            <a:ext cx="438912" cy="438912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52260" y="4555655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5764" y="4553712"/>
            <a:ext cx="392734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900" b="0" i="0">
                <a:solidFill>
                  <a:srgbClr val="1E2761"/>
                </a:solidFill>
                <a:latin typeface="Segoe UI Semibold"/>
              </a:rPr>
              <a:t>А если субсидию не дадут?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2260" y="5405264"/>
            <a:ext cx="4530852" cy="8052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 dirty="0" err="1">
                <a:solidFill>
                  <a:srgbClr val="1B2140"/>
                </a:solidFill>
                <a:latin typeface="Segoe UI"/>
              </a:rPr>
              <a:t>Экономику</a:t>
            </a:r>
            <a:r>
              <a:rPr lang="ru-RU" sz="1500" b="0" i="0" dirty="0">
                <a:solidFill>
                  <a:srgbClr val="1B2140"/>
                </a:solidFill>
                <a:latin typeface="Segoe UI"/>
              </a:rPr>
              <a:t> сделок базово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считаем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без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неё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.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Двойной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вычет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идёт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без</a:t>
            </a:r>
            <a:r>
              <a:rPr sz="15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1B2140"/>
                </a:solidFill>
                <a:latin typeface="Segoe UI"/>
              </a:rPr>
              <a:t>конкурса</a:t>
            </a:r>
            <a:r>
              <a:rPr lang="ru-RU" sz="1500" b="0" i="0" dirty="0">
                <a:solidFill>
                  <a:srgbClr val="1B2140"/>
                </a:solidFill>
                <a:latin typeface="Segoe UI"/>
              </a:rPr>
              <a:t>, остальное – бонус.</a:t>
            </a:r>
            <a:endParaRPr sz="15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 Semibold"/>
              </a:rPr>
              <a:t>Ситалл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8712" y="6510528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 i="0" spc="300">
                <a:solidFill>
                  <a:srgbClr val="C9A24B"/>
                </a:solidFill>
                <a:latin typeface="Segoe UI Semibold"/>
              </a:rPr>
              <a:t>КОМАНДА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0879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1E2761"/>
                </a:solidFill>
                <a:latin typeface="Segoe UI Semibold"/>
              </a:rPr>
              <a:t>Доводим проекты до внедрения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5029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16807" cy="4114800"/>
          </a:xfrm>
          <a:prstGeom prst="roundRect">
            <a:avLst>
              <a:gd name="adj" fmla="val 3746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08659" y="1805939"/>
            <a:ext cx="3279648" cy="3977639"/>
          </a:xfrm>
          <a:prstGeom prst="roundRect">
            <a:avLst>
              <a:gd name="adj" fmla="val 2788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05840" y="2048256"/>
            <a:ext cx="402336" cy="4114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268528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2300" b="0" i="0">
                <a:solidFill>
                  <a:srgbClr val="1E2761"/>
                </a:solidFill>
                <a:latin typeface="Segoe UI Semibold"/>
              </a:rPr>
              <a:t>Кирилл Уклонский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2685288" cy="1955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lang="ru-RU" sz="1200" b="0" i="0" spc="200" dirty="0">
                <a:solidFill>
                  <a:srgbClr val="C9A24B"/>
                </a:solidFill>
                <a:latin typeface="Segoe UI Semibold"/>
              </a:rPr>
              <a:t>СО-</a:t>
            </a:r>
            <a:r>
              <a:rPr sz="1200" b="0" i="0" spc="200" dirty="0">
                <a:solidFill>
                  <a:srgbClr val="C9A24B"/>
                </a:solidFill>
                <a:latin typeface="Segoe UI Semibold"/>
              </a:rPr>
              <a:t>ОСНОВАТЕЛЬ</a:t>
            </a:r>
          </a:p>
        </p:txBody>
      </p:sp>
      <p:sp>
        <p:nvSpPr>
          <p:cNvPr id="10" name="Oval 9"/>
          <p:cNvSpPr/>
          <p:nvPr/>
        </p:nvSpPr>
        <p:spPr>
          <a:xfrm>
            <a:off x="1005840" y="3374136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61872" y="3255264"/>
            <a:ext cx="242925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 i="0">
                <a:solidFill>
                  <a:srgbClr val="1B2140"/>
                </a:solidFill>
                <a:latin typeface="Segoe UI"/>
              </a:rPr>
              <a:t>«ФинАналитик», Роспатент № 2024618827: учёт 10 млрд ₽ в год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4178808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61872" y="4059936"/>
            <a:ext cx="242925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 i="0">
                <a:solidFill>
                  <a:srgbClr val="1B2140"/>
                </a:solidFill>
                <a:latin typeface="Segoe UI"/>
              </a:rPr>
              <a:t>Платформа «Больше, чем путешествие»: 80 000 пользователей</a:t>
            </a:r>
          </a:p>
        </p:txBody>
      </p:sp>
      <p:sp>
        <p:nvSpPr>
          <p:cNvPr id="14" name="Oval 13"/>
          <p:cNvSpPr/>
          <p:nvPr/>
        </p:nvSpPr>
        <p:spPr>
          <a:xfrm>
            <a:off x="1005840" y="4983480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61872" y="4864608"/>
            <a:ext cx="242925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0" i="0">
                <a:solidFill>
                  <a:srgbClr val="1B2140"/>
                </a:solidFill>
                <a:latin typeface="Segoe UI"/>
              </a:rPr>
              <a:t>РАНХиГС, госуправление. Преподаватель РЭУ им. Плеханова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6072" y="1737360"/>
            <a:ext cx="3416807" cy="4114800"/>
          </a:xfrm>
          <a:prstGeom prst="roundRect">
            <a:avLst>
              <a:gd name="adj" fmla="val 3746"/>
            </a:avLst>
          </a:prstGeom>
          <a:solidFill>
            <a:srgbClr val="FFFFFF"/>
          </a:solidFill>
          <a:ln w="22225">
            <a:solidFill>
              <a:srgbClr val="C9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751832" y="2048256"/>
            <a:ext cx="402336" cy="4114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832" y="2286000"/>
            <a:ext cx="268528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2300" b="0" i="0" dirty="0">
                <a:solidFill>
                  <a:srgbClr val="1E2761"/>
                </a:solidFill>
                <a:latin typeface="Segoe UI Semibold"/>
              </a:rPr>
              <a:t>Данила Кашев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1832" y="2743200"/>
            <a:ext cx="2685288" cy="1955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lang="ru-RU" sz="1200" b="0" i="0" spc="200" dirty="0">
                <a:solidFill>
                  <a:srgbClr val="C9A24B"/>
                </a:solidFill>
                <a:latin typeface="Segoe UI Semibold"/>
              </a:rPr>
              <a:t>СО-ОСНОВАТЕЛЬ</a:t>
            </a:r>
            <a:endParaRPr sz="1200" b="0" i="0" spc="200" dirty="0">
              <a:solidFill>
                <a:srgbClr val="C9A24B"/>
              </a:solidFill>
              <a:latin typeface="Segoe UI Semibold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751832" y="3374136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07864" y="3255264"/>
            <a:ext cx="2429255" cy="7398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en-US" sz="1400" dirty="0">
                <a:solidFill>
                  <a:srgbClr val="1B2140"/>
                </a:solidFill>
                <a:latin typeface="Segoe UI"/>
              </a:rPr>
              <a:t>X5</a:t>
            </a:r>
            <a:r>
              <a:rPr lang="ru-RU" sz="1400" dirty="0">
                <a:solidFill>
                  <a:srgbClr val="1B2140"/>
                </a:solidFill>
                <a:latin typeface="Segoe UI"/>
              </a:rPr>
              <a:t> </a:t>
            </a:r>
            <a:r>
              <a:rPr lang="en-US" sz="1400" dirty="0">
                <a:solidFill>
                  <a:srgbClr val="1B2140"/>
                </a:solidFill>
                <a:latin typeface="Segoe UI"/>
              </a:rPr>
              <a:t>RETAIL – </a:t>
            </a:r>
            <a:r>
              <a:rPr lang="ru-RU" sz="1400" dirty="0">
                <a:solidFill>
                  <a:srgbClr val="1B2140"/>
                </a:solidFill>
                <a:latin typeface="Segoe UI"/>
              </a:rPr>
              <a:t>команда внедрения новых технологий в розничную сеть </a:t>
            </a:r>
            <a:endParaRPr sz="14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51832" y="4178808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07864" y="4059936"/>
            <a:ext cx="2429255" cy="7398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ru-RU" sz="1400" dirty="0">
                <a:solidFill>
                  <a:srgbClr val="1B2140"/>
                </a:solidFill>
                <a:latin typeface="Segoe UI"/>
              </a:rPr>
              <a:t>ФГУП «</a:t>
            </a:r>
            <a:r>
              <a:rPr lang="ru-RU" sz="1400" dirty="0" err="1">
                <a:solidFill>
                  <a:srgbClr val="1B2140"/>
                </a:solidFill>
                <a:latin typeface="Segoe UI"/>
              </a:rPr>
              <a:t>ЗащитаИнфоТранс</a:t>
            </a:r>
            <a:r>
              <a:rPr lang="ru-RU" sz="1400" dirty="0">
                <a:solidFill>
                  <a:srgbClr val="1B2140"/>
                </a:solidFill>
                <a:latin typeface="Segoe UI"/>
              </a:rPr>
              <a:t>»: импортозамещение ИС АСП, реестр отечественного ПО</a:t>
            </a:r>
          </a:p>
        </p:txBody>
      </p:sp>
      <p:sp>
        <p:nvSpPr>
          <p:cNvPr id="24" name="Oval 23"/>
          <p:cNvSpPr/>
          <p:nvPr/>
        </p:nvSpPr>
        <p:spPr>
          <a:xfrm>
            <a:off x="4751832" y="4983480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07864" y="4864608"/>
            <a:ext cx="2429255" cy="7398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ru-RU" sz="1400" dirty="0">
                <a:solidFill>
                  <a:srgbClr val="1B2140"/>
                </a:solidFill>
                <a:latin typeface="Segoe UI"/>
              </a:rPr>
              <a:t>Собственная студия разработки: команда 4 → 15 человек, 50</a:t>
            </a:r>
            <a:r>
              <a:rPr lang="en-US" sz="1400" dirty="0">
                <a:solidFill>
                  <a:srgbClr val="1B2140"/>
                </a:solidFill>
                <a:latin typeface="Segoe UI"/>
              </a:rPr>
              <a:t>+</a:t>
            </a:r>
            <a:r>
              <a:rPr lang="ru-RU" sz="1400" dirty="0">
                <a:solidFill>
                  <a:srgbClr val="1B2140"/>
                </a:solidFill>
                <a:latin typeface="Segoe UI"/>
              </a:rPr>
              <a:t> проектов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 Semibold"/>
              </a:rPr>
              <a:t>Ситалл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68712" y="6510528"/>
            <a:ext cx="1280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6000"/>
              </a:lnSpc>
              <a:spcAft>
                <a:spcPts val="0"/>
              </a:spcAft>
            </a:pPr>
            <a:r>
              <a:rPr sz="900" b="0" i="0">
                <a:solidFill>
                  <a:srgbClr val="6B7699"/>
                </a:solidFill>
                <a:latin typeface="Segoe UI"/>
              </a:rPr>
              <a:t>10 / 11</a:t>
            </a:r>
          </a:p>
        </p:txBody>
      </p:sp>
      <p:sp>
        <p:nvSpPr>
          <p:cNvPr id="38" name="Rounded Rectangle 4">
            <a:extLst>
              <a:ext uri="{FF2B5EF4-FFF2-40B4-BE49-F238E27FC236}">
                <a16:creationId xmlns:a16="http://schemas.microsoft.com/office/drawing/2014/main" id="{40F1853A-45E9-5CB5-2042-609723A072AD}"/>
              </a:ext>
            </a:extLst>
          </p:cNvPr>
          <p:cNvSpPr/>
          <p:nvPr/>
        </p:nvSpPr>
        <p:spPr>
          <a:xfrm>
            <a:off x="8168639" y="1738284"/>
            <a:ext cx="3416807" cy="4114800"/>
          </a:xfrm>
          <a:prstGeom prst="roundRect">
            <a:avLst>
              <a:gd name="adj" fmla="val 3746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9" name="Rounded Rectangle 5">
            <a:extLst>
              <a:ext uri="{FF2B5EF4-FFF2-40B4-BE49-F238E27FC236}">
                <a16:creationId xmlns:a16="http://schemas.microsoft.com/office/drawing/2014/main" id="{A853D851-5CB3-1FE4-F891-0C3198578E3C}"/>
              </a:ext>
            </a:extLst>
          </p:cNvPr>
          <p:cNvSpPr/>
          <p:nvPr/>
        </p:nvSpPr>
        <p:spPr>
          <a:xfrm>
            <a:off x="8238847" y="1805939"/>
            <a:ext cx="3279648" cy="3977639"/>
          </a:xfrm>
          <a:prstGeom prst="roundRect">
            <a:avLst>
              <a:gd name="adj" fmla="val 2788"/>
            </a:avLst>
          </a:prstGeom>
          <a:noFill/>
          <a:ln w="6350">
            <a:solidFill>
              <a:srgbClr val="E3E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6">
            <a:extLst>
              <a:ext uri="{FF2B5EF4-FFF2-40B4-BE49-F238E27FC236}">
                <a16:creationId xmlns:a16="http://schemas.microsoft.com/office/drawing/2014/main" id="{AFC45264-CD99-33D3-9054-3943E91E3189}"/>
              </a:ext>
            </a:extLst>
          </p:cNvPr>
          <p:cNvSpPr/>
          <p:nvPr/>
        </p:nvSpPr>
        <p:spPr>
          <a:xfrm>
            <a:off x="8536028" y="2048256"/>
            <a:ext cx="402336" cy="4114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8CE23EA-9960-7F50-ABF3-BF2CD7FE6980}"/>
              </a:ext>
            </a:extLst>
          </p:cNvPr>
          <p:cNvSpPr txBox="1"/>
          <p:nvPr/>
        </p:nvSpPr>
        <p:spPr>
          <a:xfrm>
            <a:off x="8536027" y="2123053"/>
            <a:ext cx="3051047" cy="785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lang="ru-RU" sz="2300" b="0" i="0" dirty="0">
                <a:solidFill>
                  <a:srgbClr val="1E2761"/>
                </a:solidFill>
                <a:latin typeface="Segoe UI Semibold"/>
              </a:rPr>
              <a:t>Дмитрий </a:t>
            </a:r>
            <a:r>
              <a:rPr lang="ru-RU" sz="2300" b="0" i="0" dirty="0" err="1">
                <a:solidFill>
                  <a:srgbClr val="1E2761"/>
                </a:solidFill>
                <a:latin typeface="Segoe UI Semibold"/>
              </a:rPr>
              <a:t>Пересторонин</a:t>
            </a:r>
            <a:endParaRPr sz="23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DBDE8C4-AC74-722C-0419-AA5B0D282960}"/>
              </a:ext>
            </a:extLst>
          </p:cNvPr>
          <p:cNvSpPr txBox="1"/>
          <p:nvPr/>
        </p:nvSpPr>
        <p:spPr>
          <a:xfrm>
            <a:off x="8536027" y="2968314"/>
            <a:ext cx="2685288" cy="1955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lang="ru-RU" sz="1200" spc="200" dirty="0">
                <a:solidFill>
                  <a:srgbClr val="C9A24B"/>
                </a:solidFill>
                <a:latin typeface="Segoe UI Semibold"/>
              </a:rPr>
              <a:t>Региональный партнер</a:t>
            </a:r>
            <a:endParaRPr sz="1200" b="0" i="0" spc="200" dirty="0">
              <a:solidFill>
                <a:srgbClr val="C9A24B"/>
              </a:solidFill>
              <a:latin typeface="Segoe UI Semibold"/>
            </a:endParaRPr>
          </a:p>
        </p:txBody>
      </p:sp>
      <p:sp>
        <p:nvSpPr>
          <p:cNvPr id="43" name="Oval 9">
            <a:extLst>
              <a:ext uri="{FF2B5EF4-FFF2-40B4-BE49-F238E27FC236}">
                <a16:creationId xmlns:a16="http://schemas.microsoft.com/office/drawing/2014/main" id="{A22D4B98-92EB-BE5E-4996-7FE9D32978B9}"/>
              </a:ext>
            </a:extLst>
          </p:cNvPr>
          <p:cNvSpPr/>
          <p:nvPr/>
        </p:nvSpPr>
        <p:spPr>
          <a:xfrm>
            <a:off x="8536028" y="3374136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13">
            <a:extLst>
              <a:ext uri="{FF2B5EF4-FFF2-40B4-BE49-F238E27FC236}">
                <a16:creationId xmlns:a16="http://schemas.microsoft.com/office/drawing/2014/main" id="{6622D2A2-6752-4402-3CFF-BFF857084E69}"/>
              </a:ext>
            </a:extLst>
          </p:cNvPr>
          <p:cNvSpPr/>
          <p:nvPr/>
        </p:nvSpPr>
        <p:spPr>
          <a:xfrm flipV="1">
            <a:off x="8536825" y="4581192"/>
            <a:ext cx="82296" cy="82296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CD5985-73DB-B242-3BFD-C9A9B7858B1B}"/>
              </a:ext>
            </a:extLst>
          </p:cNvPr>
          <p:cNvSpPr txBox="1"/>
          <p:nvPr/>
        </p:nvSpPr>
        <p:spPr>
          <a:xfrm>
            <a:off x="8794878" y="3267049"/>
            <a:ext cx="2753867" cy="994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ru-RU" sz="1400" dirty="0">
                <a:solidFill>
                  <a:srgbClr val="1B2140"/>
                </a:solidFill>
                <a:latin typeface="Segoe UI"/>
              </a:rPr>
              <a:t>Привлечение спонсирования для спортивных мероприятий федерального и международного уровня</a:t>
            </a:r>
            <a:endParaRPr sz="14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B79B5F-936F-BD63-BDAA-C5CCA96BA1C9}"/>
              </a:ext>
            </a:extLst>
          </p:cNvPr>
          <p:cNvSpPr txBox="1"/>
          <p:nvPr/>
        </p:nvSpPr>
        <p:spPr>
          <a:xfrm>
            <a:off x="8805499" y="4486452"/>
            <a:ext cx="2753867" cy="994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ru-RU" sz="1400" dirty="0">
                <a:solidFill>
                  <a:srgbClr val="1B2140"/>
                </a:solidFill>
                <a:latin typeface="Segoe UI"/>
              </a:rPr>
              <a:t>Инициатор проектов по созданию и развитию новых индустриальных парков в Свердловской области</a:t>
            </a:r>
            <a:endParaRPr sz="1400" b="0" i="0" dirty="0">
              <a:solidFill>
                <a:srgbClr val="1B2140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4747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 i="0" spc="300">
                <a:solidFill>
                  <a:srgbClr val="C9A24B"/>
                </a:solidFill>
                <a:latin typeface="Segoe UI Semibold"/>
              </a:rPr>
              <a:t>ПРЕДЛОЖЕНИЕ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0879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1E2761"/>
                </a:solidFill>
                <a:latin typeface="Segoe UI Semibold"/>
              </a:rPr>
              <a:t>Соглашение с Правительством Свердловской области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50292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6725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00" b="0" i="0" spc="250">
                <a:solidFill>
                  <a:srgbClr val="C9A24B"/>
                </a:solidFill>
                <a:latin typeface="Segoe UI Semibold"/>
              </a:rPr>
              <a:t>ЧТО ДЕЛАЕМ ЗА ПЕРВЫЙ ГОД, ЗА СВОЙ СЧЁТ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57984"/>
            <a:ext cx="5672571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9264" y="2340864"/>
            <a:ext cx="4300971" cy="260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lang="ru-RU" sz="1600" dirty="0">
                <a:solidFill>
                  <a:srgbClr val="1B2140"/>
                </a:solidFill>
                <a:latin typeface="Segoe UI"/>
              </a:rPr>
              <a:t>Обработанные з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адачи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предприятий</a:t>
            </a:r>
            <a:endParaRPr sz="16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215371" y="2231136"/>
            <a:ext cx="78638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6000"/>
              </a:lnSpc>
              <a:spcAft>
                <a:spcPts val="0"/>
              </a:spcAft>
            </a:pPr>
            <a:r>
              <a:rPr sz="3000" b="0" i="0">
                <a:solidFill>
                  <a:srgbClr val="C9A24B"/>
                </a:solidFill>
                <a:latin typeface="Segoe UI Semibold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89504"/>
            <a:ext cx="5672571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9264" y="3072384"/>
            <a:ext cx="43009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600" b="0" i="0" dirty="0" err="1">
                <a:solidFill>
                  <a:srgbClr val="1B2140"/>
                </a:solidFill>
                <a:latin typeface="Segoe UI"/>
              </a:rPr>
              <a:t>Подборов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с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проверкой</a:t>
            </a:r>
            <a:endParaRPr sz="16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215371" y="2962656"/>
            <a:ext cx="78638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6000"/>
              </a:lnSpc>
              <a:spcAft>
                <a:spcPts val="0"/>
              </a:spcAft>
            </a:pPr>
            <a:r>
              <a:rPr sz="3000" b="0" i="0" dirty="0">
                <a:solidFill>
                  <a:srgbClr val="C9A24B"/>
                </a:solidFill>
                <a:latin typeface="Segoe UI Semibold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21024"/>
            <a:ext cx="5672571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3803904"/>
            <a:ext cx="43009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600" b="0" i="0">
                <a:solidFill>
                  <a:srgbClr val="1B2140"/>
                </a:solidFill>
                <a:latin typeface="Segoe UI"/>
              </a:rPr>
              <a:t>Заявок на софинансирование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5371" y="3694176"/>
            <a:ext cx="78638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6000"/>
              </a:lnSpc>
              <a:spcAft>
                <a:spcPts val="0"/>
              </a:spcAft>
            </a:pPr>
            <a:r>
              <a:rPr sz="3000" b="0" i="0">
                <a:solidFill>
                  <a:srgbClr val="C9A24B"/>
                </a:solidFill>
                <a:latin typeface="Segoe UI Semibold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52544"/>
            <a:ext cx="5672571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9264" y="4535424"/>
            <a:ext cx="43009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600" b="0" i="0" dirty="0" err="1">
                <a:solidFill>
                  <a:srgbClr val="1B2140"/>
                </a:solidFill>
                <a:latin typeface="Segoe UI"/>
              </a:rPr>
              <a:t>Внедрённый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проект</a:t>
            </a:r>
            <a:endParaRPr sz="16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215371" y="4425696"/>
            <a:ext cx="78638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6000"/>
              </a:lnSpc>
              <a:spcAft>
                <a:spcPts val="0"/>
              </a:spcAft>
            </a:pPr>
            <a:r>
              <a:rPr sz="3000" b="0" i="0">
                <a:solidFill>
                  <a:srgbClr val="C9A24B"/>
                </a:solidFill>
                <a:latin typeface="Segoe UI Semibold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84064"/>
            <a:ext cx="5672571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C9D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9264" y="5266944"/>
            <a:ext cx="43009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600" b="0" i="0" dirty="0" err="1">
                <a:solidFill>
                  <a:srgbClr val="1B2140"/>
                </a:solidFill>
                <a:latin typeface="Segoe UI"/>
              </a:rPr>
              <a:t>Открытый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отчёт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по</a:t>
            </a:r>
            <a:r>
              <a:rPr sz="1600" b="0" i="0" dirty="0">
                <a:solidFill>
                  <a:srgbClr val="1B2140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1B2140"/>
                </a:solidFill>
                <a:latin typeface="Segoe UI"/>
              </a:rPr>
              <a:t>региону</a:t>
            </a:r>
            <a:endParaRPr sz="1600" b="0" i="0" dirty="0">
              <a:solidFill>
                <a:srgbClr val="1B2140"/>
              </a:solidFill>
              <a:latin typeface="Segoe U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215371" y="5157216"/>
            <a:ext cx="78638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6000"/>
              </a:lnSpc>
              <a:spcAft>
                <a:spcPts val="0"/>
              </a:spcAft>
            </a:pPr>
            <a:r>
              <a:rPr sz="3000" b="0" i="0">
                <a:solidFill>
                  <a:srgbClr val="C9A24B"/>
                </a:solidFill>
                <a:latin typeface="Segoe UI Semibold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599"/>
            <a:ext cx="567257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700" b="0" i="0" dirty="0">
                <a:solidFill>
                  <a:srgbClr val="1E2761"/>
                </a:solidFill>
                <a:latin typeface="Segoe UI Semibold"/>
              </a:rPr>
              <a:t>Расходов </a:t>
            </a:r>
            <a:r>
              <a:rPr sz="1700" b="0" i="0" dirty="0" err="1">
                <a:solidFill>
                  <a:srgbClr val="1E2761"/>
                </a:solidFill>
                <a:latin typeface="Segoe UI Semibold"/>
              </a:rPr>
              <a:t>областного</a:t>
            </a:r>
            <a:r>
              <a:rPr sz="17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1700" b="0" i="0" dirty="0" err="1">
                <a:solidFill>
                  <a:srgbClr val="1E2761"/>
                </a:solidFill>
                <a:latin typeface="Segoe UI Semibold"/>
              </a:rPr>
              <a:t>бюджета</a:t>
            </a:r>
            <a:r>
              <a:rPr sz="17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1700" b="0" i="0" dirty="0" err="1">
                <a:solidFill>
                  <a:srgbClr val="1E2761"/>
                </a:solidFill>
                <a:latin typeface="Segoe UI Semibold"/>
              </a:rPr>
              <a:t>нет</a:t>
            </a:r>
            <a:endParaRPr sz="17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696699" y="1737360"/>
            <a:ext cx="48521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100" b="0" i="0" spc="250">
                <a:solidFill>
                  <a:srgbClr val="C9A24B"/>
                </a:solidFill>
                <a:latin typeface="Segoe UI Semibold"/>
              </a:rPr>
              <a:t>ЧТО ПРОСИМ</a:t>
            </a:r>
          </a:p>
        </p:txBody>
      </p:sp>
      <p:sp>
        <p:nvSpPr>
          <p:cNvPr id="23" name="Oval 22"/>
          <p:cNvSpPr/>
          <p:nvPr/>
        </p:nvSpPr>
        <p:spPr>
          <a:xfrm>
            <a:off x="6696699" y="2157984"/>
            <a:ext cx="420624" cy="420624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96699" y="2153516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600" b="0" i="0" dirty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0203" y="2176272"/>
            <a:ext cx="42486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700" b="0" i="0" dirty="0" err="1">
                <a:solidFill>
                  <a:srgbClr val="1E2761"/>
                </a:solidFill>
                <a:latin typeface="Segoe UI Semibold"/>
              </a:rPr>
              <a:t>Соглашение</a:t>
            </a:r>
            <a:r>
              <a:rPr sz="1700" b="0" i="0" dirty="0">
                <a:solidFill>
                  <a:srgbClr val="1E2761"/>
                </a:solidFill>
                <a:latin typeface="Segoe UI Semibold"/>
              </a:rPr>
              <a:t> о </a:t>
            </a:r>
            <a:r>
              <a:rPr sz="1700" b="0" i="0" dirty="0" err="1">
                <a:solidFill>
                  <a:srgbClr val="1E2761"/>
                </a:solidFill>
                <a:latin typeface="Segoe UI Semibold"/>
              </a:rPr>
              <a:t>сотрудничестве</a:t>
            </a:r>
            <a:endParaRPr sz="17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6696699" y="2761487"/>
            <a:ext cx="420624" cy="420624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07332" y="2757020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600" b="0" i="0" dirty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0203" y="2779775"/>
            <a:ext cx="424866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700" b="0" i="0" dirty="0" err="1">
                <a:solidFill>
                  <a:srgbClr val="1E2761"/>
                </a:solidFill>
                <a:latin typeface="Segoe UI Semibold"/>
              </a:rPr>
              <a:t>Представление</a:t>
            </a:r>
            <a:r>
              <a:rPr sz="1700" b="0" i="0" dirty="0">
                <a:solidFill>
                  <a:srgbClr val="1E2761"/>
                </a:solidFill>
                <a:latin typeface="Segoe UI Semibold"/>
              </a:rPr>
              <a:t> 5–7 </a:t>
            </a:r>
            <a:r>
              <a:rPr sz="1700" b="0" i="0" dirty="0" err="1">
                <a:solidFill>
                  <a:srgbClr val="1E2761"/>
                </a:solidFill>
                <a:latin typeface="Segoe UI Semibold"/>
              </a:rPr>
              <a:t>предприятиям</a:t>
            </a:r>
            <a:r>
              <a:rPr sz="1700" b="0" i="0" dirty="0">
                <a:solidFill>
                  <a:srgbClr val="1E2761"/>
                </a:solidFill>
                <a:latin typeface="Segoe UI Semibold"/>
              </a:rPr>
              <a:t> и </a:t>
            </a:r>
            <a:r>
              <a:rPr sz="1700" b="0" i="0" dirty="0" err="1">
                <a:solidFill>
                  <a:srgbClr val="1E2761"/>
                </a:solidFill>
                <a:latin typeface="Segoe UI Semibold"/>
              </a:rPr>
              <a:t>институтам</a:t>
            </a:r>
            <a:endParaRPr sz="1700" b="0" i="0" dirty="0">
              <a:solidFill>
                <a:srgbClr val="1E2761"/>
              </a:solidFill>
              <a:latin typeface="Segoe UI Semibold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6696699" y="3639311"/>
            <a:ext cx="420624" cy="420624"/>
          </a:xfrm>
          <a:prstGeom prst="ellipse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07332" y="3634845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600" b="0" i="0" dirty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00203" y="3657599"/>
            <a:ext cx="424866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700" b="0" i="0" dirty="0" err="1">
                <a:solidFill>
                  <a:srgbClr val="1E2761"/>
                </a:solidFill>
                <a:latin typeface="Segoe UI Semibold"/>
              </a:rPr>
              <a:t>Участие</a:t>
            </a:r>
            <a:r>
              <a:rPr sz="1700" b="0" i="0" dirty="0">
                <a:solidFill>
                  <a:srgbClr val="1E2761"/>
                </a:solidFill>
                <a:latin typeface="Segoe UI Semibold"/>
              </a:rPr>
              <a:t> в </a:t>
            </a:r>
            <a:r>
              <a:rPr sz="1700" b="0" i="0" dirty="0" err="1">
                <a:solidFill>
                  <a:srgbClr val="1E2761"/>
                </a:solidFill>
                <a:latin typeface="Segoe UI Semibold"/>
              </a:rPr>
              <a:t>площадках</a:t>
            </a:r>
            <a:r>
              <a:rPr sz="17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1700" b="0" i="0" dirty="0" err="1">
                <a:solidFill>
                  <a:srgbClr val="1E2761"/>
                </a:solidFill>
                <a:latin typeface="Segoe UI Semibold"/>
              </a:rPr>
              <a:t>региона</a:t>
            </a:r>
            <a:r>
              <a:rPr sz="17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1700" b="0" i="0" dirty="0" err="1">
                <a:solidFill>
                  <a:srgbClr val="1E2761"/>
                </a:solidFill>
                <a:latin typeface="Segoe UI Semibold"/>
              </a:rPr>
              <a:t>как</a:t>
            </a:r>
            <a:r>
              <a:rPr sz="1700" b="0" i="0" dirty="0">
                <a:solidFill>
                  <a:srgbClr val="1E2761"/>
                </a:solidFill>
                <a:latin typeface="Segoe UI Semibold"/>
              </a:rPr>
              <a:t> </a:t>
            </a:r>
            <a:r>
              <a:rPr sz="1700" b="0" i="0" dirty="0" err="1">
                <a:solidFill>
                  <a:srgbClr val="1E2761"/>
                </a:solidFill>
                <a:latin typeface="Segoe UI Semibold"/>
              </a:rPr>
              <a:t>партнёра</a:t>
            </a:r>
            <a:endParaRPr sz="1700" b="0" i="0" dirty="0">
              <a:solidFill>
                <a:srgbClr val="1E2761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1085</TotalTime>
  <Words>784</Words>
  <Application>Microsoft Macintosh PowerPoint</Application>
  <PresentationFormat>Произвольный</PresentationFormat>
  <Paragraphs>176</Paragraphs>
  <Slides>11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Aptos</vt:lpstr>
      <vt:lpstr>Arial</vt:lpstr>
      <vt:lpstr>Calibri</vt:lpstr>
      <vt:lpstr>Segoe UI</vt:lpstr>
      <vt:lpstr>Segoe UI Semibold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Уклонский Кирилл Андреевич</dc:creator>
  <cp:keywords/>
  <dc:description>generated using python-pptx</dc:description>
  <cp:lastModifiedBy>Danila Kashev</cp:lastModifiedBy>
  <cp:revision>7</cp:revision>
  <dcterms:created xsi:type="dcterms:W3CDTF">2013-01-27T09:14:16Z</dcterms:created>
  <dcterms:modified xsi:type="dcterms:W3CDTF">2026-08-24T05:20:15Z</dcterms:modified>
  <cp:category/>
</cp:coreProperties>
</file>