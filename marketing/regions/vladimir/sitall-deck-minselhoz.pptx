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nterfax.ru/russia/1067412" TargetMode="External"/><Relationship Id="rId2" Type="http://schemas.openxmlformats.org/officeDocument/2006/relationships/hyperlink" Target="https://www.interfax.ru/russia/1067412" TargetMode="External"/><Relationship Id="rId3" Type="http://schemas.openxmlformats.org/officeDocument/2006/relationships/hyperlink" Target="https://issek.hse.ru/news/849710120.html" TargetMode="External"/><Relationship Id="rId4" Type="http://schemas.openxmlformats.org/officeDocument/2006/relationships/hyperlink" Target="https://www.rbc.ru/economics/24/12/2024/676a7e719a79473dc5db384f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knowledge.wharton.upenn.edu/article/patents-avoid-failure/" TargetMode="External"/><Relationship Id="rId2" Type="http://schemas.openxmlformats.org/officeDocument/2006/relationships/hyperlink" Target="https://www.mckinsey.com/capabilities/operations/our-insights/capturing-the-true-value-of-industry-four-point-zero" TargetMode="External"/><Relationship Id="rId3" Type="http://schemas.openxmlformats.org/officeDocument/2006/relationships/hyperlink" Target="https://tass.ru/ekonomika/24246605" TargetMode="External"/><Relationship Id="rId4" Type="http://schemas.openxmlformats.org/officeDocument/2006/relationships/hyperlink" Target="https://rospatent.gov.ru/ru/news/na-pmef-2023-obsudili-tehnologicheskoe-predprinimatelstvo-15062023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vlad.aif.ru/society/proizvodstvo-moloka-vo-vladimirskoy-oblasti-vyroslo-na-53-za-10-let" TargetMode="External"/><Relationship Id="rId2" Type="http://schemas.openxmlformats.org/officeDocument/2006/relationships/hyperlink" Target="https://progorod33.ru/news/132440" TargetMode="External"/><Relationship Id="rId3" Type="http://schemas.openxmlformats.org/officeDocument/2006/relationships/hyperlink" Target="https://progorod33.ru/news/132440" TargetMode="External"/><Relationship Id="rId4" Type="http://schemas.openxmlformats.org/officeDocument/2006/relationships/hyperlink" Target="https://progorod33.ru/news/129237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help.vetrf.ru/wiki/&#1050;&#1086;&#1084;&#1087;&#1086;&#1085;&#1077;&#1085;&#1090;_&#1061;&#1086;&#1088;&#1088;&#1080;&#1086;&#1090;" TargetMode="External"/><Relationship Id="rId2" Type="http://schemas.openxmlformats.org/officeDocument/2006/relationships/hyperlink" Target="https://ficvim.ru/about/" TargetMode="External"/><Relationship Id="rId3" Type="http://schemas.openxmlformats.org/officeDocument/2006/relationships/hyperlink" Target="https://vnish.org/o-nas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5303520" cy="5303520"/>
          </a:xfrm>
          <a:prstGeom prst="ellipse">
            <a:avLst/>
          </a:prstGeom>
          <a:ln w="15875">
            <a:solidFill>
              <a:srgbClr val="C9D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822960"/>
            <a:ext cx="3291840" cy="3291840"/>
          </a:xfrm>
          <a:prstGeom prst="ellipse">
            <a:avLst/>
          </a:prstGeom>
          <a:ln w="19050">
            <a:solidFill>
              <a:srgbClr val="C9A2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3840480"/>
            <a:ext cx="4389120" cy="4389120"/>
          </a:xfrm>
          <a:prstGeom prst="ellipse">
            <a:avLst/>
          </a:prstGeom>
          <a:ln w="15875">
            <a:solidFill>
              <a:srgbClr val="C9D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СЕНТЯБРЬ 2026 · КОНФИДЕНЦИАЛЬНО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13716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" y="30632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Технологический брокер для промышленности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3931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Работаем от задачи предприятия до внедрённой технологии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4343400"/>
            <a:ext cx="7955280" cy="841248"/>
          </a:xfrm>
          <a:prstGeom prst="roundRect">
            <a:avLst>
              <a:gd name="adj" fmla="val 9783"/>
            </a:avLst>
          </a:prstGeom>
          <a:solidFill>
            <a:srgbClr val="E3EAF8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43400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Аликебедову Роману Камалутдиновичу</a:t>
            </a:r>
            <a:endParaRPr lang="en-US" sz="1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Министерство сельского хозяйства Владимирской области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9436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ЗАДАЧА ГОСУДАРСТВА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Деньги на технологии в АПК есть. Внедрять их некому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19,8 млрд ₽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нацпроект «Технологическое обеспечение продовольственной безопасности» на 2026 год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438144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Интерфакс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66,7%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542032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целевой уровень технологической независимости в продовольственной безопасности к 2030 году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3438144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Интерфакс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52544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425696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2% ВВП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5157216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цель по затратам на науку к 2030 году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6053328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52544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425696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2,6 млн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5157216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дефицит кадров в экономике. Ставка на производительность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6053328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РБК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РАЗРЫВ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 не доходит до производства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80%+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патентов не доходят до применения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Wharton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517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70%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пилотных проектов не выходят в масштаб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2777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67421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0029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460029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компаний в стране берут льготу на НИОКР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60029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Решетников, ПМЭФ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64008" cy="137160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" y="48006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89204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Чтобы наука и бизнес нашли друг друга,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нужен технологический брокер»</a:t>
            </a:r>
            <a:endParaRPr lang="en-US" sz="2000" dirty="0"/>
          </a:p>
        </p:txBody>
      </p:sp>
      <p:sp>
        <p:nvSpPr>
          <p:cNvPr id="23" name="Text 21">
            <a:hlinkClick r:id="rId4" tooltip=""/>
          </p:cNvPr>
          <p:cNvSpPr txBox="1"/>
          <p:nvPr/>
        </p:nvSpPr>
        <p:spPr>
          <a:xfrm>
            <a:off x="1371600" y="5861304"/>
            <a:ext cx="10088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Юрий Зубов, руководитель Роспатента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ЗАДАЧИ, КОТОРЫЕ УПИРАЮТСЯ В ТЕХНОЛОГИИ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Показатели министерства — это технологические задачи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9 722 кг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надой на корову в год: на 14% выше среднего по стране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108960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АиФ Владимир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83,5 млн $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542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экспорт продукции АПК за полугодие, почти +30% к прошлому году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3108960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 Город 33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767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023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096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 млрд ₽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828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субсидий аграриям за полугодие; ещё 2 млрд ₽ кредитов под 7,5%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394960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 Город 33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1296" y="3767328"/>
            <a:ext cx="5437480" cy="197510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023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096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~7 тыс. га</a:t>
            </a:r>
            <a:endParaRPr lang="en-US" sz="38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4828032"/>
            <a:ext cx="48522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обработано от борщевика с 2019 года; на 2026-й — ещё 21 млн ₽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5394960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Про Город 33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925312"/>
            <a:ext cx="64008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58952" y="5897880"/>
            <a:ext cx="10820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 каждым показателем — задача, у которой уже есть научное решение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 РЯДОМ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Три федеральных научных центра АПК — в самой области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ВНИИЗЖ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Федеральный центр охраны здоровья животных, Владимир: 1 200 сотрудников. Разработчик «Хорриота»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ВетИС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517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ФИЦВиМ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Центр вирусологии и микробиологии, Вольгинский: особо опасные инфекции животных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2777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ficvim.ru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67421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0029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ФАНЦ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460029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Верхневолжский аграрный центр, Суздальский район: семена зерновых и картофеля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60029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vnish.org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029200"/>
            <a:ext cx="6400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8952" y="5001768"/>
            <a:ext cx="1082009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Науку в область везти не нужно. Нужен тот, кто переведёт её</a:t>
            </a:r>
            <a:endParaRPr lang="en-US" sz="2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 язык хозяйства и доведёт до фермы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КТО МЫ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Внешний офис трансфера технологий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 задачи, а не от разработки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Начинаем там, где предприятие теряет деньги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Отвечаем деньгами за внедрение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Часть вознаграждения — только при результате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Господдержку собираем сами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Документацию готовим мы, а не сотрудники предприятия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34256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Госцентрам приводим заказчика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НОЦ, ЦТТ и фонды для нас партнёры и исполнители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ЭТО РАБОТАЕТ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цикл: от задачи завода до внедрения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2331720" y="1444752"/>
            <a:ext cx="218838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331720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Задача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21276" y="1444752"/>
            <a:ext cx="218838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21276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Поиск и проверка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10832" y="1444752"/>
            <a:ext cx="218838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10832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Сделка и поддержка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00387" y="1444752"/>
            <a:ext cx="218838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00387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 Внедрение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231136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ПРЕДПРИЯТИЕ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31720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496312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Обозначает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потребность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21276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85868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Выбирает из списка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10832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275424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Подписывает договор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00387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64979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Получает работающую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технологию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566160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31720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496312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Переводим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 техзадание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21276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85868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Ищем и проверяем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решения и поставщиков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10832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275424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Структурируем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 ведём сделку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00387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664979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Сопровождаем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внедрение до запуска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901184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21276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885868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Даёт решения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0832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275424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Исполняет НИОКР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500387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664979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Дорабатывает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производство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ЧЕМ РАБОТАЕМ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 Скаут: платформа подбора решений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4114800" cy="4709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2104" y="1810512"/>
            <a:ext cx="45720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2011680"/>
            <a:ext cx="3456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5–7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3520440"/>
            <a:ext cx="3456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проверенных решений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задачу предприятия.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Срок: сутки вместо недель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83480" y="1481328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76088" y="1700784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76088" y="1810512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Проверяет человек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76088" y="2194560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 даёт варианты, подтверждает профильный специалист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3480" y="3108960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76088" y="3328416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76088" y="3438144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Открытые данные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3822192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Публикации, патенты, гранты, российский и мировой веб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83480" y="4736592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76088" y="4956048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76088" y="5065776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Готовы к ГИС НИОКР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5449824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Подключимся, когда система откроется для рынка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НАПРАВЛЕНИЯ ПОИСКА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мы можем найти под задачи АПК области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44752"/>
            <a:ext cx="354573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6824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57984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Корма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15184"/>
            <a:ext cx="29605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Рационы, консерванты, отечественный белок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22978" y="1444752"/>
            <a:ext cx="354573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5586" y="1682496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5586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5586" y="2157984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Генетика стада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5586" y="2615184"/>
            <a:ext cx="29605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Геномная оценка, эмбриотрансфер, племенное ядро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43037" y="1444752"/>
            <a:ext cx="354573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35645" y="16824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35645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35645" y="2157984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Здоровье животных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35645" y="2615184"/>
            <a:ext cx="29605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Диагностика, вакцины, биобезопасность фермы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3867912"/>
            <a:ext cx="354573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528" y="4105656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5528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4581144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Переработка молока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5038344"/>
            <a:ext cx="29605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Глубокая переработка, сроки хранения, качество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22978" y="3867912"/>
            <a:ext cx="354573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5586" y="41056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15586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15586" y="4581144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Семена и картофель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615586" y="5038344"/>
            <a:ext cx="29605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Отечественные сорта, элитное семеноводство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43037" y="3867912"/>
            <a:ext cx="354573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35645" y="4105656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35645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435645" y="4581144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Земля и борщевик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8435645" y="5038344"/>
            <a:ext cx="29605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Мониторинг с воздуха, биометоды, ввод в оборот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05332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Направления — примеры по открытым источникам. Точный список даёт диагностика задачи.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ЦЕННОСТЬ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получает каждая сторона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83664"/>
            <a:ext cx="2936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МИНИСТЕРСТВУ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304288"/>
            <a:ext cx="295442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Технологические решения под показатели: молоко, переработка, экспорт, земля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Частные деньги хозяйств идут в проверенные технологии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Расходов областного бюджета нет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Открытый отчёт по АПК региона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517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7778" y="1883664"/>
            <a:ext cx="2936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ХОЗЯЙСТВАМ И ПЕРЕРАБОТЧИКАМ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46066" y="2304288"/>
            <a:ext cx="295442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Решение без своего R&amp;D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100 млн ₽ проекта — только 15–30 млн ₽ своих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Один управляющий подрядчик на весь проект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Ответ за 3–4 недели, а не за два года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67421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60029" y="1883664"/>
            <a:ext cx="293613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НАУКЕ ОБЛАСТИ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78317" y="2304288"/>
            <a:ext cx="295442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Оплаченные заказы от хозяйств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Перевод на язык бизнеса — за нами</a:t>
            </a:r>
            <a:endParaRPr lang="en-US" sz="1600" dirty="0"/>
          </a:p>
          <a:p>
            <a:pPr marL="152400" indent="-1524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Участие бесплатно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КОМАНДА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Доводим проекты до внедрения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Уклонский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«ФинАналитик», Роспатент № 2024618827: учёт 10 млрд ₽ в год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Платформа «Больше, чем путешествие»: 80 000 пользователей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РАНХиГС, госуправление. Преподаватель РЭУ им. Плеханова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3517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Данила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Кашев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46066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X5 Retail: внедрение новых технологий в рознице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ФГУП «ЗащитаИнфоТранс»: реестр отечественного ПО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Студия разработки: 4 → 15 человек, 50+ проектов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67421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0029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Дмитрий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Пересторонин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60029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РЕГИОНАЛЬНЫЙ ПАРТНЁР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78317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Привлечение спонсирования для спортивных мероприятий федерального и международного уровня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Инициатор проектов по созданию и развитию индустриальных парков в Свердловской области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ПРЕДЛОЖЕНИЕ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Соглашение с Минсельхозом Владимирской области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264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ДЕЛАЕМ ЗА ПЕРВЫЙ ГОД, ЗА СВОЙ СЧЁТ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92224"/>
            <a:ext cx="61264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792224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Обработанные задачи хозяйств и переработчиков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792224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2596896"/>
            <a:ext cx="61264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596896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Подборов с проверкой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596896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02920" y="3401568"/>
            <a:ext cx="61264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4015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Заявок на софинансирование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340156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02920" y="4206240"/>
            <a:ext cx="61264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42062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Внедрённый проект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420624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02920" y="5010912"/>
            <a:ext cx="612648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77240" y="501091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Открытый отчёт по АПК региона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501091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58704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Расходов областного бюджета нет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1426464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ПРОСИМ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32320" y="18653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1737360"/>
            <a:ext cx="40078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Соглашение о сотрудничестве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132320" y="27797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3232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651760"/>
            <a:ext cx="40078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Представление 5–7 хозяйствам и переработчикам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7132320" y="3694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13232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3566160"/>
            <a:ext cx="40078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Участие в площадках региона как партнёра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0" y="60350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Ситалл — для Минсельхоза Владимирской области</dc:title>
  <dc:subject>PptxGenJS Presentation</dc:subject>
  <dc:creator>Ситалл</dc:creator>
  <cp:lastModifiedBy>Ситалл</cp:lastModifiedBy>
  <cp:revision>1</cp:revision>
  <dcterms:created xsi:type="dcterms:W3CDTF">2026-09-01T17:12:08Z</dcterms:created>
  <dcterms:modified xsi:type="dcterms:W3CDTF">2026-09-01T17:12:08Z</dcterms:modified>
</cp:coreProperties>
</file>