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vedomosti.ru/press_releases/2026/07/29/rn-yuganskneftegaz-vipustil-v-reki-ob-irtishskogo-basseina-rekordnoe-kolichestvo-malkov-tsennih-porod-rib" TargetMode="External"/><Relationship Id="rId2" Type="http://schemas.openxmlformats.org/officeDocument/2006/relationships/hyperlink" Target="https://fishnews.ru/news/46450" TargetMode="External"/><Relationship Id="rId3" Type="http://schemas.openxmlformats.org/officeDocument/2006/relationships/hyperlink" Target="https://tass.ru/ekonomika/25588677" TargetMode="External"/><Relationship Id="rId4" Type="http://schemas.openxmlformats.org/officeDocument/2006/relationships/hyperlink" Target="https://senatinform.ru/news/regiony_prosyat_rasshirit_programmu_vosstanovleniya_populyatsii_ryby_v_obi_i_irtyshe_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fish.gov.ru/news/2024/11/15/ilya-shestakov-rossijskie-predpriyatiya-narashhivayut-obemy-proizvodstva-rybnyh-kormov/" TargetMode="External"/><Relationship Id="rId2" Type="http://schemas.openxmlformats.org/officeDocument/2006/relationships/hyperlink" Target="https://scientificrussia.ru/articles/kakova-tsena-tsennyh-vidov-ryb" TargetMode="External"/><Relationship Id="rId3" Type="http://schemas.openxmlformats.org/officeDocument/2006/relationships/hyperlink" Target="https://scientificrussia.ru/articles/kakova-tsena-tsennyh-vidov-ryb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ln w="12700">
            <a:solidFill>
              <a:srgbClr val="C9D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1005840"/>
            <a:ext cx="3017520" cy="3017520"/>
          </a:xfrm>
          <a:prstGeom prst="ellipse">
            <a:avLst/>
          </a:prstGeom>
          <a:ln w="15875">
            <a:solidFill>
              <a:srgbClr val="C9A2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0" y="4023360"/>
            <a:ext cx="4023360" cy="4023360"/>
          </a:xfrm>
          <a:prstGeom prst="ellipse">
            <a:avLst/>
          </a:prstGeom>
          <a:ln w="12700">
            <a:solidFill>
              <a:srgbClr val="C9D3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84048" y="31089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АВГУСТ 2026 · КОНФИДЕНЦИАЛЬНО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347472" y="10058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Ситалл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384048" y="2395728"/>
            <a:ext cx="960120" cy="54864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" y="26517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1E2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Технологический брокер</a:t>
            </a:r>
            <a:endParaRPr lang="en-US" sz="2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1E2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для промышленности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384048" y="3703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 задачи предприятия до внедрённой технологии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84048" y="4224528"/>
            <a:ext cx="5852160" cy="512064"/>
          </a:xfrm>
          <a:prstGeom prst="roundRect">
            <a:avLst>
              <a:gd name="adj" fmla="val 12500"/>
            </a:avLst>
          </a:prstGeom>
          <a:solidFill>
            <a:srgbClr val="E3EAF8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" y="4224528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Для АО «Югорский рыбоводный завод»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84048" y="5212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Ситалл: стекло, которому наука дала прочность. 1958 год, лаборатория Китайгородского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384048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Кирилл Уклонский · uklonskiy.k@ya.ru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276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01168"/>
            <a:ext cx="114235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КОНТЕКСТ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57200"/>
            <a:ext cx="114235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Спрос на воспроизводство растёт быстрее технологий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960120" cy="4114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384048" y="1371600"/>
            <a:ext cx="557464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591056"/>
            <a:ext cx="274320" cy="34747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" y="1682496"/>
            <a:ext cx="509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60 млн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267712"/>
            <a:ext cx="5099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мальков выпустил один «РН-Юганскнефтегаз» с начала 2026 года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3273552"/>
            <a:ext cx="509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75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Ведомости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233008" y="1371600"/>
            <a:ext cx="557464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70752" y="1591056"/>
            <a:ext cx="274320" cy="34747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70752" y="1682496"/>
            <a:ext cx="509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×10–30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470752" y="2267712"/>
            <a:ext cx="5099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падение биомассы крупных сиговых Оби; вылов муксуна и нельмы запрещён с 2014 года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470752" y="3273552"/>
            <a:ext cx="509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75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Fishnews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84048" y="3822192"/>
            <a:ext cx="557464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4041648"/>
            <a:ext cx="274320" cy="34747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" y="4133088"/>
            <a:ext cx="509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110 млн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4718304"/>
            <a:ext cx="5099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шт. молоди в год — потребность, названная в Совете Федерации, при выпуске по Югре 24,7 млн шт. в 2025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21792" y="5724144"/>
            <a:ext cx="509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75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ТАСС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233008" y="3822192"/>
            <a:ext cx="557464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0752" y="4041648"/>
            <a:ext cx="274320" cy="34747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70752" y="4133088"/>
            <a:ext cx="509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Без денег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6470752" y="4718304"/>
            <a:ext cx="5099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программа восстановления сиговых по поручению Президента одобрена, финансирование не определено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470752" y="5724144"/>
            <a:ext cx="509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75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СенатИнформ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84048" y="65288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10911535" y="65288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10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01168"/>
            <a:ext cx="114235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ВЫЗОВЫ ОТРАСЛИ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57200"/>
            <a:ext cx="114235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Три технологических узких места аквакультуры Севера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960120" cy="4114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384048" y="1417320"/>
            <a:ext cx="3624986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636776"/>
            <a:ext cx="274320" cy="34747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" y="1728216"/>
            <a:ext cx="31494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до 90%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313432"/>
            <a:ext cx="3149498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Корма. Столько кормов для ценных видов давал импорт; ветеринарные барьеры и срывы поставок остаются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4416552"/>
            <a:ext cx="31494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75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Росрыболовство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283354" y="1417320"/>
            <a:ext cx="3624986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1098" y="1636776"/>
            <a:ext cx="274320" cy="34747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21098" y="1728216"/>
            <a:ext cx="31494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Дефицит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521098" y="2313432"/>
            <a:ext cx="3149498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Посадочный материал. Полноценных маточных стад муксуна не хватает; наука требует генетического менеджмента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521098" y="4416552"/>
            <a:ext cx="31494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75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«Научная Россия»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8182661" y="1417320"/>
            <a:ext cx="3624986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20405" y="1636776"/>
            <a:ext cx="274320" cy="34747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20405" y="1728216"/>
            <a:ext cx="31494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~10%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420405" y="2313432"/>
            <a:ext cx="3149498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Выживаемость личинки при выпуске. Зачёт растёт с навеской — нужны технологии подращивания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420405" y="4416552"/>
            <a:ext cx="31494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75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«Научная Россия»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84048" y="5212080"/>
            <a:ext cx="50292" cy="5303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85216" y="5193792"/>
            <a:ext cx="111492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За каждым узким местом — готовые научные решения, которые пока не дошли до производства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84048" y="65288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10911535" y="65288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10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01168"/>
            <a:ext cx="114235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КТО МЫ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57200"/>
            <a:ext cx="114235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Внешний офис трансфера технологий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960120" cy="4114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384048" y="1371600"/>
            <a:ext cx="557464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572768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" y="1572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938528"/>
            <a:ext cx="509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От задачи, а не от разработки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432304"/>
            <a:ext cx="50991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Начинаем там, где предприятие теряет деньги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33008" y="1371600"/>
            <a:ext cx="557464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70752" y="1572768"/>
            <a:ext cx="292608" cy="29260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70752" y="1572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70752" y="1938528"/>
            <a:ext cx="509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Отвечаем деньгами за внедрение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470752" y="2432304"/>
            <a:ext cx="50991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Часть вознаграждения — только при результате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" y="4005072"/>
            <a:ext cx="557464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420624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4572000"/>
            <a:ext cx="509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Господдержку собираем сами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21792" y="5065776"/>
            <a:ext cx="50991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Заявки готовим мы, а не сотрудники предприятия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33008" y="4005072"/>
            <a:ext cx="557464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0752" y="4206240"/>
            <a:ext cx="292608" cy="29260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7075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70752" y="4572000"/>
            <a:ext cx="509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Науке приводим заказ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470752" y="5065776"/>
            <a:ext cx="50991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Институты и инжиниринговые центры — партнёры и исполнители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84048" y="65288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10911535" y="65288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10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01168"/>
            <a:ext cx="114235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КАК ЭТО РАБОТАЕТ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57200"/>
            <a:ext cx="114235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Один цикл: от задачи до внедрения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960120" cy="4114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1892808" y="1298448"/>
            <a:ext cx="2350694" cy="32004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892808" y="1371600"/>
            <a:ext cx="23506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1. Задача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98950" y="1298448"/>
            <a:ext cx="2350694" cy="32004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398950" y="1371600"/>
            <a:ext cx="23506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2. Поиск и проверка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905092" y="1298448"/>
            <a:ext cx="2350694" cy="32004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05092" y="1371600"/>
            <a:ext cx="23506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3. Сделка и поддержка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411233" y="1298448"/>
            <a:ext cx="2350694" cy="32004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411233" y="1371600"/>
            <a:ext cx="23506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4. Внедрение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84048" y="178308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ПРЕДПРИЯТИЕ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92808" y="1783080"/>
            <a:ext cx="2350694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020824" y="1783080"/>
            <a:ext cx="209466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называет задачу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 её цену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98950" y="1783080"/>
            <a:ext cx="2350694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26966" y="1783080"/>
            <a:ext cx="209466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выбирает из списка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905092" y="1783080"/>
            <a:ext cx="2350694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33108" y="1783080"/>
            <a:ext cx="209466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подписывает договор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411233" y="1783080"/>
            <a:ext cx="2350694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539249" y="1783080"/>
            <a:ext cx="209466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получает технологию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384048" y="2816352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СИТАЛЛ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892808" y="2816352"/>
            <a:ext cx="2350694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020824" y="2816352"/>
            <a:ext cx="209466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переводит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 техзадание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98950" y="2816352"/>
            <a:ext cx="2350694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26966" y="2816352"/>
            <a:ext cx="209466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ищет и проверяет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 учёными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905092" y="2816352"/>
            <a:ext cx="2350694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033108" y="2816352"/>
            <a:ext cx="209466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собирает сделку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 поддержку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411233" y="2816352"/>
            <a:ext cx="2350694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539249" y="2816352"/>
            <a:ext cx="209466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ведёт до пуска,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отвечает за срок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384048" y="3849624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НАУКА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398950" y="3849624"/>
            <a:ext cx="2350694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26966" y="3849624"/>
            <a:ext cx="209466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даёт решения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905092" y="3849624"/>
            <a:ext cx="2350694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033108" y="3849624"/>
            <a:ext cx="209466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исполняет НИОКР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411233" y="3849624"/>
            <a:ext cx="2350694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539249" y="3849624"/>
            <a:ext cx="209466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дорабатывает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 производство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384048" y="5074920"/>
            <a:ext cx="114235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ГОСУДАРСТВЕННЫЕ ИНСТРУМЕНТЫ, КОТОРЫЕ МЫ ПОДКЛЮЧАЕМ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384048" y="5413248"/>
            <a:ext cx="265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Постановление № 218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384048" y="5705856"/>
            <a:ext cx="265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 70% стоимости исследований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3308528" y="5413248"/>
            <a:ext cx="265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Коэффициент 2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3308528" y="5705856"/>
            <a:ext cx="265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 налогу на прибыль, без конкурса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6233008" y="5413248"/>
            <a:ext cx="265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Грант на доращивание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5705856"/>
            <a:ext cx="265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 250 млн ₽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9157487" y="5413248"/>
            <a:ext cx="265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Субсидии Росрыболовства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9157487" y="5705856"/>
            <a:ext cx="265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поддержка аквакультуры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384048" y="65288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750" dirty="0"/>
          </a:p>
        </p:txBody>
      </p:sp>
      <p:sp>
        <p:nvSpPr>
          <p:cNvPr id="49" name="Text 47"/>
          <p:cNvSpPr txBox="1"/>
          <p:nvPr/>
        </p:nvSpPr>
        <p:spPr>
          <a:xfrm>
            <a:off x="10911535" y="65288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10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01168"/>
            <a:ext cx="114235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ЧЕМ РАБОТАЕМ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57200"/>
            <a:ext cx="114235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Ситалл Скаут: подбор решений за сутки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960120" cy="4114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384048" y="1417320"/>
            <a:ext cx="3749040" cy="397764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636776"/>
            <a:ext cx="274320" cy="34747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" y="1728216"/>
            <a:ext cx="3273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5–7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313432"/>
            <a:ext cx="3273552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проверенных решений под задачу предприятия.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Срок: сутки вместо недель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07408" y="1417320"/>
            <a:ext cx="7400239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45152" y="1618488"/>
            <a:ext cx="274320" cy="34747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45152" y="1709928"/>
            <a:ext cx="69247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Проверяет человек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45152" y="2020824"/>
            <a:ext cx="69247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Инструмент даёт черновик, решение подтверждает учёный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07408" y="2807208"/>
            <a:ext cx="7400239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45152" y="3008376"/>
            <a:ext cx="274320" cy="34747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45152" y="3099816"/>
            <a:ext cx="69247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Открытые данные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645152" y="3410712"/>
            <a:ext cx="69247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Публикации, патенты, гранты, российский и мировой веб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07408" y="4197096"/>
            <a:ext cx="7400239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45152" y="4398264"/>
            <a:ext cx="274320" cy="34747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645152" y="4489704"/>
            <a:ext cx="69247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Показываем в деле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645152" y="4800600"/>
            <a:ext cx="69247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Демонстрация на вашей задаче — по запросу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84048" y="5806440"/>
            <a:ext cx="50292" cy="5303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85216" y="5788152"/>
            <a:ext cx="111492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Инструмент разработан и работает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84048" y="65288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10911535" y="65288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10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01168"/>
            <a:ext cx="114235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НАПРАВЛЕНИЯ ПОИСКА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57200"/>
            <a:ext cx="114235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Что мы можем найти под задачи завода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960120" cy="4114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384048" y="1371600"/>
            <a:ext cx="3624986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572768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" y="1572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938528"/>
            <a:ext cx="3149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Корма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487168"/>
            <a:ext cx="314949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Отечественные рецептуры для осетровых и сиговых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83354" y="1371600"/>
            <a:ext cx="3624986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1098" y="1572768"/>
            <a:ext cx="292608" cy="29260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21098" y="1572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21098" y="1938528"/>
            <a:ext cx="3149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Маточные стада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521098" y="2487168"/>
            <a:ext cx="314949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Криоконсервация и генетическая паспортизация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82661" y="1371600"/>
            <a:ext cx="3624986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20405" y="1572768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20405" y="1572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420405" y="1938528"/>
            <a:ext cx="3149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Подращивание молоди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420405" y="2487168"/>
            <a:ext cx="314949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Высокие навески — рост зачётности выпусков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" y="3575304"/>
            <a:ext cx="3624986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" y="3776472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1792" y="3776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" y="4142232"/>
            <a:ext cx="3149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Мониторинг инкубации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21792" y="4690872"/>
            <a:ext cx="314949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Машинное зрение: счёт икры, контроль среды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83354" y="3575304"/>
            <a:ext cx="3624986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21098" y="3776472"/>
            <a:ext cx="292608" cy="29260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21098" y="3776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21098" y="4142232"/>
            <a:ext cx="3149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Ихтиопатология в УЗВ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4521098" y="4690872"/>
            <a:ext cx="314949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Диагностика, вакцины, пробиотики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82661" y="3575304"/>
            <a:ext cx="3624986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20405" y="3776472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420405" y="3776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420405" y="4142232"/>
            <a:ext cx="3149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УЗВ для Арктики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8420405" y="4690872"/>
            <a:ext cx="314949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Энергоэффективные решения для холодного климата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384048" y="5806440"/>
            <a:ext cx="114235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Направления — примеры по открытым источникам. Точный список даёт диагностика задачи.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384048" y="65288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10911535" y="65288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10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01168"/>
            <a:ext cx="114235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ЧТО ПОЛУЧАЕТ ЗАВОД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57200"/>
            <a:ext cx="114235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Результат без собственного НИИ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960120" cy="4114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384048" y="1371600"/>
            <a:ext cx="557464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572768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" y="1572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938528"/>
            <a:ext cx="509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Решение без своего R&amp;D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432304"/>
            <a:ext cx="50991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Экспертизу дают привлечённые профильные учёные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33008" y="1371600"/>
            <a:ext cx="557464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70752" y="1572768"/>
            <a:ext cx="292608" cy="29260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70752" y="1572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70752" y="1938528"/>
            <a:ext cx="509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Господдержка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470752" y="2432304"/>
            <a:ext cx="50991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 70% стоимости НИОКР по ПП-218; двойной вычет — без конкурса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" y="4005072"/>
            <a:ext cx="557464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420624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4572000"/>
            <a:ext cx="509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Один подрядчик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21792" y="5065776"/>
            <a:ext cx="50991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Вместо десяти переговоров с институтами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33008" y="4005072"/>
            <a:ext cx="557464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0752" y="4206240"/>
            <a:ext cx="292608" cy="29260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7075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70752" y="4572000"/>
            <a:ext cx="509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Честный ответ за 3–4 недели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470752" y="5065776"/>
            <a:ext cx="50991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«Подходящей технологии нет» — тоже результат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84048" y="65288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10911535" y="65288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10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01168"/>
            <a:ext cx="114235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ВОПРОСЫ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57200"/>
            <a:ext cx="114235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Четыре прямых ответа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960120" cy="4114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384048" y="1371600"/>
            <a:ext cx="557464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609344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" y="1609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42416" y="1554480"/>
            <a:ext cx="4660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Зачем посредник? Пойдём в институт напрямую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450592"/>
            <a:ext cx="509915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Напрямую — это один институт и его оценка своей же разработки. Мы сравниваем решения по стране и миру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33008" y="1371600"/>
            <a:ext cx="557464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70752" y="1609344"/>
            <a:ext cx="292608" cy="29260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70752" y="1609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891376" y="1554480"/>
            <a:ext cx="4660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Сколько это стоит?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70752" y="2450592"/>
            <a:ext cx="509915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Оплата поэтапная, у каждого этапа своя точка выхода. Условия — по итогам диагностики задачи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4048" y="3959352"/>
            <a:ext cx="557464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419709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" y="4197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42416" y="4142232"/>
            <a:ext cx="4660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А если субсидию не дадут?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21792" y="5038344"/>
            <a:ext cx="509915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Экономику считаем без неё. Двойной вычет идёт без конкурса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33008" y="3959352"/>
            <a:ext cx="557464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0752" y="419709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70752" y="4197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891376" y="4142232"/>
            <a:ext cx="4660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Кто отвечает за результат?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70752" y="5038344"/>
            <a:ext cx="509915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Мы: часть вознаграждения получаем только при внедрении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84048" y="65288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10911535" y="65288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/ 10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01168"/>
            <a:ext cx="114235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ПРЕДЛОЖЕНИЕ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57200"/>
            <a:ext cx="114235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Пилот для Югорского рыбоводного завода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960120" cy="4114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4048" y="1280160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ЭТАПЫ, КАЖДЫЙ СО СВОЕЙ ТОЧКОЙ ВЫХОДА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84048" y="1627632"/>
            <a:ext cx="603504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627632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Диагностика задачи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809744" y="1627632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3–4 нед.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4048" y="2368296"/>
            <a:ext cx="603504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2368296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Подбор и научная проверка: 5–7 решений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09744" y="2368296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6–8 нед.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4048" y="3108960"/>
            <a:ext cx="603504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310896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Дальше по выбору завода: сделка, господдержка, внедрение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09744" y="3108960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—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84048" y="392277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Задачи завода не публикуются: NDA — до начала диагностики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876288" y="1280160"/>
            <a:ext cx="49313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ЧТО ПРОСИМ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76288" y="1664208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76288" y="1664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1581912"/>
            <a:ext cx="449244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Одна технологическая задача завода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76288" y="237744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76288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2295144"/>
            <a:ext cx="449244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Два часа ваших технологов на диагностику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76288" y="3090672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76288" y="3090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0" y="3008376"/>
            <a:ext cx="449244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Рабочая встреча на площадке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76288" y="3931920"/>
            <a:ext cx="4931359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14032" y="4096512"/>
            <a:ext cx="44558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СЛЕДУЮЩИЙ ШАГ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7114032" y="4352544"/>
            <a:ext cx="445587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Выбираем задачу пилота и согласуем соглашение о неразглашении. Условия пилота — по итогам диагностики.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384048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Кирилл Уклонский · uklonskiy.k@ya.ru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84048" y="65288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10911535" y="65288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Ситалл — для Югорского рыбоводного завода</dc:title>
  <dc:subject>PptxGenJS Presentation</dc:subject>
  <dc:creator>Ситалл</dc:creator>
  <cp:lastModifiedBy>Ситалл</cp:lastModifiedBy>
  <cp:revision>1</cp:revision>
  <dcterms:created xsi:type="dcterms:W3CDTF">2026-08-26T13:09:56Z</dcterms:created>
  <dcterms:modified xsi:type="dcterms:W3CDTF">2026-08-26T13:09:56Z</dcterms:modified>
</cp:coreProperties>
</file>