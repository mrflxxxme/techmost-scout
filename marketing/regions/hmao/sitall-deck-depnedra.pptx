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issek.hse.ru/news/849710120.html" TargetMode="External"/><Relationship Id="rId2" Type="http://schemas.openxmlformats.org/officeDocument/2006/relationships/hyperlink" Target="https://issek.hse.ru/news/849710120.html" TargetMode="External"/><Relationship Id="rId3" Type="http://schemas.openxmlformats.org/officeDocument/2006/relationships/hyperlink" Target="https://rospatent.gov.ru/ru/news/na-pmef-2023-obsudili-tehnologicheskoe-predprinimatelstvo-15062023" TargetMode="External"/><Relationship Id="rId4" Type="http://schemas.openxmlformats.org/officeDocument/2006/relationships/hyperlink" Target="https://www.comnews.ru/content/241396/2025-10-01/2025-w40/1008/19-trilliona-rubley-potratyat-nacproekty-tekhnologicheskogo-liderstva-tri-goda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onsultant.ru/document/cons_doc_LAW_453831/" TargetMode="External"/><Relationship Id="rId2" Type="http://schemas.openxmlformats.org/officeDocument/2006/relationships/hyperlink" Target="https://issek.hse.ru/news/949132842.html" TargetMode="External"/><Relationship Id="rId3" Type="http://schemas.openxmlformats.org/officeDocument/2006/relationships/hyperlink" Target="https://360.ru/tekst/ekologiya/zagrjaznenie-irtysha-i-obi/" TargetMode="External"/><Relationship Id="rId4" Type="http://schemas.openxmlformats.org/officeDocument/2006/relationships/hyperlink" Target="https://www.ugrasu.ru/university/university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nia.eco/2023/11/21/73340/" TargetMode="External"/><Relationship Id="rId2" Type="http://schemas.openxmlformats.org/officeDocument/2006/relationships/hyperlink" Target="https://iz.ru/1664610/sergei-gurianov/zolotoe-techenie-v-obi-i-irtyshe-ne-nashli-chistoi-vody" TargetMode="External"/><Relationship Id="rId3" Type="http://schemas.openxmlformats.org/officeDocument/2006/relationships/hyperlink" Target="https://senatinform.ru/news/regiony_prosyat_rasshirit_programmu_vosstanovleniya_populyatsii_ryby_v_obi_i_irtyshe_/" TargetMode="External"/><Relationship Id="rId4" Type="http://schemas.openxmlformats.org/officeDocument/2006/relationships/hyperlink" Target="https://amp.neft.media/yugra/news/e6e2e3da-661f-4650-ae24-01844acc3c50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ln w="12700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005840"/>
            <a:ext cx="3017520" cy="3017520"/>
          </a:xfrm>
          <a:prstGeom prst="ellipse">
            <a:avLst/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4023360"/>
            <a:ext cx="4023360" cy="4023360"/>
          </a:xfrm>
          <a:prstGeom prst="ellipse">
            <a:avLst/>
          </a:prstGeom>
          <a:ln w="12700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4048" y="31089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АВГУСТ 2026 · КОНФИДЕНЦИАЛЬНО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1005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384048" y="2395728"/>
            <a:ext cx="96012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2651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Технологический брокер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 промышленности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задачи предприятия до внедрённой технологии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4224528"/>
            <a:ext cx="5852160" cy="512064"/>
          </a:xfrm>
          <a:prstGeom prst="roundRect">
            <a:avLst>
              <a:gd name="adj" fmla="val 12500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42245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Для Депнедра и природных ресурсов Югры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" y="5212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Ситалл: стекло, которому наука дала прочность. 1958 год, лаборатория Китайгородского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ЗАДАЧА ГОСУДАРСТВА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на науку есть. Внедрять их некому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91056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затраты на науку к 2030 году, сейчас около 1%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59105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частных вложений бизнеса в науку — цель к 2030 году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80–88%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не доходят до применения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Роспатент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3300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1,9 трлн ₽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47075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нацпроекты технологического лидерства, 2026–2028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ComNews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4048" y="6035040"/>
            <a:ext cx="5029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" y="6016752"/>
            <a:ext cx="11149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Роспатент подготовил 200+ технологических брокеров. Работать им негде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ЮГРА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Югра: сильная база, незакрытое звено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91056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 млрд ₽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ИНТЦ «Юнити Парк» в Сургуте: наука для Севера и Арктики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ПП РФ № 1255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59105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+14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позиций в рейтинге инновационного развития — один из девяти регионов с существенным ростом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ВШЭ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1653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пункта локального экомониторинга на лицензионных участках недропользователей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360.ru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3300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47075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структур отвечает за путь от задачи предприятия до внедрённой технологии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наша оценка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4048" y="6035040"/>
            <a:ext cx="5029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" y="6016752"/>
            <a:ext cx="11149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Вся инфраструктура работает от разработки. Звено «от задачи — к внедрению» не закрыто нигде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ЗАДАЧИ, КОТОРЫЕ УПИРАЮТСЯ В ТЕХНОЛОГИИ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Показатели ведомства — это технологические задачи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91056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публичный срок ликвидации нефтезагрязнённых земель — при темпе рекультивации ~1000 га в год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НИА «Экология»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59105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682496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226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2267712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случаев высокого и экстремально высокого загрязнения Оби и Иртыша за 2023 год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3273552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«Известия»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404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Без денег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программа восстановления сиговых по поручению Президента одобрена, финансирование не определено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СенатИнформ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33008" y="3822192"/>
            <a:ext cx="557464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041648"/>
            <a:ext cx="274320" cy="3474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133088"/>
            <a:ext cx="509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10,2 млрд ₽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470752" y="4718304"/>
            <a:ext cx="5099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новая госпрограмма «Экономика замкнутого цикла»: полигоны, переработка, «Генеральная уборка»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724144"/>
            <a:ext cx="509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75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neft.media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4048" y="6035040"/>
            <a:ext cx="5029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" y="6016752"/>
            <a:ext cx="11149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 каждым показателем — задача, у которой уже есть научное решение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727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385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32304"/>
            <a:ext cx="5099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теряются деньги и показатели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572768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70752" y="1938528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2432304"/>
            <a:ext cx="5099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— только при результате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776472"/>
            <a:ext cx="5574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9776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343400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4837176"/>
            <a:ext cx="5099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Заявки готовим мы, а не сотрудники предприятий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33008" y="3776472"/>
            <a:ext cx="5574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3977640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70752" y="4343400"/>
            <a:ext cx="509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Госцентрам приводим заказчика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837176"/>
            <a:ext cx="50991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НАЦ им. Шпильмана, СурГУ, ЮГУ для нас партнёры и исполнители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6053328"/>
            <a:ext cx="5029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" y="6035040"/>
            <a:ext cx="11149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Бюджет округа не тратит ни рубля. Платит предприятие — за решение своей задачи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до внедрения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1892808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92808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98950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98950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05092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5092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11233" y="1298448"/>
            <a:ext cx="2350694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1233" y="1371600"/>
            <a:ext cx="23506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" y="17830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92808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20824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называет задачу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 её цену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98950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966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5092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33108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11233" y="1783080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39249" y="1783080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технологию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" y="281635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92808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20824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98950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966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ищет и проверяет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 учёными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5092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33108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собирает сделку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поддержку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11233" y="2816352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39249" y="2816352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ведёт до пуска,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отвечает за срок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84048" y="3849624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98950" y="3849624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26966" y="3849624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05092" y="3849624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33108" y="3849624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11233" y="3849624"/>
            <a:ext cx="2350694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539249" y="3849624"/>
            <a:ext cx="20946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84048" y="5074920"/>
            <a:ext cx="114235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ГОСУДАРСТВЕННЫЕ ИНСТРУМЕНТЫ, КОТОРЫЕ МЫ ПОДКЛЮЧАЕМ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84048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Постановление № 218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84048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70% стоимости исследований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308528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Коэффициент 2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308528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налогу на прибыль, без конкурса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233008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Грант на доращивание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250 млн ₽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157487" y="5413248"/>
            <a:ext cx="265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«Экологическое благополучие»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9157487" y="5705856"/>
            <a:ext cx="265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812 млрд ₽ до 2030 года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подбор решений за сутки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417320"/>
            <a:ext cx="3749040" cy="397764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3677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728216"/>
            <a:ext cx="3273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13432"/>
            <a:ext cx="327355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 под задачу предприятия.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1417320"/>
            <a:ext cx="7400239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618488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709928"/>
            <a:ext cx="6924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020824"/>
            <a:ext cx="6924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черновик, решение подтверждает учёный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2807208"/>
            <a:ext cx="7400239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3008376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45152" y="3099816"/>
            <a:ext cx="6924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3410712"/>
            <a:ext cx="6924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07408" y="4197096"/>
            <a:ext cx="7400239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4398264"/>
            <a:ext cx="274320" cy="3474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45152" y="4489704"/>
            <a:ext cx="6924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Готов к ГИС НИОКР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45152" y="4800600"/>
            <a:ext cx="6924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Подключимся, когда система откроется для рынка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5806440"/>
            <a:ext cx="50292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" y="5788152"/>
            <a:ext cx="111492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Инструмент разработан и работает. Показываем в деле по запросу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КАЖДАЯ СТОРОНА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каждая сторона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3624986" cy="4480560"/>
          </a:xfrm>
          <a:prstGeom prst="roundRect">
            <a:avLst>
              <a:gd name="adj" fmla="val 176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27632"/>
            <a:ext cx="311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ВЕДОМСТВУ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316778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Технологические решения под показатели: рекультивация, аварийность, вода, отходы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Частные деньги недропользователей идут в проверенные технологии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Расходов бюджета нет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Открытый отчёт по региону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83354" y="1371600"/>
            <a:ext cx="3624986" cy="4480560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386" y="1627632"/>
            <a:ext cx="311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ПРЕДПРИЯТИЯМ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39386" y="2011680"/>
            <a:ext cx="316778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без собственного R&amp;D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Господдержка: заявки готовим мы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подрядчик вместо десяти переговоров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Ответ за 3–4 недели, а не за два года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2661" y="1371600"/>
            <a:ext cx="3624986" cy="4480560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8693" y="1627632"/>
            <a:ext cx="31129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НАУКЕ РЕГИОНА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438693" y="2011680"/>
            <a:ext cx="316778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Оплаченные заказы для НАЦ им. Шпильмана, СурГУ, ЮГУ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Перевод на язык бизнеса — за нами</a:t>
            </a:r>
            <a:endParaRPr lang="en-US" sz="1100" dirty="0"/>
          </a:p>
          <a:p>
            <a:pPr marL="127000" indent="-1270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Участие бесплатно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ВОПРОСЫ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Четыре прямых ответа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371600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1554480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 нас есть НАЦ им. Шпильмана, СурГУ, технопарк. Зачем вы?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50592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Они — наука и экспертиза, работают от разработки. Мы — от задачи предприятия: собираем сделку и отвечаем деньгами за внедрение. Мы приводим им заказ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371600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0752" y="1609344"/>
            <a:ext cx="292608" cy="29260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0752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91376" y="1554480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просите у бюджета?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70752" y="2450592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Ничего. Соглашение, представление предприятиям и участие в площадках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3959352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197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4142232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Зачем посредник? Предприятия пойдут напрямую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5038344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Напрямую — это один институт и его оценка своей же разработки. Мы сравниваем решения по стране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3008" y="3959352"/>
            <a:ext cx="557464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0752" y="4197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0752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91376" y="4142232"/>
            <a:ext cx="466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рискует округ?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5038344"/>
            <a:ext cx="509915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Финансово ничем. Обязательства счётные, отчёт открытый, эксклюзивности нет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01168"/>
            <a:ext cx="11423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57200"/>
            <a:ext cx="114235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Соглашение о сотрудничестве с Депнедра Югры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960120" cy="411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4048" y="128016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ДЕЛАЕМ ЗА ПЕРВЫЙ ГОД, ЗА СВОЙ СЧЁТ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4048" y="1627632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2763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Задачи предприятий-природопользователей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09744" y="16276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368296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3682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Подборов с научной проверкой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9744" y="236829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" y="3108960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10896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Заявок на софинансирование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310896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" y="3849624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84962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Внедрённый проект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38496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048" y="4590288"/>
            <a:ext cx="603504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59028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Открытый отчёт «Карта технологий для природопользования Югры»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09744" y="459028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" y="54041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Расходов бюджета нет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1280160"/>
            <a:ext cx="4931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ПРОСИМ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76288" y="16642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76288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581912"/>
            <a:ext cx="4492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Соглашение о сотрудничестве или меморандум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76288" y="237744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76288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295144"/>
            <a:ext cx="4492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Представление 5–7 предприятиям-недропользователям и учреждениям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76288" y="30906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76288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3008376"/>
            <a:ext cx="4492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Участие в площадках округа — включая экспертный совет по инновациям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76288" y="3931920"/>
            <a:ext cx="493135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14032" y="4096512"/>
            <a:ext cx="4455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СЛЕДУЮЩИЙ ШАГ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114032" y="4352544"/>
            <a:ext cx="445587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Рабочая встреча с профильным блоком; пилот на одной задаче — отчёт через шесть месяцев.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84048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84048" y="65288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10911535" y="6528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для Депнедра и природных ресурсов Югры</dc:title>
  <dc:subject>PptxGenJS Presentation</dc:subject>
  <dc:creator>Ситалл</dc:creator>
  <cp:lastModifiedBy>Ситалл</cp:lastModifiedBy>
  <cp:revision>1</cp:revision>
  <dcterms:created xsi:type="dcterms:W3CDTF">2026-08-26T13:09:56Z</dcterms:created>
  <dcterms:modified xsi:type="dcterms:W3CDTF">2026-08-26T13:09:56Z</dcterms:modified>
</cp:coreProperties>
</file>