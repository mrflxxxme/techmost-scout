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kommersant.ru/doc/8401216" TargetMode="External"/><Relationship Id="rId2" Type="http://schemas.openxmlformats.org/officeDocument/2006/relationships/hyperlink" Target="https://www.audit-it.ru/contragent/1075029007855_zao-mpk" TargetMode="External"/><Relationship Id="rId3" Type="http://schemas.openxmlformats.org/officeDocument/2006/relationships/hyperlink" Target="https://www.vedomosti.ru/business/articles/2026/07/10/1212619-proizvodstvo-piva-v-rossii-previsilo-potreblenie" TargetMode="External"/><Relationship Id="rId4" Type="http://schemas.openxmlformats.org/officeDocument/2006/relationships/hyperlink" Target="https://www.vedomosti.ru/business/articles/2026/07/10/1212619-proizvodstvo-piva-v-rossii-previsilo-potreblenie" TargetMode="Externa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hyperlink" Target="https://grainrus.com/novosti-kompanii/articles/mozhet-li-rossiya-obespechivat-sebya-pivovarennym-syrem/" TargetMode="External"/><Relationship Id="rId2" Type="http://schemas.openxmlformats.org/officeDocument/2006/relationships/hyperlink" Target="https://grainrus.com/novosti-kompanii/articles/mozhet-li-rossiya-obespechivat-sebya-pivovarennym-syrem/" TargetMode="External"/><Relationship Id="rId3" Type="http://schemas.openxmlformats.org/officeDocument/2006/relationships/hyperlink" Target="https://www.kommersant.ru/doc/8418080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1645920"/>
            <a:ext cx="5303520" cy="5303520"/>
          </a:xfrm>
          <a:prstGeom prst="ellipse">
            <a:avLst/>
          </a:prstGeom>
          <a:ln w="15875">
            <a:solidFill>
              <a:srgbClr val="C9D3E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0" y="822960"/>
            <a:ext cx="3291840" cy="3291840"/>
          </a:xfrm>
          <a:prstGeom prst="ellipse">
            <a:avLst/>
          </a:prstGeom>
          <a:ln w="19050">
            <a:solidFill>
              <a:srgbClr val="C9A24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052560" y="3840480"/>
            <a:ext cx="4389120" cy="4389120"/>
          </a:xfrm>
          <a:prstGeom prst="ellipse">
            <a:avLst/>
          </a:prstGeom>
          <a:ln w="15875">
            <a:solidFill>
              <a:srgbClr val="C9D3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02920" y="3657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C9A24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СЕНТЯБРЬ 2026 · КОНФИДЕНЦИАЛЬНО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48056" y="96012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Ситалл</a:t>
            </a:r>
            <a:endParaRPr lang="en-US" sz="8000" dirty="0"/>
          </a:p>
        </p:txBody>
      </p:sp>
      <p:sp>
        <p:nvSpPr>
          <p:cNvPr id="7" name="Shape 5"/>
          <p:cNvSpPr/>
          <p:nvPr/>
        </p:nvSpPr>
        <p:spPr>
          <a:xfrm>
            <a:off x="502920" y="2743200"/>
            <a:ext cx="1371600" cy="82296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84632" y="306324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Технологический брокер для промышленности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3639312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Работаем от задачи предприятия до внедрённой технологии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02920" y="4343400"/>
            <a:ext cx="6949440" cy="603504"/>
          </a:xfrm>
          <a:prstGeom prst="roundRect">
            <a:avLst>
              <a:gd name="adj" fmla="val 13636"/>
            </a:avLst>
          </a:prstGeom>
          <a:solidFill>
            <a:srgbClr val="E3EAF8"/>
          </a:solidFill>
          <a:ln w="12700">
            <a:solidFill>
              <a:srgbClr val="C9D3E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4343400"/>
            <a:ext cx="6492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Для ЗАО «Московская пивоваренная компания»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502920" y="5943600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Кирилл Уклонский · uklonskiy.k@ya.ru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19456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C9A24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КОНТЕКСТ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84632" y="512064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Рынок пива сжимается — компания растёт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133856"/>
            <a:ext cx="1097280" cy="64008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481328"/>
            <a:ext cx="5437480" cy="2304288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C9D3EA"/>
            </a:solidFill>
            <a:prstDash val="solid"/>
          </a:ln>
          <a:effectLst>
            <a:outerShdw sx="100000" sy="100000" kx="0" ky="0" algn="bl" rotWithShape="0" blurRad="177800" dist="50800" dir="5400000">
              <a:srgbClr val="7E88A8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95528" y="1737360"/>
            <a:ext cx="384048" cy="457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95528" y="1810512"/>
            <a:ext cx="48522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39,3 млн дал</a:t>
            </a:r>
            <a:endParaRPr lang="en-US" sz="3800" dirty="0"/>
          </a:p>
        </p:txBody>
      </p:sp>
      <p:sp>
        <p:nvSpPr>
          <p:cNvPr id="8" name="Text 6"/>
          <p:cNvSpPr txBox="1"/>
          <p:nvPr/>
        </p:nvSpPr>
        <p:spPr>
          <a:xfrm>
            <a:off x="795528" y="2542032"/>
            <a:ext cx="485226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выпуск компании в 2025 году, +11,6% к прошлому — пятое место в стране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95528" y="3438144"/>
            <a:ext cx="4852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Источник: </a:t>
            </a:r>
            <a:pPr indent="0" marL="0">
              <a:buNone/>
            </a:pPr>
            <a:r>
              <a:rPr lang="en-US" sz="1200" i="1" u="sng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Коммерсантъ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51296" y="1481328"/>
            <a:ext cx="5437480" cy="2304288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22225">
            <a:solidFill>
              <a:srgbClr val="C9A24B"/>
            </a:solidFill>
            <a:prstDash val="solid"/>
          </a:ln>
          <a:effectLst>
            <a:outerShdw sx="100000" sy="100000" kx="0" ky="0" algn="bl" rotWithShape="0" blurRad="177800" dist="50800" dir="5400000">
              <a:srgbClr val="7E88A8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543904" y="1737360"/>
            <a:ext cx="384048" cy="45720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543904" y="1810512"/>
            <a:ext cx="48522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C9A24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40,1 млрд ₽</a:t>
            </a:r>
            <a:endParaRPr lang="en-US" sz="4000" dirty="0"/>
          </a:p>
        </p:txBody>
      </p:sp>
      <p:sp>
        <p:nvSpPr>
          <p:cNvPr id="13" name="Text 11"/>
          <p:cNvSpPr txBox="1"/>
          <p:nvPr/>
        </p:nvSpPr>
        <p:spPr>
          <a:xfrm>
            <a:off x="6543904" y="2542032"/>
            <a:ext cx="485226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выручка 2025 года, +9,5%; чистая прибыль выросла вдвое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543904" y="3438144"/>
            <a:ext cx="4852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Источник: </a:t>
            </a:r>
            <a:pPr indent="0" marL="0">
              <a:buNone/>
            </a:pPr>
            <a:r>
              <a:rPr lang="en-US" sz="1200" i="1" u="sng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Аудит-ит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" y="4096512"/>
            <a:ext cx="5437480" cy="2304288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22225">
            <a:solidFill>
              <a:srgbClr val="C9A24B"/>
            </a:solidFill>
            <a:prstDash val="solid"/>
          </a:ln>
          <a:effectLst>
            <a:outerShdw sx="100000" sy="100000" kx="0" ky="0" algn="bl" rotWithShape="0" blurRad="177800" dist="50800" dir="5400000">
              <a:srgbClr val="7E88A8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95528" y="4352544"/>
            <a:ext cx="384048" cy="45720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95528" y="4425696"/>
            <a:ext cx="48522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C9A24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−15,7%</a:t>
            </a:r>
            <a:endParaRPr lang="en-US" sz="4400" dirty="0"/>
          </a:p>
        </p:txBody>
      </p:sp>
      <p:sp>
        <p:nvSpPr>
          <p:cNvPr id="18" name="Text 16"/>
          <p:cNvSpPr txBox="1"/>
          <p:nvPr/>
        </p:nvSpPr>
        <p:spPr>
          <a:xfrm>
            <a:off x="795528" y="5157216"/>
            <a:ext cx="485226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розничные продажи пива в стране за 2025 год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795528" y="6053328"/>
            <a:ext cx="4852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Источник: </a:t>
            </a:r>
            <a:pPr indent="0" marL="0">
              <a:buNone/>
            </a:pPr>
            <a:r>
              <a:rPr lang="en-US" sz="1200" i="1" u="sng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Ведомости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251296" y="4096512"/>
            <a:ext cx="5437480" cy="2304288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C9D3EA"/>
            </a:solidFill>
            <a:prstDash val="solid"/>
          </a:ln>
          <a:effectLst>
            <a:outerShdw sx="100000" sy="100000" kx="0" ky="0" algn="bl" rotWithShape="0" blurRad="177800" dist="50800" dir="5400000">
              <a:srgbClr val="7E88A8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543904" y="4352544"/>
            <a:ext cx="384048" cy="457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543904" y="4425696"/>
            <a:ext cx="48522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33 ₽/л</a:t>
            </a:r>
            <a:endParaRPr lang="en-US" sz="4400" dirty="0"/>
          </a:p>
        </p:txBody>
      </p:sp>
      <p:sp>
        <p:nvSpPr>
          <p:cNvPr id="23" name="Text 21"/>
          <p:cNvSpPr txBox="1"/>
          <p:nvPr/>
        </p:nvSpPr>
        <p:spPr>
          <a:xfrm>
            <a:off x="6543904" y="5157216"/>
            <a:ext cx="485226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акциз на пиво в 2026 году — третье повышение подряд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6543904" y="6053328"/>
            <a:ext cx="4852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Источник: </a:t>
            </a:r>
            <a:pPr indent="0" marL="0">
              <a:buNone/>
            </a:pPr>
            <a:r>
              <a:rPr lang="en-US" sz="1200" i="1" u="sng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Ведомости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50292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Ситалл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 / 10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19456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C9A24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ВЫЗОВЫ ОТРАСЛИ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84632" y="512064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Три узких места, которые не закрыть внутри завода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133856"/>
            <a:ext cx="1097280" cy="64008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481328"/>
            <a:ext cx="3521354" cy="3063240"/>
          </a:xfrm>
          <a:prstGeom prst="roundRect">
            <a:avLst>
              <a:gd name="adj" fmla="val 2687"/>
            </a:avLst>
          </a:prstGeom>
          <a:solidFill>
            <a:srgbClr val="FFFFFF"/>
          </a:solidFill>
          <a:ln w="12700">
            <a:solidFill>
              <a:srgbClr val="C9D3EA"/>
            </a:solidFill>
            <a:prstDash val="solid"/>
          </a:ln>
          <a:effectLst>
            <a:outerShdw sx="100000" sy="100000" kx="0" ky="0" algn="bl" rotWithShape="0" blurRad="177800" dist="50800" dir="5400000">
              <a:srgbClr val="7E88A8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95528" y="1737360"/>
            <a:ext cx="384048" cy="457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95528" y="1810512"/>
            <a:ext cx="293613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2–5%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795528" y="2542032"/>
            <a:ext cx="293613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Хмель. Столько потребности страна закрывает своим сырьём; около 7 000 т в год приходит по импорту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95528" y="4197096"/>
            <a:ext cx="293613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Источник: </a:t>
            </a:r>
            <a:pPr indent="0" marL="0">
              <a:buNone/>
            </a:pPr>
            <a:r>
              <a:rPr lang="en-US" sz="1200" i="1" u="sng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Грейнрус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35170" y="1481328"/>
            <a:ext cx="3521354" cy="3063240"/>
          </a:xfrm>
          <a:prstGeom prst="roundRect">
            <a:avLst>
              <a:gd name="adj" fmla="val 2687"/>
            </a:avLst>
          </a:prstGeom>
          <a:solidFill>
            <a:srgbClr val="FFFFFF"/>
          </a:solidFill>
          <a:ln w="22225">
            <a:solidFill>
              <a:srgbClr val="C9A24B"/>
            </a:solidFill>
            <a:prstDash val="solid"/>
          </a:ln>
          <a:effectLst>
            <a:outerShdw sx="100000" sy="100000" kx="0" ky="0" algn="bl" rotWithShape="0" blurRad="177800" dist="50800" dir="5400000">
              <a:srgbClr val="7E88A8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27778" y="1737360"/>
            <a:ext cx="384048" cy="45720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627778" y="1810512"/>
            <a:ext cx="293613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C9A24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+40%</a:t>
            </a:r>
            <a:endParaRPr lang="en-US" sz="3400" dirty="0"/>
          </a:p>
        </p:txBody>
      </p:sp>
      <p:sp>
        <p:nvSpPr>
          <p:cNvPr id="13" name="Text 11"/>
          <p:cNvSpPr txBox="1"/>
          <p:nvPr/>
        </p:nvSpPr>
        <p:spPr>
          <a:xfrm>
            <a:off x="4627778" y="2542032"/>
            <a:ext cx="293613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Солод. Настолько подорожал импортный солод; отечественный — на 15%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627778" y="4197096"/>
            <a:ext cx="293613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Источник: </a:t>
            </a:r>
            <a:pPr indent="0" marL="0">
              <a:buNone/>
            </a:pPr>
            <a:r>
              <a:rPr lang="en-US" sz="1200" i="1" u="sng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Грейнрус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167421" y="1481328"/>
            <a:ext cx="3521354" cy="3063240"/>
          </a:xfrm>
          <a:prstGeom prst="roundRect">
            <a:avLst>
              <a:gd name="adj" fmla="val 2687"/>
            </a:avLst>
          </a:prstGeom>
          <a:solidFill>
            <a:srgbClr val="FFFFFF"/>
          </a:solidFill>
          <a:ln w="12700">
            <a:solidFill>
              <a:srgbClr val="C9D3EA"/>
            </a:solidFill>
            <a:prstDash val="solid"/>
          </a:ln>
          <a:effectLst>
            <a:outerShdw sx="100000" sy="100000" kx="0" ky="0" algn="bl" rotWithShape="0" blurRad="177800" dist="50800" dir="5400000">
              <a:srgbClr val="7E88A8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60029" y="1737360"/>
            <a:ext cx="384048" cy="457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460029" y="1810512"/>
            <a:ext cx="293613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10–12%</a:t>
            </a:r>
            <a:endParaRPr lang="en-US" sz="3400" dirty="0"/>
          </a:p>
        </p:txBody>
      </p:sp>
      <p:sp>
        <p:nvSpPr>
          <p:cNvPr id="18" name="Text 16"/>
          <p:cNvSpPr txBox="1"/>
          <p:nvPr/>
        </p:nvSpPr>
        <p:spPr>
          <a:xfrm>
            <a:off x="8460029" y="2542032"/>
            <a:ext cx="293613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Безалкогольное. Рост категории в год при доле 2,4% выпуска — самая быстрая ниша рынка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8460029" y="4197096"/>
            <a:ext cx="293613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Источник: </a:t>
            </a:r>
            <a:pPr indent="0" marL="0">
              <a:buNone/>
            </a:pPr>
            <a:r>
              <a:rPr lang="en-US" sz="1200" i="1" u="sng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Коммерсантъ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02920" y="5029200"/>
            <a:ext cx="64008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58952" y="5001768"/>
            <a:ext cx="10820095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0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За каждым узким местом — российские научные заделы, которые пока не дошли до производства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50292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Ситалл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 / 10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19456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C9A24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КТО МЫ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84632" y="512064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Внешний офис трансфера технологий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133856"/>
            <a:ext cx="1097280" cy="64008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481328"/>
            <a:ext cx="5437480" cy="2304288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C9D3EA"/>
            </a:solidFill>
            <a:prstDash val="solid"/>
          </a:ln>
          <a:effectLst>
            <a:outerShdw sx="100000" sy="100000" kx="0" ky="0" algn="bl" rotWithShape="0" blurRad="177800" dist="50800" dir="5400000">
              <a:srgbClr val="7E88A8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95528" y="1719072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95528" y="17190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95528" y="2194560"/>
            <a:ext cx="4852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От задачи, а не от разработки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795528" y="2633472"/>
            <a:ext cx="48522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Начинаем там, где предприятие теряет деньги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251296" y="1481328"/>
            <a:ext cx="5437480" cy="2304288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22225">
            <a:solidFill>
              <a:srgbClr val="C9A24B"/>
            </a:solidFill>
            <a:prstDash val="solid"/>
          </a:ln>
          <a:effectLst>
            <a:outerShdw sx="100000" sy="100000" kx="0" ky="0" algn="bl" rotWithShape="0" blurRad="177800" dist="50800" dir="5400000">
              <a:srgbClr val="7E88A8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543904" y="1719072"/>
            <a:ext cx="384048" cy="384048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543904" y="17190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543904" y="2194560"/>
            <a:ext cx="4852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Отвечаем деньгами за внедрение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6543904" y="2633472"/>
            <a:ext cx="48522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Часть вознаграждения — только при результате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02920" y="4096512"/>
            <a:ext cx="5437480" cy="2304288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C9D3EA"/>
            </a:solidFill>
            <a:prstDash val="solid"/>
          </a:ln>
          <a:effectLst>
            <a:outerShdw sx="100000" sy="100000" kx="0" ky="0" algn="bl" rotWithShape="0" blurRad="177800" dist="50800" dir="5400000">
              <a:srgbClr val="7E88A8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95528" y="4334256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95528" y="43342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795528" y="4809744"/>
            <a:ext cx="4852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Господдержку собираем сами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795528" y="5248656"/>
            <a:ext cx="48522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Документацию готовим мы, а не сотрудники предприятия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251296" y="4096512"/>
            <a:ext cx="5437480" cy="2304288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22225">
            <a:solidFill>
              <a:srgbClr val="C9A24B"/>
            </a:solidFill>
            <a:prstDash val="solid"/>
          </a:ln>
          <a:effectLst>
            <a:outerShdw sx="100000" sy="100000" kx="0" ky="0" algn="bl" rotWithShape="0" blurRad="177800" dist="50800" dir="5400000">
              <a:srgbClr val="7E88A8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543904" y="4334256"/>
            <a:ext cx="384048" cy="384048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543904" y="43342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6543904" y="4809744"/>
            <a:ext cx="4852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Госцентрам приводим заказчика</a:t>
            </a:r>
            <a:endParaRPr lang="en-US" sz="2000" dirty="0"/>
          </a:p>
        </p:txBody>
      </p:sp>
      <p:sp>
        <p:nvSpPr>
          <p:cNvPr id="24" name="Text 22"/>
          <p:cNvSpPr txBox="1"/>
          <p:nvPr/>
        </p:nvSpPr>
        <p:spPr>
          <a:xfrm>
            <a:off x="6543904" y="5248656"/>
            <a:ext cx="48522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НОЦ, ЦТТ и фонды для нас партнёры и исполнители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50292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Ситалл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 / 10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19456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C9A24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КАК ЭТО РАБОТАЕТ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84632" y="512064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Один цикл: от задачи завода до внедрения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133856"/>
            <a:ext cx="1097280" cy="64008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5" name="Shape 3"/>
          <p:cNvSpPr/>
          <p:nvPr/>
        </p:nvSpPr>
        <p:spPr>
          <a:xfrm>
            <a:off x="2331720" y="1444752"/>
            <a:ext cx="2188388" cy="45720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2331720" y="1554480"/>
            <a:ext cx="21883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1. Задача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721276" y="1444752"/>
            <a:ext cx="2188388" cy="45720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721276" y="1554480"/>
            <a:ext cx="21883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2. Поиск и проверка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110832" y="1444752"/>
            <a:ext cx="2188388" cy="45720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110832" y="1554480"/>
            <a:ext cx="21883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3. Сделка и поддержка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9500387" y="1444752"/>
            <a:ext cx="2188388" cy="45720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500387" y="1554480"/>
            <a:ext cx="21883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4. Внедрение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502920" y="2231136"/>
            <a:ext cx="169164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200" kern="0" dirty="0">
                <a:solidFill>
                  <a:srgbClr val="6B769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ПРЕДПРИЯТИЕ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331720" y="2231136"/>
            <a:ext cx="2188388" cy="1152144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C9D3EA"/>
            </a:solidFill>
            <a:prstDash val="solid"/>
          </a:ln>
          <a:effectLst>
            <a:outerShdw sx="100000" sy="100000" kx="0" ky="0" algn="bl" rotWithShape="0" blurRad="177800" dist="50800" dir="5400000">
              <a:srgbClr val="7E88A8">
                <a:alpha val="30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2496312" y="2231136"/>
            <a:ext cx="1859204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Обозначает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потребность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721276" y="2231136"/>
            <a:ext cx="2188388" cy="1152144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C9D3EA"/>
            </a:solidFill>
            <a:prstDash val="solid"/>
          </a:ln>
          <a:effectLst>
            <a:outerShdw sx="100000" sy="100000" kx="0" ky="0" algn="bl" rotWithShape="0" blurRad="177800" dist="50800" dir="5400000">
              <a:srgbClr val="7E88A8">
                <a:alpha val="30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4885868" y="2231136"/>
            <a:ext cx="1859204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Выбирает из списка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110832" y="2231136"/>
            <a:ext cx="2188388" cy="1152144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C9D3EA"/>
            </a:solidFill>
            <a:prstDash val="solid"/>
          </a:ln>
          <a:effectLst>
            <a:outerShdw sx="100000" sy="100000" kx="0" ky="0" algn="bl" rotWithShape="0" blurRad="177800" dist="50800" dir="5400000">
              <a:srgbClr val="7E88A8">
                <a:alpha val="30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7275424" y="2231136"/>
            <a:ext cx="1859204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Подписывает договор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9500387" y="2231136"/>
            <a:ext cx="2188388" cy="1152144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C9D3EA"/>
            </a:solidFill>
            <a:prstDash val="solid"/>
          </a:ln>
          <a:effectLst>
            <a:outerShdw sx="100000" sy="100000" kx="0" ky="0" algn="bl" rotWithShape="0" blurRad="177800" dist="50800" dir="5400000">
              <a:srgbClr val="7E88A8">
                <a:alpha val="30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9664979" y="2231136"/>
            <a:ext cx="1859204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Получает работающую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технологию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502920" y="3566160"/>
            <a:ext cx="169164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200" kern="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СИТАЛЛ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2331720" y="3566160"/>
            <a:ext cx="2188388" cy="1152144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22225">
            <a:solidFill>
              <a:srgbClr val="1E2761"/>
            </a:solidFill>
            <a:prstDash val="solid"/>
          </a:ln>
          <a:effectLst>
            <a:outerShdw sx="100000" sy="100000" kx="0" ky="0" algn="bl" rotWithShape="0" blurRad="177800" dist="50800" dir="5400000">
              <a:srgbClr val="7E88A8">
                <a:alpha val="30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2496312" y="3566160"/>
            <a:ext cx="1859204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B214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Переводим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B214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в техзадание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721276" y="3566160"/>
            <a:ext cx="2188388" cy="1152144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22225">
            <a:solidFill>
              <a:srgbClr val="1E2761"/>
            </a:solidFill>
            <a:prstDash val="solid"/>
          </a:ln>
          <a:effectLst>
            <a:outerShdw sx="100000" sy="100000" kx="0" ky="0" algn="bl" rotWithShape="0" blurRad="177800" dist="50800" dir="5400000">
              <a:srgbClr val="7E88A8">
                <a:alpha val="30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4885868" y="3566160"/>
            <a:ext cx="1859204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B214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Ищем и проверяем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B214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решения и поставщиков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7110832" y="3566160"/>
            <a:ext cx="2188388" cy="1152144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22225">
            <a:solidFill>
              <a:srgbClr val="1E2761"/>
            </a:solidFill>
            <a:prstDash val="solid"/>
          </a:ln>
          <a:effectLst>
            <a:outerShdw sx="100000" sy="100000" kx="0" ky="0" algn="bl" rotWithShape="0" blurRad="177800" dist="50800" dir="5400000">
              <a:srgbClr val="7E88A8">
                <a:alpha val="30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7275424" y="3566160"/>
            <a:ext cx="1859204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B214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Структурируем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B214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и ведём сделку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9500387" y="3566160"/>
            <a:ext cx="2188388" cy="1152144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22225">
            <a:solidFill>
              <a:srgbClr val="1E2761"/>
            </a:solidFill>
            <a:prstDash val="solid"/>
          </a:ln>
          <a:effectLst>
            <a:outerShdw sx="100000" sy="100000" kx="0" ky="0" algn="bl" rotWithShape="0" blurRad="177800" dist="50800" dir="5400000">
              <a:srgbClr val="7E88A8">
                <a:alpha val="30000"/>
              </a:srgbClr>
            </a:outerShdw>
          </a:effectLst>
        </p:spPr>
      </p:sp>
      <p:sp>
        <p:nvSpPr>
          <p:cNvPr id="30" name="Text 28"/>
          <p:cNvSpPr txBox="1"/>
          <p:nvPr/>
        </p:nvSpPr>
        <p:spPr>
          <a:xfrm>
            <a:off x="9664979" y="3566160"/>
            <a:ext cx="1859204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B214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Сопровождаем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B214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внедрение до запуска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502920" y="4901184"/>
            <a:ext cx="169164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200" kern="0" dirty="0">
                <a:solidFill>
                  <a:srgbClr val="6B769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НАУКА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4721276" y="4901184"/>
            <a:ext cx="2188388" cy="1152144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C9D3EA"/>
            </a:solidFill>
            <a:prstDash val="solid"/>
          </a:ln>
          <a:effectLst>
            <a:outerShdw sx="100000" sy="100000" kx="0" ky="0" algn="bl" rotWithShape="0" blurRad="177800" dist="50800" dir="5400000">
              <a:srgbClr val="7E88A8">
                <a:alpha val="30000"/>
              </a:srgbClr>
            </a:outerShdw>
          </a:effectLst>
        </p:spPr>
      </p:sp>
      <p:sp>
        <p:nvSpPr>
          <p:cNvPr id="33" name="Text 31"/>
          <p:cNvSpPr txBox="1"/>
          <p:nvPr/>
        </p:nvSpPr>
        <p:spPr>
          <a:xfrm>
            <a:off x="4885868" y="4901184"/>
            <a:ext cx="1859204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Даёт решения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7110832" y="4901184"/>
            <a:ext cx="2188388" cy="1152144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C9D3EA"/>
            </a:solidFill>
            <a:prstDash val="solid"/>
          </a:ln>
          <a:effectLst>
            <a:outerShdw sx="100000" sy="100000" kx="0" ky="0" algn="bl" rotWithShape="0" blurRad="177800" dist="50800" dir="5400000">
              <a:srgbClr val="7E88A8">
                <a:alpha val="30000"/>
              </a:srgbClr>
            </a:outerShdw>
          </a:effectLst>
        </p:spPr>
      </p:sp>
      <p:sp>
        <p:nvSpPr>
          <p:cNvPr id="35" name="Text 33"/>
          <p:cNvSpPr txBox="1"/>
          <p:nvPr/>
        </p:nvSpPr>
        <p:spPr>
          <a:xfrm>
            <a:off x="7275424" y="4901184"/>
            <a:ext cx="1859204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Исполняет НИОКР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9500387" y="4901184"/>
            <a:ext cx="2188388" cy="1152144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C9D3EA"/>
            </a:solidFill>
            <a:prstDash val="solid"/>
          </a:ln>
          <a:effectLst>
            <a:outerShdw sx="100000" sy="100000" kx="0" ky="0" algn="bl" rotWithShape="0" blurRad="177800" dist="50800" dir="5400000">
              <a:srgbClr val="7E88A8">
                <a:alpha val="30000"/>
              </a:srgbClr>
            </a:outerShdw>
          </a:effectLst>
        </p:spPr>
      </p:sp>
      <p:sp>
        <p:nvSpPr>
          <p:cNvPr id="37" name="Text 35"/>
          <p:cNvSpPr txBox="1"/>
          <p:nvPr/>
        </p:nvSpPr>
        <p:spPr>
          <a:xfrm>
            <a:off x="9664979" y="4901184"/>
            <a:ext cx="1859204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Дорабатывает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под производство</a:t>
            </a:r>
            <a:endParaRPr lang="en-US" sz="1600" dirty="0"/>
          </a:p>
        </p:txBody>
      </p:sp>
      <p:sp>
        <p:nvSpPr>
          <p:cNvPr id="38" name="Text 36"/>
          <p:cNvSpPr txBox="1"/>
          <p:nvPr/>
        </p:nvSpPr>
        <p:spPr>
          <a:xfrm>
            <a:off x="50292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Ситалл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 / 10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19456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C9A24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ЧЕМ РАБОТАЕМ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84632" y="512064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Ситалл Скаут: платформа подбора решений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133856"/>
            <a:ext cx="1097280" cy="64008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481328"/>
            <a:ext cx="4114800" cy="470916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22225">
            <a:solidFill>
              <a:srgbClr val="C9A24B"/>
            </a:solidFill>
            <a:prstDash val="solid"/>
          </a:ln>
          <a:effectLst>
            <a:outerShdw sx="100000" sy="100000" kx="0" ky="0" algn="bl" rotWithShape="0" blurRad="177800" dist="50800" dir="5400000">
              <a:srgbClr val="7E88A8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32104" y="1810512"/>
            <a:ext cx="457200" cy="54864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32104" y="2011680"/>
            <a:ext cx="345643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5–7</a:t>
            </a:r>
            <a:endParaRPr lang="en-US" sz="7600" dirty="0"/>
          </a:p>
        </p:txBody>
      </p:sp>
      <p:sp>
        <p:nvSpPr>
          <p:cNvPr id="8" name="Text 6"/>
          <p:cNvSpPr txBox="1"/>
          <p:nvPr/>
        </p:nvSpPr>
        <p:spPr>
          <a:xfrm>
            <a:off x="832104" y="3520440"/>
            <a:ext cx="345643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8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проверенных решений</a:t>
            </a:r>
            <a:endParaRPr lang="en-US" sz="18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8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под задачу предприятия.</a:t>
            </a:r>
            <a:endParaRPr lang="en-US" sz="18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8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Срок: сутки вместо недель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983480" y="1481328"/>
            <a:ext cx="6705295" cy="1426464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12700">
            <a:solidFill>
              <a:srgbClr val="C9D3EA"/>
            </a:solidFill>
            <a:prstDash val="solid"/>
          </a:ln>
          <a:effectLst>
            <a:outerShdw sx="100000" sy="100000" kx="0" ky="0" algn="bl" rotWithShape="0" blurRad="177800" dist="50800" dir="5400000">
              <a:srgbClr val="7E88A8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276088" y="1700784"/>
            <a:ext cx="384048" cy="45720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276088" y="1810512"/>
            <a:ext cx="612007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Проверяет человек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5276088" y="2194560"/>
            <a:ext cx="612007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Инструмент даёт варианты, подтверждает профильный специалист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983480" y="3108960"/>
            <a:ext cx="6705295" cy="1426464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12700">
            <a:solidFill>
              <a:srgbClr val="C9D3EA"/>
            </a:solidFill>
            <a:prstDash val="solid"/>
          </a:ln>
          <a:effectLst>
            <a:outerShdw sx="100000" sy="100000" kx="0" ky="0" algn="bl" rotWithShape="0" blurRad="177800" dist="50800" dir="5400000">
              <a:srgbClr val="7E88A8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276088" y="3328416"/>
            <a:ext cx="384048" cy="45720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276088" y="3438144"/>
            <a:ext cx="612007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Открытые данные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5276088" y="3822192"/>
            <a:ext cx="612007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Публикации, патенты, гранты, российский и мировой веб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983480" y="4736592"/>
            <a:ext cx="6705295" cy="1426464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12700">
            <a:solidFill>
              <a:srgbClr val="C9D3EA"/>
            </a:solidFill>
            <a:prstDash val="solid"/>
          </a:ln>
          <a:effectLst>
            <a:outerShdw sx="100000" sy="100000" kx="0" ky="0" algn="bl" rotWithShape="0" blurRad="177800" dist="50800" dir="5400000">
              <a:srgbClr val="7E88A8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276088" y="4956048"/>
            <a:ext cx="384048" cy="45720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276088" y="5065776"/>
            <a:ext cx="612007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Показываем в деле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5276088" y="5449824"/>
            <a:ext cx="6120079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Демонстрация на вашей задаче — по запросу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50292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Ситалл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 / 10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19456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C9A24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НАПРАВЛЕНИЯ ПОИСКА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84632" y="512064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Что мы можем найти под задачи компании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133856"/>
            <a:ext cx="1097280" cy="64008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444752"/>
            <a:ext cx="3545738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C9D3EA"/>
            </a:solidFill>
            <a:prstDash val="solid"/>
          </a:ln>
          <a:effectLst>
            <a:outerShdw sx="100000" sy="100000" kx="0" ky="0" algn="bl" rotWithShape="0" blurRad="177800" dist="50800" dir="5400000">
              <a:srgbClr val="7E88A8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95528" y="1682496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95528" y="16824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95528" y="2157984"/>
            <a:ext cx="296052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Хмель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795528" y="2615184"/>
            <a:ext cx="2960522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Отечественные сорта, гранулы и экстракты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322978" y="1444752"/>
            <a:ext cx="3545738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22225">
            <a:solidFill>
              <a:srgbClr val="C9A24B"/>
            </a:solidFill>
            <a:prstDash val="solid"/>
          </a:ln>
          <a:effectLst>
            <a:outerShdw sx="100000" sy="100000" kx="0" ky="0" algn="bl" rotWithShape="0" blurRad="177800" dist="50800" dir="5400000">
              <a:srgbClr val="7E88A8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15586" y="1682496"/>
            <a:ext cx="384048" cy="384048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615586" y="16824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615586" y="2157984"/>
            <a:ext cx="296052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Дрожжи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4615586" y="2615184"/>
            <a:ext cx="2960522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Свой банк штаммов, стабильность брожения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143037" y="1444752"/>
            <a:ext cx="3545738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C9D3EA"/>
            </a:solidFill>
            <a:prstDash val="solid"/>
          </a:ln>
          <a:effectLst>
            <a:outerShdw sx="100000" sy="100000" kx="0" ky="0" algn="bl" rotWithShape="0" blurRad="177800" dist="50800" dir="5400000">
              <a:srgbClr val="7E88A8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35645" y="1682496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435645" y="16824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435645" y="2157984"/>
            <a:ext cx="296052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Безалкогольное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8435645" y="2615184"/>
            <a:ext cx="2960522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Деалкоголизация и вкус без спирта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02920" y="3867912"/>
            <a:ext cx="3545738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22225">
            <a:solidFill>
              <a:srgbClr val="C9A24B"/>
            </a:solidFill>
            <a:prstDash val="solid"/>
          </a:ln>
          <a:effectLst>
            <a:outerShdw sx="100000" sy="100000" kx="0" ky="0" algn="bl" rotWithShape="0" blurRad="177800" dist="50800" dir="5400000">
              <a:srgbClr val="7E88A8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95528" y="4105656"/>
            <a:ext cx="384048" cy="384048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95528" y="41056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795528" y="4581144"/>
            <a:ext cx="296052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Солод</a:t>
            </a:r>
            <a:endParaRPr lang="en-US" sz="2000" dirty="0"/>
          </a:p>
        </p:txBody>
      </p:sp>
      <p:sp>
        <p:nvSpPr>
          <p:cNvPr id="24" name="Text 22"/>
          <p:cNvSpPr txBox="1"/>
          <p:nvPr/>
        </p:nvSpPr>
        <p:spPr>
          <a:xfrm>
            <a:off x="795528" y="5038344"/>
            <a:ext cx="2960522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Специальные солода под свои рецептуры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322978" y="3867912"/>
            <a:ext cx="3545738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C9D3EA"/>
            </a:solidFill>
            <a:prstDash val="solid"/>
          </a:ln>
          <a:effectLst>
            <a:outerShdw sx="100000" sy="100000" kx="0" ky="0" algn="bl" rotWithShape="0" blurRad="177800" dist="50800" dir="5400000">
              <a:srgbClr val="7E88A8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15586" y="4105656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4615586" y="41056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5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4615586" y="4581144"/>
            <a:ext cx="296052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Глубокий передел</a:t>
            </a:r>
            <a:endParaRPr lang="en-US" sz="2000" dirty="0"/>
          </a:p>
        </p:txBody>
      </p:sp>
      <p:sp>
        <p:nvSpPr>
          <p:cNvPr id="29" name="Text 27"/>
          <p:cNvSpPr txBox="1"/>
          <p:nvPr/>
        </p:nvSpPr>
        <p:spPr>
          <a:xfrm>
            <a:off x="4615586" y="5038344"/>
            <a:ext cx="2960522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Дробина и осадки: белок выше кормового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8143037" y="3867912"/>
            <a:ext cx="3545738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22225">
            <a:solidFill>
              <a:srgbClr val="C9A24B"/>
            </a:solidFill>
            <a:prstDash val="solid"/>
          </a:ln>
          <a:effectLst>
            <a:outerShdw sx="100000" sy="100000" kx="0" ky="0" algn="bl" rotWithShape="0" blurRad="177800" dist="50800" dir="5400000">
              <a:srgbClr val="7E88A8">
                <a:alpha val="3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435645" y="4105656"/>
            <a:ext cx="384048" cy="384048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8435645" y="41056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6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8435645" y="4581144"/>
            <a:ext cx="296052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Качество</a:t>
            </a:r>
            <a:endParaRPr lang="en-US" sz="2000" dirty="0"/>
          </a:p>
        </p:txBody>
      </p:sp>
      <p:sp>
        <p:nvSpPr>
          <p:cNvPr id="34" name="Text 32"/>
          <p:cNvSpPr txBox="1"/>
          <p:nvPr/>
        </p:nvSpPr>
        <p:spPr>
          <a:xfrm>
            <a:off x="8435645" y="5038344"/>
            <a:ext cx="2960522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Экспресс-микробиология, зрение на линии</a:t>
            </a:r>
            <a:endParaRPr lang="en-US" sz="1600" dirty="0"/>
          </a:p>
        </p:txBody>
      </p:sp>
      <p:sp>
        <p:nvSpPr>
          <p:cNvPr id="35" name="Text 33"/>
          <p:cNvSpPr txBox="1"/>
          <p:nvPr/>
        </p:nvSpPr>
        <p:spPr>
          <a:xfrm>
            <a:off x="502920" y="6053328"/>
            <a:ext cx="111858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Направления — примеры по открытым источникам. Точный список даёт диагностика задачи.</a:t>
            </a:r>
            <a:endParaRPr lang="en-US" sz="1600" dirty="0"/>
          </a:p>
        </p:txBody>
      </p:sp>
      <p:sp>
        <p:nvSpPr>
          <p:cNvPr id="36" name="Text 34"/>
          <p:cNvSpPr txBox="1"/>
          <p:nvPr/>
        </p:nvSpPr>
        <p:spPr>
          <a:xfrm>
            <a:off x="50292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Ситалл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07 / 10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19456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C9A24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ЧТО ПОЛУЧАЕТ КОМПАНИЯ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84632" y="512064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Результат без собственного НИИ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133856"/>
            <a:ext cx="1097280" cy="64008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481328"/>
            <a:ext cx="5437480" cy="2304288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C9D3EA"/>
            </a:solidFill>
            <a:prstDash val="solid"/>
          </a:ln>
          <a:effectLst>
            <a:outerShdw sx="100000" sy="100000" kx="0" ky="0" algn="bl" rotWithShape="0" blurRad="177800" dist="50800" dir="5400000">
              <a:srgbClr val="7E88A8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95528" y="1719072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95528" y="17190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95528" y="2194560"/>
            <a:ext cx="4852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Решение без своего R&amp;D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795528" y="2633472"/>
            <a:ext cx="48522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Экспертизу дают привлечённые профильные учёные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251296" y="1481328"/>
            <a:ext cx="5437480" cy="2304288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22225">
            <a:solidFill>
              <a:srgbClr val="C9A24B"/>
            </a:solidFill>
            <a:prstDash val="solid"/>
          </a:ln>
          <a:effectLst>
            <a:outerShdw sx="100000" sy="100000" kx="0" ky="0" algn="bl" rotWithShape="0" blurRad="177800" dist="50800" dir="5400000">
              <a:srgbClr val="7E88A8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543904" y="1719072"/>
            <a:ext cx="384048" cy="384048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543904" y="17190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543904" y="2194560"/>
            <a:ext cx="4852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Экономика с господдержкой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6543904" y="2633472"/>
            <a:ext cx="48522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На 100 млн ₽ проекта — 15–30 млн ₽ своих: ПП-218 и двойной вычет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02920" y="4096512"/>
            <a:ext cx="5437480" cy="2304288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C9D3EA"/>
            </a:solidFill>
            <a:prstDash val="solid"/>
          </a:ln>
          <a:effectLst>
            <a:outerShdw sx="100000" sy="100000" kx="0" ky="0" algn="bl" rotWithShape="0" blurRad="177800" dist="50800" dir="5400000">
              <a:srgbClr val="7E88A8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95528" y="4334256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95528" y="43342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795528" y="4809744"/>
            <a:ext cx="4852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Один управляющий подрядчик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795528" y="5248656"/>
            <a:ext cx="48522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Вместо десяти переговоров с институтами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251296" y="4096512"/>
            <a:ext cx="5437480" cy="2304288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22225">
            <a:solidFill>
              <a:srgbClr val="C9A24B"/>
            </a:solidFill>
            <a:prstDash val="solid"/>
          </a:ln>
          <a:effectLst>
            <a:outerShdw sx="100000" sy="100000" kx="0" ky="0" algn="bl" rotWithShape="0" blurRad="177800" dist="50800" dir="5400000">
              <a:srgbClr val="7E88A8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543904" y="4334256"/>
            <a:ext cx="384048" cy="384048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543904" y="43342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6543904" y="4809744"/>
            <a:ext cx="4852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20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Ответ за 3–4 недели</a:t>
            </a:r>
            <a:endParaRPr lang="en-US" sz="2000" dirty="0"/>
          </a:p>
        </p:txBody>
      </p:sp>
      <p:sp>
        <p:nvSpPr>
          <p:cNvPr id="24" name="Text 22"/>
          <p:cNvSpPr txBox="1"/>
          <p:nvPr/>
        </p:nvSpPr>
        <p:spPr>
          <a:xfrm>
            <a:off x="6543904" y="5248656"/>
            <a:ext cx="48522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«Подходящей технологии нет» — тоже результат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50292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Ситалл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08 / 10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19456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C9A24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КОМАНДА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84632" y="512064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Доводим проекты до внедрения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133856"/>
            <a:ext cx="1097280" cy="64008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481328"/>
            <a:ext cx="3521354" cy="4709160"/>
          </a:xfrm>
          <a:prstGeom prst="roundRect">
            <a:avLst>
              <a:gd name="adj" fmla="val 2337"/>
            </a:avLst>
          </a:prstGeom>
          <a:solidFill>
            <a:srgbClr val="FFFFFF"/>
          </a:solidFill>
          <a:ln w="12700">
            <a:solidFill>
              <a:srgbClr val="C9D3EA"/>
            </a:solidFill>
            <a:prstDash val="solid"/>
          </a:ln>
          <a:effectLst>
            <a:outerShdw sx="100000" sy="100000" kx="0" ky="0" algn="bl" rotWithShape="0" blurRad="177800" dist="50800" dir="5400000">
              <a:srgbClr val="7E88A8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95528" y="1737360"/>
            <a:ext cx="384048" cy="457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95528" y="1865376"/>
            <a:ext cx="293613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Кирилл</a:t>
            </a:r>
            <a:endParaRPr lang="en-US" sz="2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Уклонский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795528" y="2651760"/>
            <a:ext cx="29361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C9A24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СО-ОСНОВАТЕЛЬ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13816" y="3017520"/>
            <a:ext cx="2954426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«ФинАналитик», Роспатент № 2024618827: учёт 10 млрд ₽ в год</a:t>
            </a:r>
            <a:endParaRPr lang="en-US" sz="1600" dirty="0"/>
          </a:p>
          <a:p>
            <a:pPr marL="152400" indent="-1524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Платформа «Больше, чем путешествие»: 80 000 пользователей</a:t>
            </a:r>
            <a:endParaRPr lang="en-US" sz="1600" dirty="0"/>
          </a:p>
          <a:p>
            <a:pPr marL="152400" indent="-1524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РАНХиГС, госуправление. Преподаватель РЭУ им. Плеханова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335170" y="1481328"/>
            <a:ext cx="3521354" cy="4709160"/>
          </a:xfrm>
          <a:prstGeom prst="roundRect">
            <a:avLst>
              <a:gd name="adj" fmla="val 2337"/>
            </a:avLst>
          </a:prstGeom>
          <a:solidFill>
            <a:srgbClr val="FFFFFF"/>
          </a:solidFill>
          <a:ln w="22225">
            <a:solidFill>
              <a:srgbClr val="C9A24B"/>
            </a:solidFill>
            <a:prstDash val="solid"/>
          </a:ln>
          <a:effectLst>
            <a:outerShdw sx="100000" sy="100000" kx="0" ky="0" algn="bl" rotWithShape="0" blurRad="177800" dist="50800" dir="5400000">
              <a:srgbClr val="7E88A8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27778" y="1737360"/>
            <a:ext cx="384048" cy="45720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627778" y="1865376"/>
            <a:ext cx="293613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Данила</a:t>
            </a:r>
            <a:endParaRPr lang="en-US" sz="2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Кашев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4627778" y="2651760"/>
            <a:ext cx="29361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C9A24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СО-ОСНОВАТЕЛЬ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646066" y="3017520"/>
            <a:ext cx="2954426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X5 Retail: внедрение новых технологий в рознице</a:t>
            </a:r>
            <a:endParaRPr lang="en-US" sz="1600" dirty="0"/>
          </a:p>
          <a:p>
            <a:pPr marL="152400" indent="-1524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ФГУП «ЗащитаИнфоТранс»: реестр отечественного ПО</a:t>
            </a:r>
            <a:endParaRPr lang="en-US" sz="1600" dirty="0"/>
          </a:p>
          <a:p>
            <a:pPr marL="152400" indent="-1524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Студия разработки: 4 → 15 человек, 50+ проектов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167421" y="1481328"/>
            <a:ext cx="3521354" cy="4709160"/>
          </a:xfrm>
          <a:prstGeom prst="roundRect">
            <a:avLst>
              <a:gd name="adj" fmla="val 2337"/>
            </a:avLst>
          </a:prstGeom>
          <a:solidFill>
            <a:srgbClr val="FFFFFF"/>
          </a:solidFill>
          <a:ln w="12700">
            <a:solidFill>
              <a:srgbClr val="C9D3EA"/>
            </a:solidFill>
            <a:prstDash val="solid"/>
          </a:ln>
          <a:effectLst>
            <a:outerShdw sx="100000" sy="100000" kx="0" ky="0" algn="bl" rotWithShape="0" blurRad="177800" dist="50800" dir="5400000">
              <a:srgbClr val="7E88A8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60029" y="1737360"/>
            <a:ext cx="384048" cy="457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460029" y="1865376"/>
            <a:ext cx="293613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Дмитрий</a:t>
            </a:r>
            <a:endParaRPr lang="en-US" sz="2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Пересторонин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8460029" y="2651760"/>
            <a:ext cx="29361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C9A24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РЕГИОНАЛЬНЫЙ ПАРТНЁР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8478317" y="3017520"/>
            <a:ext cx="2954426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Привлечение спонсирования для спортивных мероприятий федерального и международного уровня</a:t>
            </a:r>
            <a:endParaRPr lang="en-US" sz="1600" dirty="0"/>
          </a:p>
          <a:p>
            <a:pPr marL="152400" indent="-152400">
              <a:lnSpc>
                <a:spcPct val="108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Инициатор проектов по созданию и развитию индустриальных парков в Свердловской области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50292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Ситалл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09 / 10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19456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C9A24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ПРЕДЛОЖЕНИЕ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84632" y="512064"/>
            <a:ext cx="111858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Пилот для Московской пивоваренной компании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133856"/>
            <a:ext cx="1097280" cy="64008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02920" y="1426464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50" kern="0" dirty="0">
                <a:solidFill>
                  <a:srgbClr val="C9A24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ЭТАПЫ, КАЖДЫЙ СО СВОЕЙ ТОЧКОЙ ВЫХОДА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792224"/>
            <a:ext cx="6126480" cy="841248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 w="12700">
            <a:solidFill>
              <a:srgbClr val="C9D3EA"/>
            </a:solidFill>
            <a:prstDash val="solid"/>
          </a:ln>
          <a:effectLst>
            <a:outerShdw sx="100000" sy="100000" kx="0" ky="0" algn="bl" rotWithShape="0" blurRad="177800" dist="50800" dir="5400000">
              <a:srgbClr val="7E88A8">
                <a:alpha val="30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777240" y="1792224"/>
            <a:ext cx="45720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Диагностика задачи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5257800" y="1792224"/>
            <a:ext cx="1097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dirty="0">
                <a:solidFill>
                  <a:srgbClr val="C9A24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3–4 нед.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502920" y="2852928"/>
            <a:ext cx="6126480" cy="841248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 w="12700">
            <a:solidFill>
              <a:srgbClr val="C9D3EA"/>
            </a:solidFill>
            <a:prstDash val="solid"/>
          </a:ln>
          <a:effectLst>
            <a:outerShdw sx="100000" sy="100000" kx="0" ky="0" algn="bl" rotWithShape="0" blurRad="177800" dist="50800" dir="5400000">
              <a:srgbClr val="7E88A8">
                <a:alpha val="30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777240" y="2852928"/>
            <a:ext cx="45720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Подбор и проверка: 5–7 решений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5257800" y="2852928"/>
            <a:ext cx="1097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dirty="0">
                <a:solidFill>
                  <a:srgbClr val="C9A24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6–8 нед.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502920" y="3913632"/>
            <a:ext cx="6126480" cy="841248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 w="12700">
            <a:solidFill>
              <a:srgbClr val="C9D3EA"/>
            </a:solidFill>
            <a:prstDash val="solid"/>
          </a:ln>
          <a:effectLst>
            <a:outerShdw sx="100000" sy="100000" kx="0" ky="0" algn="bl" rotWithShape="0" blurRad="177800" dist="50800" dir="5400000">
              <a:srgbClr val="7E88A8">
                <a:alpha val="30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777240" y="3913632"/>
            <a:ext cx="45720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Дальше по выбору компании: сделка,</a:t>
            </a:r>
            <a:endParaRPr lang="en-US" sz="17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господдержка, внедрение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5257800" y="3913632"/>
            <a:ext cx="1097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dirty="0">
                <a:solidFill>
                  <a:srgbClr val="C9A24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—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502920" y="5029200"/>
            <a:ext cx="612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Задачи компании не публикуются: NDA — до начала диагностики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7132320" y="1426464"/>
            <a:ext cx="45564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50" kern="0" dirty="0">
                <a:solidFill>
                  <a:srgbClr val="C9A24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ЧТО ПРОСИМ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132320" y="1865376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132320" y="1865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7680960" y="1737360"/>
            <a:ext cx="400781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Одна технологическая задача компании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7132320" y="2779776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132320" y="27797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7680960" y="2651760"/>
            <a:ext cx="400781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Два часа ваших технологов на диагностику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7132320" y="3694176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132320" y="3694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7680960" y="3566160"/>
            <a:ext cx="400781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Рабочая встреча на площадке в Мытищах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7132320" y="4718304"/>
            <a:ext cx="4556455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22225">
            <a:solidFill>
              <a:srgbClr val="C9A24B"/>
            </a:solidFill>
            <a:prstDash val="solid"/>
          </a:ln>
          <a:effectLst>
            <a:outerShdw sx="100000" sy="100000" kx="0" ky="0" algn="bl" rotWithShape="0" blurRad="177800" dist="50800" dir="5400000">
              <a:srgbClr val="7E88A8">
                <a:alpha val="30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7406640" y="4901184"/>
            <a:ext cx="40078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50" kern="0" dirty="0">
                <a:solidFill>
                  <a:srgbClr val="C9A24B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СЛЕДУЮЩИЙ ШАГ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7406640" y="5193792"/>
            <a:ext cx="40078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1B21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Выбираем задачу пилота и согласуем соглашение о неразглашении. Условия — по итогам диагностики.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502920" y="603504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Кирилл Уклонский · uklonskiy.k@ya.ru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502920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Ситалл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1077437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69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 / 10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Ситалл — для Московской пивоваренной компании</dc:title>
  <dc:subject>PptxGenJS Presentation</dc:subject>
  <dc:creator>Ситалл</dc:creator>
  <cp:lastModifiedBy>Ситалл</cp:lastModifiedBy>
  <cp:revision>1</cp:revision>
  <dcterms:created xsi:type="dcterms:W3CDTF">2026-09-01T17:12:08Z</dcterms:created>
  <dcterms:modified xsi:type="dcterms:W3CDTF">2026-09-01T17:12:08Z</dcterms:modified>
</cp:coreProperties>
</file>