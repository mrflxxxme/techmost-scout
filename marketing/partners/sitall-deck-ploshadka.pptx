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issek.hse.ru/news/849710120.html" TargetMode="External"/><Relationship Id="rId2" Type="http://schemas.openxmlformats.org/officeDocument/2006/relationships/hyperlink" Target="https://issek.hse.ru/news/849710120.html" TargetMode="External"/><Relationship Id="rId3" Type="http://schemas.openxmlformats.org/officeDocument/2006/relationships/hyperlink" Target="https://www.comnews.ru/content/241396/2025-10-01/2025-w40/1008/19-trilliona-rubley-potratyat-nacproekty-tekhnologicheskogo-liderstva-tri-goda" TargetMode="External"/><Relationship Id="rId4" Type="http://schemas.openxmlformats.org/officeDocument/2006/relationships/hyperlink" Target="https://www.rbc.ru/economics/24/12/2024/676a7e719a79473dc5db384f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knowledge.wharton.upenn.edu/article/patents-avoid-failure/" TargetMode="External"/><Relationship Id="rId2" Type="http://schemas.openxmlformats.org/officeDocument/2006/relationships/hyperlink" Target="https://www.mckinsey.com/capabilities/operations/our-insights/capturing-the-true-value-of-industry-four-point-zero" TargetMode="External"/><Relationship Id="rId3" Type="http://schemas.openxmlformats.org/officeDocument/2006/relationships/hyperlink" Target="https://tass.ru/ekonomika/24246605" TargetMode="External"/><Relationship Id="rId4" Type="http://schemas.openxmlformats.org/officeDocument/2006/relationships/hyperlink" Target="https://rospatent.gov.ru/ru/news/na-pmef-2023-obsudili-tehnologicheskoe-predprinimatelstvo-15062023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t.me/ploshadkai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mailto:uklonskiy.k@ya.ru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645920"/>
            <a:ext cx="5303520" cy="5303520"/>
          </a:xfrm>
          <a:prstGeom prst="ellipse">
            <a:avLst/>
          </a:prstGeom>
          <a:ln w="15875">
            <a:solidFill>
              <a:srgbClr val="C9D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822960"/>
            <a:ext cx="3291840" cy="3291840"/>
          </a:xfrm>
          <a:prstGeom prst="ellipse">
            <a:avLst/>
          </a:prstGeom>
          <a:ln w="19050">
            <a:solidFill>
              <a:srgbClr val="B455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3840480"/>
            <a:ext cx="4389120" cy="4389120"/>
          </a:xfrm>
          <a:prstGeom prst="ellipse">
            <a:avLst/>
          </a:prstGeom>
          <a:ln w="15875">
            <a:solidFill>
              <a:srgbClr val="C9D3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СЕНТЯБРЬ 2026 · КОНФИДЕНЦИАЛЬНО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48056" y="9601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</a:t>
            </a:r>
            <a:endParaRPr lang="en-US" sz="800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1371600" cy="82296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" y="30632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Технологический брокер для промышленности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63931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Работаем от задачи предприятия до внедрённой технологии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4343400"/>
            <a:ext cx="6949440" cy="603504"/>
          </a:xfrm>
          <a:prstGeom prst="roundRect">
            <a:avLst>
              <a:gd name="adj" fmla="val 13636"/>
            </a:avLst>
          </a:prstGeom>
          <a:solidFill>
            <a:srgbClr val="E3EAF8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343400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Площадке IT-Заказов: предложение о партнёрстве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594360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Кирилл Уклонский · uklonskiy.k@ya.ru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ЗАДАЧА ГОСУДАРСТВА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Деньги на науку есть. Внедрять технологии некому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810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2% ВВП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542032"/>
            <a:ext cx="4852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цель по затратам на науку к 2030 году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3438144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ИСИЭЗ НИУ ВШЭ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1296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43904" y="1737360"/>
            <a:ext cx="38404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3904" y="1810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×2</a:t>
            </a:r>
            <a:endParaRPr lang="en-US" sz="4400" dirty="0"/>
          </a:p>
        </p:txBody>
      </p:sp>
      <p:sp>
        <p:nvSpPr>
          <p:cNvPr id="13" name="Text 11"/>
          <p:cNvSpPr txBox="1"/>
          <p:nvPr/>
        </p:nvSpPr>
        <p:spPr>
          <a:xfrm>
            <a:off x="6543904" y="2542032"/>
            <a:ext cx="4852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рост частных вложений бизнеса в науку — цель к 2030 году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43904" y="3438144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ИСИЭЗ НИУ ВШЭ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352544"/>
            <a:ext cx="38404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425696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1,9 трлн ₽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5157216"/>
            <a:ext cx="4852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нацпроекты технологического лидерства к 2028 году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6053328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ComNews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51296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43904" y="4352544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43904" y="4425696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2,6 млн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6543904" y="5157216"/>
            <a:ext cx="4852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дефицит кадров. Ставка на производительность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543904" y="6053328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РБК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РАЗРЫВ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Наука не доходит до производства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3521354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810512"/>
            <a:ext cx="293613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80%+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542032"/>
            <a:ext cx="29361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патентов не доходят до применения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4197096"/>
            <a:ext cx="2936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Wharton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35170" y="1481328"/>
            <a:ext cx="3521354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7778" y="1737360"/>
            <a:ext cx="38404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27778" y="1810512"/>
            <a:ext cx="293613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70%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4627778" y="2542032"/>
            <a:ext cx="29361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пилотных проектов не выходят в масштаб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27778" y="4197096"/>
            <a:ext cx="2936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McKinsey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67421" y="1481328"/>
            <a:ext cx="3521354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60029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60029" y="1810512"/>
            <a:ext cx="293613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60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8460029" y="2542032"/>
            <a:ext cx="29361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компаний в стране берут льготу на НИОКР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60029" y="4197096"/>
            <a:ext cx="2936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Решетников, ПМЭФ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892040"/>
            <a:ext cx="64008" cy="137160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2376" y="48006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«</a:t>
            </a:r>
            <a:endParaRPr lang="en-US" sz="48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89204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000" i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Чтобы наука и бизнес нашли друг друга,</a:t>
            </a:r>
            <a:endParaRPr lang="en-US" sz="2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2000" i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нужен технологический брокер»</a:t>
            </a:r>
            <a:endParaRPr lang="en-US" sz="2000" dirty="0"/>
          </a:p>
        </p:txBody>
      </p:sp>
      <p:sp>
        <p:nvSpPr>
          <p:cNvPr id="23" name="Text 21">
            <a:hlinkClick r:id="rId4" tooltip=""/>
          </p:cNvPr>
          <p:cNvSpPr txBox="1"/>
          <p:nvPr/>
        </p:nvSpPr>
        <p:spPr>
          <a:xfrm>
            <a:off x="1371600" y="5861304"/>
            <a:ext cx="1008857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Юрий Зубов, руководитель Роспатента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КТО МЫ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Внешний офис трансфера технологий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190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194560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 задачи, а не от разработки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633472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Начинаем там, где предприятие теряет деньги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51296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43904" y="1719072"/>
            <a:ext cx="384048" cy="384048"/>
          </a:xfrm>
          <a:prstGeom prst="ellipse">
            <a:avLst/>
          </a:prstGeom>
          <a:solidFill>
            <a:srgbClr val="B455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3904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43904" y="2194560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Отвечаем деньгами за внедрение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43904" y="2633472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Часть вознаграждения только при результате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3342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4809744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Господдержку собираем сами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5248656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Документацию готовим мы, а не сотрудники вуза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51296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43904" y="4334256"/>
            <a:ext cx="384048" cy="384048"/>
          </a:xfrm>
          <a:prstGeom prst="ellipse">
            <a:avLst/>
          </a:prstGeom>
          <a:solidFill>
            <a:srgbClr val="B4552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43904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43904" y="4809744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ЦТТ приводим заказчика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543904" y="5248656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Центры трансфера и инжиниринговые центры для нас партнёры и исполнители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КАК ЭТО РАБОТАЕТ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Один цикл: от задачи завода до внедрения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5" name="Shape 3"/>
          <p:cNvSpPr/>
          <p:nvPr/>
        </p:nvSpPr>
        <p:spPr>
          <a:xfrm>
            <a:off x="2331720" y="1444752"/>
            <a:ext cx="218838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331720" y="1554480"/>
            <a:ext cx="21883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1. Задача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21276" y="1444752"/>
            <a:ext cx="218838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21276" y="1554480"/>
            <a:ext cx="21883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2. Поиск и проверка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10832" y="1444752"/>
            <a:ext cx="218838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10832" y="1554480"/>
            <a:ext cx="21883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3. Сделка и поддержка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500387" y="1444752"/>
            <a:ext cx="218838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500387" y="1554480"/>
            <a:ext cx="21883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4. Внедрение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231136"/>
            <a:ext cx="1691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ПРЕДПРИЯТИЕ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331720" y="2231136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496312" y="2231136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Обозначает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потребность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21276" y="2231136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885868" y="2231136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Выбирает из списка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10832" y="2231136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275424" y="2231136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Подписывает договор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00387" y="2231136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664979" y="2231136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Получает работающую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технологию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3566160"/>
            <a:ext cx="1691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331720" y="3566160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2496312" y="3566160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Переводим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 техзадание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21276" y="3566160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885868" y="3566160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Ищем и проверяем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решения и поставщиков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110832" y="3566160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275424" y="3566160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Структурируем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 ведём сделку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500387" y="3566160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664979" y="3566160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Сопровождаем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внедрение до запуска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4901184"/>
            <a:ext cx="1691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НАУКА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21276" y="4901184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4885868" y="4901184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Даёт решения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110832" y="4901184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7275424" y="4901184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Исполняет НИОКР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500387" y="4901184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9664979" y="4901184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Дорабатывает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 производство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ЧЕМ РАБОТАЕМ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 Скаут: платформа подбора решений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4114800" cy="4709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32104" y="1810512"/>
            <a:ext cx="457200" cy="54864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2011680"/>
            <a:ext cx="3456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5–7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3520440"/>
            <a:ext cx="34564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проверенных решений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 задачу предприятия.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Срок: сутки вместо недель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983480" y="1481328"/>
            <a:ext cx="6705295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76088" y="1700784"/>
            <a:ext cx="38404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76088" y="1810512"/>
            <a:ext cx="61200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Проверяет человек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276088" y="2194560"/>
            <a:ext cx="61200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Инструмент даёт варианты, подтверждает профильный специалист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83480" y="3108960"/>
            <a:ext cx="6705295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276088" y="3328416"/>
            <a:ext cx="38404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276088" y="3438144"/>
            <a:ext cx="61200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Открытые данные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276088" y="3822192"/>
            <a:ext cx="61200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Публикации, патенты, гранты, российский и мировой веб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83480" y="4736592"/>
            <a:ext cx="6705295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76088" y="4956048"/>
            <a:ext cx="384048" cy="45720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276088" y="5065776"/>
            <a:ext cx="61200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Показываем в деле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276088" y="5449824"/>
            <a:ext cx="61200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Демонстрация на вашей задаче по запросу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ГДЕ МЫ ДОПОЛНЯЕМ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Вы находите исполнителя. Мы доводим до внедрения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190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194560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Заказчик приходит с задачей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633472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Не с готовым ТЗ. Переводим задачу предприятия в техзадание, с которым можно искать исполнителя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51296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43904" y="1719072"/>
            <a:ext cx="384048" cy="384048"/>
          </a:xfrm>
          <a:prstGeom prst="ellipse">
            <a:avLst/>
          </a:prstGeom>
          <a:solidFill>
            <a:srgbClr val="B455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3904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43904" y="2194560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Часть задач решается не кодом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43904" y="2633472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Технология, материал, процесс: под них находим научное решение и того, кто его сделает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3342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4809744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Сделку структурируем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5248656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Договор с научной организацией, этапы и приёмка, заявка на господдержку — наша зона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51296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43904" y="4334256"/>
            <a:ext cx="384048" cy="384048"/>
          </a:xfrm>
          <a:prstGeom prst="ellipse">
            <a:avLst/>
          </a:prstGeom>
          <a:solidFill>
            <a:srgbClr val="B4552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43904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43904" y="4809744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Отвечаем за внедрение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543904" y="5248656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Сопровождаем до запуска на производстве. Часть вознаграждения — только при результате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ПРЕДЛОЖЕНИЕ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 мы закрываем для вашего заказчика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190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194560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Непрофильная задача — нам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633472"/>
            <a:ext cx="48522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Пришла к вам, но решается не кодом. Механику передачи вы описали сами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3438144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Площадка IT-Заказов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51296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43904" y="1719072"/>
            <a:ext cx="384048" cy="384048"/>
          </a:xfrm>
          <a:prstGeom prst="ellipse">
            <a:avLst/>
          </a:prstGeom>
          <a:solidFill>
            <a:srgbClr val="B4552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43904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43904" y="2194560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Подбор с проверкой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543904" y="2633472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5–7 решений под задачу, каждое со ссылкой на первоисточник и заключением профильного учёного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5528" y="43342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4809744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Сделка и господдержка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5248656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Договор, этапы, приёмка и заявка на софинансирование по проекту вашего заказчика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51296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43904" y="4334256"/>
            <a:ext cx="384048" cy="384048"/>
          </a:xfrm>
          <a:prstGeom prst="ellipse">
            <a:avLst/>
          </a:prstGeom>
          <a:solidFill>
            <a:srgbClr val="B4552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43904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543904" y="4809744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Внедрение до запуска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543904" y="5248656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Ведём проект на производстве. ИТ-часть таких проектов возвращаем на площадку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КАК НАЧНЁМ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Один проект вашего заказчика — от задачи до внедрения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5437480" cy="2075688"/>
          </a:xfrm>
          <a:prstGeom prst="roundRect">
            <a:avLst>
              <a:gd name="adj" fmla="val 3965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190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194560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Одна задача на пробу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633472"/>
            <a:ext cx="485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Берём непрофильную задачу из вашего потока: диагностика и подбор за наш счёт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51296" y="1481328"/>
            <a:ext cx="5437480" cy="2075688"/>
          </a:xfrm>
          <a:prstGeom prst="roundRect">
            <a:avLst>
              <a:gd name="adj" fmla="val 3965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43904" y="1719072"/>
            <a:ext cx="384048" cy="384048"/>
          </a:xfrm>
          <a:prstGeom prst="ellipse">
            <a:avLst/>
          </a:prstGeom>
          <a:solidFill>
            <a:srgbClr val="B455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3904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43904" y="2194560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Результат — заказчику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43904" y="2633472"/>
            <a:ext cx="485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Показываем подбор ему, а не нам в отчёт. Не подошло ни одно решение — говорим об этом прямо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3867912"/>
            <a:ext cx="5437480" cy="2075688"/>
          </a:xfrm>
          <a:prstGeom prst="roundRect">
            <a:avLst>
              <a:gd name="adj" fmla="val 3965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1056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4581144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Дальше сделка и внедрение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5020056"/>
            <a:ext cx="485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Договор, господдержка, сопровождение до запуска — это уже наша работа, не ваша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51296" y="3867912"/>
            <a:ext cx="5437480" cy="2075688"/>
          </a:xfrm>
          <a:prstGeom prst="roundRect">
            <a:avLst>
              <a:gd name="adj" fmla="val 3965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43904" y="4105656"/>
            <a:ext cx="384048" cy="384048"/>
          </a:xfrm>
          <a:prstGeom prst="ellipse">
            <a:avLst/>
          </a:prstGeom>
          <a:solidFill>
            <a:srgbClr val="B4552D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43904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43904" y="4581144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Условия по итогу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543904" y="5020056"/>
            <a:ext cx="4852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Порядок передачи заказов и вознаграждения фиксируем письменно после первого проекта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053328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Вложений с вашей стороны нет. Условия вознаграждения обсуждаем голосом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КОНТАКТЫ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 кем разговаривать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5364328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22225">
            <a:solidFill>
              <a:srgbClr val="B4552D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10512"/>
            <a:ext cx="457200" cy="54864"/>
          </a:xfrm>
          <a:prstGeom prst="rect">
            <a:avLst/>
          </a:prstGeom>
          <a:solidFill>
            <a:srgbClr val="B4552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011680"/>
            <a:ext cx="463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Кирилл Уклонский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78608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СО-ОСНОВАТЕЛЬ</a:t>
            </a:r>
            <a:endParaRPr lang="en-US" sz="1300" dirty="0"/>
          </a:p>
        </p:txBody>
      </p:sp>
      <p:sp>
        <p:nvSpPr>
          <p:cNvPr id="9" name="Text 7">
            <a:hlinkClick r:id="rId1" tooltip=""/>
          </p:cNvPr>
          <p:cNvSpPr txBox="1"/>
          <p:nvPr/>
        </p:nvSpPr>
        <p:spPr>
          <a:xfrm>
            <a:off x="868680" y="2971800"/>
            <a:ext cx="4632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u="sng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uklonskiy.k@ya.ru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86968" y="3566160"/>
            <a:ext cx="45962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«ФинАналитик», Роспатент № 2024618827: учёт 10 млрд ₽ в год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РАНХиГС, госуправление. Преподаватель РЭУ им. Плеханова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Господдержка, структурирование сделок, переговоры с властью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24448" y="1481328"/>
            <a:ext cx="5364328" cy="4709160"/>
          </a:xfrm>
          <a:prstGeom prst="roundRect">
            <a:avLst>
              <a:gd name="adj" fmla="val 1748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690208" y="1810512"/>
            <a:ext cx="4572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90208" y="2011680"/>
            <a:ext cx="46328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Данила Кашев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6690208" y="2578608"/>
            <a:ext cx="463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B4552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СО-ОСНОВАТЕЛЬ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708496" y="3017520"/>
            <a:ext cx="459623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X5 Retail: внедрение новых технологий в рознице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ФГУП «ЗащитаИнфоТранс»: реестр отечественного ПО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Студия разработки: 4 → 15 человек, 50+ проектов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Ситалл — предложение о партнёрстве Площадке IT-Заказов</dc:title>
  <dc:subject>PptxGenJS Presentation</dc:subject>
  <dc:creator>Ситалл</dc:creator>
  <cp:lastModifiedBy>Ситалл</cp:lastModifiedBy>
  <cp:revision>1</cp:revision>
  <dcterms:created xsi:type="dcterms:W3CDTF">2026-09-01T18:30:06Z</dcterms:created>
  <dcterms:modified xsi:type="dcterms:W3CDTF">2026-09-01T18:30:06Z</dcterms:modified>
</cp:coreProperties>
</file>