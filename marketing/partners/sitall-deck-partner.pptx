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66" y="1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9470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ssek.hse.ru/news/849710120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rbc.ru/economics/24/12/2024/676a7e719a79473dc5db384f" TargetMode="External"/><Relationship Id="rId4" Type="http://schemas.openxmlformats.org/officeDocument/2006/relationships/hyperlink" Target="https://www.comnews.ru/content/241396/2025-10-01/2025-w40/1008/19-trilliona-rubley-potratyat-nacproekty-tekhnologicheskogo-liderstva-tri-god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knowledge.wharton.upenn.edu/article/patents-avoid-failur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rospatent.gov.ru/ru/news/na-pmef-2023-obsudili-tehnologicheskoe-predprinimatelstvo-15062023" TargetMode="External"/><Relationship Id="rId5" Type="http://schemas.openxmlformats.org/officeDocument/2006/relationships/hyperlink" Target="https://tass.ru/ekonomika/24246605" TargetMode="External"/><Relationship Id="rId4" Type="http://schemas.openxmlformats.org/officeDocument/2006/relationships/hyperlink" Target="https://www.mckinsey.com/capabilities/operations/our-insights/capturing-the-true-value-of-industry-four-point-zero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5303520" cy="5303520"/>
          </a:xfrm>
          <a:prstGeom prst="ellipse">
            <a:avLst/>
          </a:prstGeom>
          <a:ln w="15875">
            <a:solidFill>
              <a:srgbClr val="C9D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822960"/>
            <a:ext cx="3291840" cy="3291840"/>
          </a:xfrm>
          <a:prstGeom prst="ellipse">
            <a:avLst/>
          </a:prstGeom>
          <a:ln w="19050">
            <a:solidFill>
              <a:srgbClr val="B455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3840480"/>
            <a:ext cx="4389120" cy="4389120"/>
          </a:xfrm>
          <a:prstGeom prst="ellipse">
            <a:avLst/>
          </a:prstGeom>
          <a:ln w="15875">
            <a:solidFill>
              <a:srgbClr val="C9D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АВГУСТ 2026 · КОНФИДЕНЦИАЛЬНО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48056" y="9601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80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1371600" cy="82296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" y="30632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Технологический брокер для промышленности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3931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Работаем от задачи предприятия до внедрённой технологии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4343400"/>
            <a:ext cx="6949440" cy="603504"/>
          </a:xfrm>
          <a:prstGeom prst="roundRect">
            <a:avLst>
              <a:gd name="adj" fmla="val 13636"/>
            </a:avLst>
          </a:prstGeom>
          <a:solidFill>
            <a:srgbClr val="E3EAF8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343400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Борис, п</a:t>
            </a:r>
            <a:r>
              <a:rPr lang="en-US" sz="1800" dirty="0" err="1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риглаш</a:t>
            </a:r>
            <a:r>
              <a:rPr lang="ru-RU" sz="1800" dirty="0" err="1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аем</a:t>
            </a:r>
            <a:r>
              <a:rPr lang="en-US" sz="1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к партнёрству в </a:t>
            </a:r>
            <a:r>
              <a:rPr lang="ru-RU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Краснодарском крае!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ЗАДАЧА ГОСУДАРСТВА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Деньги на науку есть. Внедрять технологии некому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2% ВВП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542032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цель по затратам на науку к 2030 году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438144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ИСИЭЗ НИУ ВШЭ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3904" y="1737360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904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×2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2542032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рост частных вложений бизнеса в науку — цель к 2030 году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3438144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ИСИЭЗ НИУ ВШЭ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352544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425696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1,9 трлн ₽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5157216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нацпроекты технологического лидерства к 2028 году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6053328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ComNews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1296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43904" y="4352544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43904" y="4425696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2,6 млн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6543904" y="5157216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дефицит кадров. Ставка на производительность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543904" y="6053328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РБК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</a:t>
            </a:r>
            <a:r>
              <a:rPr lang="ru-RU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РАЗРЫВ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Наука не доходит до производства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35213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10512"/>
            <a:ext cx="29361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80%+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542032"/>
            <a:ext cx="29361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патентов не доходят до применения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41970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Wharton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5170" y="1481328"/>
            <a:ext cx="35213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7778" y="1737360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27778" y="1810512"/>
            <a:ext cx="29361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70%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542032"/>
            <a:ext cx="29361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пилотных проектов не выходят в масштаб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27778" y="41970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McKinsey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67421" y="1481328"/>
            <a:ext cx="35213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60029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60029" y="1810512"/>
            <a:ext cx="29361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60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460029" y="2542032"/>
            <a:ext cx="29361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компаний в стране берут льготу на НИОКР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60029" y="41970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Решетников, ПМЭФ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892040"/>
            <a:ext cx="64008" cy="137160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825" y="4915775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</a:t>
            </a:r>
            <a:endParaRPr lang="en-US" sz="48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89204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Чтобы наука и бизнес нашли друг </a:t>
            </a:r>
            <a:r>
              <a:rPr lang="en-US" sz="2000" i="1" dirty="0" err="1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друга,нужен</a:t>
            </a:r>
            <a:r>
              <a:rPr lang="en-US" sz="2000" i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технологический брокер»</a:t>
            </a:r>
            <a:endParaRPr lang="en-US" sz="2000" dirty="0"/>
          </a:p>
        </p:txBody>
      </p:sp>
      <p:sp>
        <p:nvSpPr>
          <p:cNvPr id="23" name="Text 21">
            <a:hlinkClick r:id="rId6"/>
          </p:cNvPr>
          <p:cNvSpPr txBox="1"/>
          <p:nvPr/>
        </p:nvSpPr>
        <p:spPr>
          <a:xfrm>
            <a:off x="1371600" y="5861304"/>
            <a:ext cx="10088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Юрий Зубов, руководитель Роспатента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</a:t>
            </a:r>
            <a:r>
              <a:rPr lang="ru-RU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КТО МЫ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Внешний офис трансфера технологий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190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 задачи, а не от разработки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Начинаем там, где предприятие теряет деньги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3904" y="1719072"/>
            <a:ext cx="384048" cy="384048"/>
          </a:xfrm>
          <a:prstGeom prst="ellipse">
            <a:avLst/>
          </a:prstGeom>
          <a:solidFill>
            <a:srgbClr val="B45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904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Отвечаем деньгами за внедрение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Часть вознаграждения только при результате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3342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Господдержку собираем сами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Документацию готовим мы, а не сотрудники предприятия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1296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43904" y="4334256"/>
            <a:ext cx="384048" cy="384048"/>
          </a:xfrm>
          <a:prstGeom prst="ellipse">
            <a:avLst/>
          </a:prstGeom>
          <a:solidFill>
            <a:srgbClr val="B455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43904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43904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Госцентрам приводим заказчика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543904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НОЦ, ЦТТ и фонды для нас партнёры и исполнители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</a:t>
            </a:r>
            <a:r>
              <a:rPr lang="ru-RU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КАК ЭТО РАБОТАЕТ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Один цикл: от задачи завода до внедрения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331720" y="1444752"/>
            <a:ext cx="218838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331720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 Задача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21276" y="1444752"/>
            <a:ext cx="218838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21276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 Поиск и проверка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10832" y="1444752"/>
            <a:ext cx="218838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10832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 Сделка и поддержка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500387" y="1444752"/>
            <a:ext cx="218838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500387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 Внедрение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231136"/>
            <a:ext cx="1691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ПРЕДПРИЯТИЕ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331720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496312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Обозначает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потребность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21276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885868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Выбирает из списка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10832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275424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Подписывает договор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00387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64979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Получает работающую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технологию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566160"/>
            <a:ext cx="1691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331720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2496312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Переводим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 техзадание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21276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885868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Ищем и проверяем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решения и поставщиков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110832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275424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Структурируем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 ведём сделку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500387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664979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Сопровождаем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внедрение до запуска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4901184"/>
            <a:ext cx="1691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НАУКА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21276" y="4901184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4885868" y="4901184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Даёт решения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10832" y="4901184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275424" y="4901184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Исполняет НИОКР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500387" y="4901184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9664979" y="4901184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Дорабатывает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 производство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</a:t>
            </a:r>
            <a:r>
              <a:rPr lang="ru-RU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ЧЕМ РАБОТАЕМ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 Скаут: платформа подбора решений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4114800" cy="4709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32104" y="1810512"/>
            <a:ext cx="457200" cy="54864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2011680"/>
            <a:ext cx="3456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5–7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3520440"/>
            <a:ext cx="3456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проверенных решений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 задачу предприятия.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Срок: сутки вместо недель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83480" y="1481328"/>
            <a:ext cx="6705295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76088" y="1700784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76088" y="1810512"/>
            <a:ext cx="61200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Проверяет человек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276088" y="2194560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Инструмент даёт варианты, подтверждает профильный специалист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83480" y="3108960"/>
            <a:ext cx="6705295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76088" y="3328416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76088" y="3438144"/>
            <a:ext cx="61200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Открытые данные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76088" y="3822192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Публикации, патенты, гранты, российский и мировой веб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83480" y="4736592"/>
            <a:ext cx="6705295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76088" y="4956048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76088" y="5065776"/>
            <a:ext cx="61200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Показываем в деле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276088" y="5449824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Демонстрация на вашей задаче по запросу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</a:t>
            </a:r>
            <a:r>
              <a:rPr lang="ru-RU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ГДЕ МЫ СЕЙЧАС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Компания молодая, и мы этого не скрываем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Ноль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542032"/>
            <a:ext cx="485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внедрённых проектов. </a:t>
            </a:r>
            <a:r>
              <a:rPr lang="en-US" sz="1600" dirty="0" err="1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Первых</a:t>
            </a: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ru-RU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платящих </a:t>
            </a:r>
            <a:r>
              <a:rPr lang="en-US" sz="1600" dirty="0" err="1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клиентов</a:t>
            </a: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ещё нет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51296" y="1481328"/>
            <a:ext cx="543748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43904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43904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400" dirty="0">
                <a:solidFill>
                  <a:srgbClr val="1E2761"/>
                </a:solidFill>
                <a:latin typeface="Segoe UI Semibold" pitchFamily="34" charset="0"/>
                <a:cs typeface="Segoe UI Semibold" pitchFamily="34" charset="-120"/>
              </a:rPr>
              <a:t>Три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543904" y="2542032"/>
            <a:ext cx="485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региона в работе: </a:t>
            </a:r>
            <a:r>
              <a:rPr lang="ru-RU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Москва, </a:t>
            </a:r>
            <a:r>
              <a:rPr lang="en-US" sz="1600" dirty="0" err="1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Свердловская</a:t>
            </a: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600" dirty="0" err="1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область</a:t>
            </a:r>
            <a:r>
              <a:rPr lang="ru-RU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600" dirty="0" err="1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Югра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767328"/>
            <a:ext cx="543748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5528" y="4023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5528" y="4096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Работает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795527" y="4828032"/>
            <a:ext cx="485226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ru-RU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собственная поисковая система решений </a:t>
            </a:r>
            <a:br>
              <a:rPr lang="ru-RU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</a:br>
            <a:r>
              <a:rPr lang="ru-RU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«Ситалл Скаут»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</a:t>
            </a:r>
            <a:r>
              <a:rPr lang="ru-RU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E23AF286-789D-13F6-C18E-FEFF86E1ED5F}"/>
              </a:ext>
            </a:extLst>
          </p:cNvPr>
          <p:cNvSpPr/>
          <p:nvPr/>
        </p:nvSpPr>
        <p:spPr>
          <a:xfrm>
            <a:off x="6251295" y="3767328"/>
            <a:ext cx="543748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130D81FD-367A-42B9-9961-8F449F64FD29}"/>
              </a:ext>
            </a:extLst>
          </p:cNvPr>
          <p:cNvSpPr/>
          <p:nvPr/>
        </p:nvSpPr>
        <p:spPr>
          <a:xfrm>
            <a:off x="6543903" y="4023360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B3EF0234-1D07-4AA9-B4DE-3955535D21BD}"/>
              </a:ext>
            </a:extLst>
          </p:cNvPr>
          <p:cNvSpPr txBox="1"/>
          <p:nvPr/>
        </p:nvSpPr>
        <p:spPr>
          <a:xfrm>
            <a:off x="6543903" y="4096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4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Понимаем</a:t>
            </a:r>
            <a:endParaRPr lang="en-US" sz="4400" dirty="0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C8A4807D-7971-A668-60D0-10B11BC35B11}"/>
              </a:ext>
            </a:extLst>
          </p:cNvPr>
          <p:cNvSpPr txBox="1"/>
          <p:nvPr/>
        </p:nvSpPr>
        <p:spPr>
          <a:xfrm>
            <a:off x="6543903" y="4828032"/>
            <a:ext cx="485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ru-RU" sz="1600" dirty="0">
                <a:solidFill>
                  <a:srgbClr val="1B2140"/>
                </a:solidFill>
                <a:latin typeface="Segoe UI" pitchFamily="34" charset="0"/>
                <a:cs typeface="Segoe UI" pitchFamily="34" charset="-120"/>
              </a:rPr>
              <a:t>делали и умеем руками все этапы производственного цикла внедрения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КОМАНДА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Доводим проекты до внедрения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3521354" cy="47091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65376"/>
            <a:ext cx="29361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</a:t>
            </a: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Уклонский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65176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СО-ОСНОВАТЕЛЬ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13816" y="3017520"/>
            <a:ext cx="295442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«ФинАналитик», Роспатент № 2024618827: учёт 10 млрд ₽ в год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Платформа «Больше, чем путешествие»: 80 000 пользователей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РАНХиГС, госуправление. Преподаватель РЭУ им. Плеханова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35170" y="1481328"/>
            <a:ext cx="3521354" cy="47091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777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27778" y="1865376"/>
            <a:ext cx="29361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Данила</a:t>
            </a: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Кашев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65176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СО-ОСНОВАТЕЛЬ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46066" y="3017520"/>
            <a:ext cx="295442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X5 Retail: внедрение новых технологий в рознице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ФГУП «ЗащитаИнфоТранс»: реестр отечественного ПО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Студия разработки: 4 → 15 человек, 50+ проектов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67421" y="1481328"/>
            <a:ext cx="3521354" cy="47091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60029" y="1737360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60029" y="1865376"/>
            <a:ext cx="29361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2200" dirty="0">
                <a:solidFill>
                  <a:srgbClr val="1E2761"/>
                </a:solidFill>
                <a:latin typeface="Segoe UI Semibold" pitchFamily="34" charset="0"/>
                <a:cs typeface="Segoe UI Semibold" pitchFamily="34" charset="-120"/>
              </a:rPr>
              <a:t>ФИО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460029" y="265176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РЕГИОНАЛЬНЫЙ ПАРТНЁР, </a:t>
            </a:r>
            <a:r>
              <a:rPr lang="ru-RU" sz="1300" kern="0" spc="2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СОЧИ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78317" y="3017520"/>
            <a:ext cx="295442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ru-RU" sz="1600" dirty="0"/>
              <a:t>Место для вашей рекламы</a:t>
            </a:r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endParaRPr lang="ru-RU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</a:t>
            </a:r>
            <a:r>
              <a:rPr lang="ru-RU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РОЛЬ ПАРТНЁРА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Лицо компании в регионе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190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Открываете двери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Приводите нас туда, где вас уже слушают: правительство области, министерства, директора предприятий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3904" y="1719072"/>
            <a:ext cx="384048" cy="384048"/>
          </a:xfrm>
          <a:prstGeom prst="ellipse">
            <a:avLst/>
          </a:prstGeom>
          <a:solidFill>
            <a:srgbClr val="B45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904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Говорите от нашего имени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Ведёте переговоры наравне с нами и представляете компанию своим именем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096512"/>
            <a:ext cx="11185856" cy="185195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3342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Содержание остаётся за нами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5248656"/>
            <a:ext cx="1060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Техническая экспертиза, документы, сроки и цены — наша зона. Вы не отвечаете за то, чего не контролируете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</a:t>
            </a:r>
            <a:r>
              <a:rPr lang="ru-RU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ПОЛУЧАЕТ ПАРТНЁР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Регион закрепляется за вами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Один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542032"/>
            <a:ext cx="485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партнёр на регион. Второго не заводим, пока регион в движении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51296" y="1481328"/>
            <a:ext cx="543748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43904" y="1737360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43904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Бессрочно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543904" y="2542032"/>
            <a:ext cx="485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доля от выручки по приведённым вами </a:t>
            </a:r>
            <a:r>
              <a:rPr lang="en-US" sz="1600" dirty="0" err="1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клиентам</a:t>
            </a: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ru-RU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</a:t>
            </a:r>
            <a:r>
              <a:rPr lang="en-US" sz="1600" dirty="0" err="1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весь</a:t>
            </a: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срок работы с ними, а не только на первой сделке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767328"/>
            <a:ext cx="543748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5528" y="4023360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5528" y="4096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Ноль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4828032"/>
            <a:ext cx="485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вложений с вашей стороны. Ни денег, ни штата, ни офиса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51296" y="3767328"/>
            <a:ext cx="543748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43904" y="4023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43904" y="4096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Голос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6543904" y="4828032"/>
            <a:ext cx="485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 переговорах и в решениях по региону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</a:t>
            </a:r>
            <a:r>
              <a:rPr lang="ru-RU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ПЕРВЫЕ СТО ДНЕЙ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Как выглядит начало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2075688"/>
          </a:xfrm>
          <a:prstGeom prst="roundRect">
            <a:avLst>
              <a:gd name="adj" fmla="val 3965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190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Две-три встречи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633472"/>
            <a:ext cx="485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 людьми, которых вы сами считаете нужными. Материалы </a:t>
            </a:r>
            <a:r>
              <a:rPr lang="en-US" sz="1600" dirty="0" err="1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готовим</a:t>
            </a: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ru-RU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вместе, с тезисами и переговорами поможем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51296" y="1449324"/>
            <a:ext cx="5437480" cy="2075688"/>
          </a:xfrm>
          <a:prstGeom prst="roundRect">
            <a:avLst>
              <a:gd name="adj" fmla="val 3965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43904" y="16870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43904" y="16870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43904" y="2162556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Одна задача предприятия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543904" y="2601468"/>
            <a:ext cx="485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Берём в работу и показываем </a:t>
            </a:r>
            <a:r>
              <a:rPr lang="en-US" sz="1600" dirty="0" err="1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результат</a:t>
            </a: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600" dirty="0" err="1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подбора</a:t>
            </a:r>
            <a:r>
              <a:rPr lang="ru-RU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+ прорабатываем варианты сделок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77260" y="3939703"/>
            <a:ext cx="5437480" cy="2075688"/>
          </a:xfrm>
          <a:prstGeom prst="roundRect">
            <a:avLst>
              <a:gd name="adj" fmla="val 3965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blurRad="177800" dist="50800" dir="5400000" algn="bl" rotWithShape="0">
              <a:srgbClr val="7E88A8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3669868" y="4177447"/>
            <a:ext cx="384048" cy="384048"/>
          </a:xfrm>
          <a:prstGeom prst="ellipse">
            <a:avLst/>
          </a:prstGeom>
          <a:solidFill>
            <a:srgbClr val="B455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669868" y="417744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dirty="0">
                <a:solidFill>
                  <a:srgbClr val="FFFFFF"/>
                </a:solidFill>
                <a:latin typeface="Segoe UI Semibold" pitchFamily="34" charset="0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669868" y="4652935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u-RU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Оцениваем, решаем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3669868" y="5091847"/>
            <a:ext cx="485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</a:t>
            </a:r>
            <a:r>
              <a:rPr lang="en-US" sz="1600" dirty="0" err="1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увидели</a:t>
            </a: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600" dirty="0" err="1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смысла</a:t>
            </a:r>
            <a:r>
              <a:rPr lang="ru-RU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разойдёмся</a:t>
            </a: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без обязательств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</a:t>
            </a:r>
            <a:r>
              <a:rPr lang="ru-RU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693</Words>
  <Application>Microsoft Office PowerPoint</Application>
  <PresentationFormat>Широкоэкранный</PresentationFormat>
  <Paragraphs>176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Segoe UI</vt:lpstr>
      <vt:lpstr>Segoe UI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Ситалл — приглашение к партнёрству в регионе</dc:title>
  <dc:subject>PptxGenJS Presentation</dc:subject>
  <dc:creator>Ситалл</dc:creator>
  <cp:lastModifiedBy>Уклонский Кирилл Андреевич</cp:lastModifiedBy>
  <cp:revision>3</cp:revision>
  <dcterms:created xsi:type="dcterms:W3CDTF">2026-08-26T23:16:19Z</dcterms:created>
  <dcterms:modified xsi:type="dcterms:W3CDTF">2026-08-26T23:44:41Z</dcterms:modified>
</cp:coreProperties>
</file>