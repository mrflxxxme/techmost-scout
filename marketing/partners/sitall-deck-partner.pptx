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8" d="100"/>
          <a:sy n="98" d="100"/>
        </p:scale>
        <p:origin x="66" y="1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9470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issek.hse.ru/news/849710120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rbc.ru/economics/24/12/2024/676a7e719a79473dc5db384f" TargetMode="External"/><Relationship Id="rId4" Type="http://schemas.openxmlformats.org/officeDocument/2006/relationships/hyperlink" Target="https://www.comnews.ru/content/241396/2025-10-01/2025-w40/1008/19-trilliona-rubley-potratyat-nacproekty-tekhnologicheskogo-liderstva-tri-goda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knowledge.wharton.upenn.edu/article/patents-avoid-failure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rospatent.gov.ru/ru/news/na-pmef-2023-obsudili-tehnologicheskoe-predprinimatelstvo-15062023" TargetMode="External"/><Relationship Id="rId5" Type="http://schemas.openxmlformats.org/officeDocument/2006/relationships/hyperlink" Target="https://tass.ru/ekonomika/24246605" TargetMode="External"/><Relationship Id="rId4" Type="http://schemas.openxmlformats.org/officeDocument/2006/relationships/hyperlink" Target="https://www.mckinsey.com/capabilities/operations/our-insights/capturing-the-true-value-of-industry-four-point-zero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645920"/>
            <a:ext cx="5303520" cy="53035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822960"/>
            <a:ext cx="3291840" cy="3291840"/>
          </a:xfrm>
          <a:prstGeom prst="ellipse">
            <a:avLst/>
          </a:prstGeom>
          <a:ln w="19050">
            <a:solidFill>
              <a:srgbClr val="B455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3840480"/>
            <a:ext cx="4389120" cy="4389120"/>
          </a:xfrm>
          <a:prstGeom prst="ellipse">
            <a:avLst/>
          </a:prstGeom>
          <a:ln w="15875">
            <a:solidFill>
              <a:srgbClr val="C9D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3657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АВГУСТ 2026 · КОНФИДЕНЦИАЛЬНО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48056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8000" dirty="0"/>
          </a:p>
        </p:txBody>
      </p:sp>
      <p:sp>
        <p:nvSpPr>
          <p:cNvPr id="7" name="Shape 5"/>
          <p:cNvSpPr/>
          <p:nvPr/>
        </p:nvSpPr>
        <p:spPr>
          <a:xfrm>
            <a:off x="502920" y="2743200"/>
            <a:ext cx="1371600" cy="82296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" y="30632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Технологический брокер для промышленности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63931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Работаем от задачи предприятия до внедрённой технологии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2920" y="4343400"/>
            <a:ext cx="6949440" cy="603504"/>
          </a:xfrm>
          <a:prstGeom prst="roundRect">
            <a:avLst>
              <a:gd name="adj" fmla="val 13636"/>
            </a:avLst>
          </a:prstGeom>
          <a:solidFill>
            <a:srgbClr val="E3EAF8"/>
          </a:solidFill>
          <a:ln w="12700">
            <a:solidFill>
              <a:srgbClr val="C9D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4340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Борис, п</a:t>
            </a:r>
            <a:r>
              <a:rPr lang="en-US" sz="1800" dirty="0" err="1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риглаш</a:t>
            </a:r>
            <a:r>
              <a:rPr lang="ru-RU" sz="1800" dirty="0" err="1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аем</a:t>
            </a:r>
            <a:r>
              <a:rPr lang="en-US" sz="18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к партнёрству в </a:t>
            </a:r>
            <a:r>
              <a:rPr lang="ru-RU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Краснодарском крае!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ЗАДАЧА ГОСУДАРСТВА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Деньги на науку есть. Внедрять технологии некому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2% ВВП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цель по затратам на науку к 2030 году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×2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542032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рост частных вложений бизнеса в науку — цель к 2030 году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3438144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ИСИЭЗ НИУ ВШЭ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52544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1,9 трлн ₽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нацпроекты технологического лидерства к 2028 году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ComNews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52544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425696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2,6 млн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5157216"/>
            <a:ext cx="485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дефицит кадров. Ставка на производительность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6053328"/>
            <a:ext cx="485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РБК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РАЗРЫВ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 не доходит до производства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80%+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патентов не доходят до применения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Wharton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пилотных проектов не выходят в масштаб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McKinsey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3063240"/>
          </a:xfrm>
          <a:prstGeom prst="roundRect">
            <a:avLst>
              <a:gd name="adj" fmla="val 268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10512"/>
            <a:ext cx="293613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542032"/>
            <a:ext cx="293613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компаний в стране берут льготу на НИОКР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60029" y="4197096"/>
            <a:ext cx="29361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Источник: </a:t>
            </a:r>
            <a:r>
              <a:rPr lang="en-US" sz="1200" i="1" u="sng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Решетников, ПМЭФ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92040"/>
            <a:ext cx="64008" cy="137160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825" y="4915775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«</a:t>
            </a:r>
            <a:endParaRPr lang="en-US" sz="48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92040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Чтобы наука и бизнес нашли друг </a:t>
            </a:r>
            <a:r>
              <a:rPr lang="en-US" sz="2000" i="1" dirty="0" err="1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друга,нужен</a:t>
            </a:r>
            <a:r>
              <a:rPr lang="en-US" sz="2000" i="1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технологический брокер»</a:t>
            </a:r>
            <a:endParaRPr lang="en-US" sz="2000" dirty="0"/>
          </a:p>
        </p:txBody>
      </p:sp>
      <p:sp>
        <p:nvSpPr>
          <p:cNvPr id="23" name="Text 21">
            <a:hlinkClick r:id="rId6"/>
          </p:cNvPr>
          <p:cNvSpPr txBox="1"/>
          <p:nvPr/>
        </p:nvSpPr>
        <p:spPr>
          <a:xfrm>
            <a:off x="1371600" y="5861304"/>
            <a:ext cx="100885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rgbClr val="1E2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Юрий Зубов, руководитель Роспатента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КТО МЫ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Внешний офис трансфера технологий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 задачи, а не от разработки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Начинаем там, где предприятие теряет деньги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Отвечаем деньгами за внедрение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Часть вознаграждения только при результате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Господдержку собираем сами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Документацию готовим мы, а не сотрудники предприятия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51296" y="4096512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43904" y="4334256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43904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43904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Госцентрам приводим заказчика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543904" y="5248656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НОЦ, ЦТТ и фонды для нас партнёры и исполнители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ЭТО РАБОТАЕТ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 цикл: от задачи завода до внедрения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2331720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331720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 Задача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21276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21276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 Поиск и проверка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110832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110832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3. Сделка и поддержка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500387" y="1444752"/>
            <a:ext cx="218838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500387" y="1554480"/>
            <a:ext cx="21883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4. Внедрение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231136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ПРЕДПРИЯТИЕ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31720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496312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Обозначает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потребность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21276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885868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Выбирает из списка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110832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275424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Подписывает договор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500387" y="2231136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64979" y="2231136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Получает работающую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технологию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566160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331720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2496312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Переводим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 техзадание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721276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885868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Ищем и проверяем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решения и поставщиков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0832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275424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Структурируем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и ведём сделку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500387" y="3566160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2225">
            <a:solidFill>
              <a:srgbClr val="1E2761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64979" y="3566160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Сопровождаем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внедрение до запуска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901184"/>
            <a:ext cx="1691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6B769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НАУКА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721276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85868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Даёт решения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110832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7275424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Исполняет НИОКР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9500387" y="4901184"/>
            <a:ext cx="2188388" cy="1152144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9664979" y="4901184"/>
            <a:ext cx="185920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Дорабатывает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производство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ЧЕМ РАБОТАЕМ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Ситалл Скаут: платформа подбора решений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4114800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2104" y="1810512"/>
            <a:ext cx="457200" cy="54864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2011680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5–7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3520440"/>
            <a:ext cx="34564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проверенных решений</a:t>
            </a:r>
            <a:endParaRPr lang="en-US" sz="18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 задачу предприятия.</a:t>
            </a:r>
            <a:endParaRPr lang="en-US" sz="18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Срок: сутки вместо недель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983480" y="1481328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76088" y="1700784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76088" y="1810512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Проверяет человек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276088" y="2194560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Инструмент даёт варианты, подтверждает профильный специалист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983480" y="3108960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76088" y="3328416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6088" y="3438144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Открытые данные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3822192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Публикации, патенты, гранты, российский и мировой веб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983480" y="4736592"/>
            <a:ext cx="6705295" cy="1426464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276088" y="4956048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5065776"/>
            <a:ext cx="612007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Показываем в деле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5449824"/>
            <a:ext cx="612007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Демонстрация на вашей задаче по запросу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12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ГДЕ МЫ СЕЙЧАС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Компания молодая, и мы этого не скрываем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Ноль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внедрённых проектов.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Первых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платящих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клиентов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ещё нет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1296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4400" dirty="0">
                <a:solidFill>
                  <a:srgbClr val="1E2761"/>
                </a:solidFill>
                <a:latin typeface="Segoe UI Semibold" pitchFamily="34" charset="0"/>
                <a:cs typeface="Segoe UI Semibold" pitchFamily="34" charset="-120"/>
              </a:rPr>
              <a:t>Три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543904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региона в работе: 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Москва,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Свердловская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область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Югра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5528" y="4023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Работает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95527" y="4828032"/>
            <a:ext cx="485226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собственная поисковая система решений </a:t>
            </a:r>
            <a:b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</a:b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«Ситалл Скаут»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12</a:t>
            </a:r>
            <a:endParaRPr lang="en-US" sz="1200" dirty="0"/>
          </a:p>
        </p:txBody>
      </p:sp>
      <p:sp>
        <p:nvSpPr>
          <p:cNvPr id="37" name="Shape 3">
            <a:extLst>
              <a:ext uri="{FF2B5EF4-FFF2-40B4-BE49-F238E27FC236}">
                <a16:creationId xmlns:a16="http://schemas.microsoft.com/office/drawing/2014/main" id="{E23AF286-789D-13F6-C18E-FEFF86E1ED5F}"/>
              </a:ext>
            </a:extLst>
          </p:cNvPr>
          <p:cNvSpPr/>
          <p:nvPr/>
        </p:nvSpPr>
        <p:spPr>
          <a:xfrm>
            <a:off x="6251295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130D81FD-367A-42B9-9961-8F449F64FD29}"/>
              </a:ext>
            </a:extLst>
          </p:cNvPr>
          <p:cNvSpPr/>
          <p:nvPr/>
        </p:nvSpPr>
        <p:spPr>
          <a:xfrm>
            <a:off x="6543903" y="4023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B3EF0234-1D07-4AA9-B4DE-3955535D21BD}"/>
              </a:ext>
            </a:extLst>
          </p:cNvPr>
          <p:cNvSpPr txBox="1"/>
          <p:nvPr/>
        </p:nvSpPr>
        <p:spPr>
          <a:xfrm>
            <a:off x="6543903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Понимаем</a:t>
            </a:r>
            <a:endParaRPr lang="en-US" sz="4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C8A4807D-7971-A668-60D0-10B11BC35B11}"/>
              </a:ext>
            </a:extLst>
          </p:cNvPr>
          <p:cNvSpPr txBox="1"/>
          <p:nvPr/>
        </p:nvSpPr>
        <p:spPr>
          <a:xfrm>
            <a:off x="6543903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ru-RU" sz="1600" dirty="0">
                <a:solidFill>
                  <a:srgbClr val="1B2140"/>
                </a:solidFill>
                <a:latin typeface="Segoe UI" pitchFamily="34" charset="0"/>
                <a:cs typeface="Segoe UI" pitchFamily="34" charset="-120"/>
              </a:rPr>
              <a:t>делали и умеем руками все этапы производственного цикла внедрения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КОМАНДА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Доводим проекты до внедрения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Кирилл</a:t>
            </a:r>
            <a:endParaRPr lang="en-US" sz="2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Уклонский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«ФинАналитик», Роспатент № 2024618827: учёт 10 млрд ₽ в год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Платформа «Больше, чем путешествие»: 80 000 пользователей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РАНХиГС, госуправление. Преподаватель РЭУ им. Плеханова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335170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777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7778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Данила</a:t>
            </a:r>
            <a:endParaRPr lang="en-US" sz="2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Кашев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СО-ОСНОВАТЕЛЬ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46066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X5 Retail: внедрение новых технологий в рознице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ФГУП «ЗащитаИнфоТранс»: реестр отечественного ПО</a:t>
            </a:r>
            <a:endParaRPr lang="en-US" sz="1600" dirty="0"/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Студия разработки: 4 → 15 человек, 50+ проектов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67421" y="1481328"/>
            <a:ext cx="3521354" cy="4709160"/>
          </a:xfrm>
          <a:prstGeom prst="roundRect">
            <a:avLst>
              <a:gd name="adj" fmla="val 233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60029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60029" y="1865376"/>
            <a:ext cx="293613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u-RU" sz="2200" dirty="0">
                <a:solidFill>
                  <a:srgbClr val="1E2761"/>
                </a:solidFill>
                <a:latin typeface="Segoe UI Semibold" pitchFamily="34" charset="0"/>
                <a:cs typeface="Segoe UI Semibold" pitchFamily="34" charset="-120"/>
              </a:rPr>
              <a:t>ФИО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60029" y="265176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РЕГИОНАЛЬНЫЙ ПАРТНЁР, </a:t>
            </a:r>
            <a:r>
              <a:rPr lang="ru-RU" sz="1300" kern="0" spc="2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СОЧИ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478317" y="3017520"/>
            <a:ext cx="29544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r>
              <a:rPr lang="ru-RU" sz="1600" dirty="0"/>
              <a:t>Место для вашей рекламы</a:t>
            </a:r>
          </a:p>
          <a:p>
            <a:pPr marL="152400" indent="-152400">
              <a:lnSpc>
                <a:spcPct val="108000"/>
              </a:lnSpc>
              <a:spcAft>
                <a:spcPts val="800"/>
              </a:spcAft>
              <a:buSzPct val="100000"/>
              <a:buChar char="•"/>
            </a:pPr>
            <a:endParaRPr lang="ru-RU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РОЛЬ ПАРТНЁРА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Лицо компании в регионе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Открываете двери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Приводите нас туда, где вас уже слушают: правительство области, министерства, директора предприятий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51296" y="1481328"/>
            <a:ext cx="54374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3904" y="1719072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390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43904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Говорите от нашего имени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43904" y="2633472"/>
            <a:ext cx="4852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Ведёте переговоры наравне с нами и представляете компанию своим именем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96512"/>
            <a:ext cx="11185856" cy="1851952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33425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9552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4809744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Содержание остаётся за нами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5248656"/>
            <a:ext cx="1060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Техническая экспертиза, документы, сроки и цены — наша зона. Вы не отвечаете за то, чего не контролируете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ЧТО ПОЛУЧАЕТ ПАРТНЁР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Регион закрепляется за вами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37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Один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партнёр на регион. Второго не заводим, пока регион в движении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51296" y="1481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43904" y="1737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43904" y="1810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Бессрочно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543904" y="2542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доля от выручки по приведённым вами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клиентам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весь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срок работы с ними, а не только на первой сделке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5528" y="4023360"/>
            <a:ext cx="384048" cy="45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95528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Ноль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795528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вложений с вашей стороны. Ни денег, ни штата, ни офиса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51296" y="3767328"/>
            <a:ext cx="5437480" cy="197510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43904" y="4023360"/>
            <a:ext cx="384048" cy="457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43904" y="4096512"/>
            <a:ext cx="48522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Голос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543904" y="4828032"/>
            <a:ext cx="4852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переговорах и в решениях по региону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19456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300" dirty="0">
                <a:solidFill>
                  <a:srgbClr val="B455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ПЕРВЫЕ СТО ДНЕЙ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84632" y="512064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Как выглядит начало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33856"/>
            <a:ext cx="1097280" cy="64008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81328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1719072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9552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95528" y="2194560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Две-три встречи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33472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 людьми, которых вы сами считаете нужными. Материалы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готовим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вместе, с тезисами и переговорами поможем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251296" y="1449324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12700">
            <a:solidFill>
              <a:srgbClr val="C9D3EA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43904" y="16870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43904" y="16870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43904" y="2162556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Одна задача предприятия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43904" y="2601468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Берём в работу и показываем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результат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подбора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+ прорабатываем варианты сделок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77260" y="3939703"/>
            <a:ext cx="5437480" cy="2075688"/>
          </a:xfrm>
          <a:prstGeom prst="roundRect">
            <a:avLst>
              <a:gd name="adj" fmla="val 3965"/>
            </a:avLst>
          </a:prstGeom>
          <a:solidFill>
            <a:srgbClr val="FFFFFF"/>
          </a:solidFill>
          <a:ln w="22225">
            <a:solidFill>
              <a:srgbClr val="B4552D"/>
            </a:solidFill>
            <a:prstDash val="solid"/>
          </a:ln>
          <a:effectLst>
            <a:outerShdw blurRad="177800" dist="50800" dir="5400000" algn="bl" rotWithShape="0">
              <a:srgbClr val="7E88A8">
                <a:alpha val="30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3669868" y="4177447"/>
            <a:ext cx="384048" cy="384048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69868" y="417744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dirty="0">
                <a:solidFill>
                  <a:srgbClr val="FFFFFF"/>
                </a:solidFill>
                <a:latin typeface="Segoe UI Semibold" pitchFamily="34" charset="0"/>
                <a:cs typeface="Segoe UI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669868" y="4652935"/>
            <a:ext cx="485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u-RU" sz="2000" dirty="0">
                <a:solidFill>
                  <a:srgbClr val="1E276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Оцениваем, решаем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3669868" y="5091847"/>
            <a:ext cx="4852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увидели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err="1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смысла</a:t>
            </a:r>
            <a:r>
              <a:rPr lang="ru-RU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разойдёмся</a:t>
            </a:r>
            <a:r>
              <a:rPr lang="en-US" sz="1600" dirty="0">
                <a:solidFill>
                  <a:srgbClr val="1B214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без обязательств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Ситалл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6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685</Words>
  <Application>Microsoft Office PowerPoint</Application>
  <PresentationFormat>Широкоэкранный</PresentationFormat>
  <Paragraphs>176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Segoe UI</vt:lpstr>
      <vt:lpstr>Segoe UI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Ситалл — приглашение к партнёрству в регионе</dc:title>
  <dc:subject>PptxGenJS Presentation</dc:subject>
  <dc:creator>Ситалл</dc:creator>
  <cp:lastModifiedBy>Уклонский Кирилл Андреевич</cp:lastModifiedBy>
  <cp:revision>2</cp:revision>
  <dcterms:created xsi:type="dcterms:W3CDTF">2026-08-26T23:16:19Z</dcterms:created>
  <dcterms:modified xsi:type="dcterms:W3CDTF">2026-08-26T23:36:18Z</dcterms:modified>
</cp:coreProperties>
</file>