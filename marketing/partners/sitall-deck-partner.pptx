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issek.hse.ru/news/849710120.html" TargetMode="External"/><Relationship Id="rId2" Type="http://schemas.openxmlformats.org/officeDocument/2006/relationships/hyperlink" Target="https://issek.hse.ru/news/849710120.html" TargetMode="External"/><Relationship Id="rId3" Type="http://schemas.openxmlformats.org/officeDocument/2006/relationships/hyperlink" Target="https://www.comnews.ru/content/241396/2025-10-01/2025-w40/1008/19-trilliona-rubley-potratyat-nacproekty-tekhnologicheskogo-liderstva-tri-goda" TargetMode="External"/><Relationship Id="rId4" Type="http://schemas.openxmlformats.org/officeDocument/2006/relationships/hyperlink" Target="https://www.rbc.ru/economics/24/12/2024/676a7e719a79473dc5db384f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knowledge.wharton.upenn.edu/article/patents-avoid-failure/" TargetMode="External"/><Relationship Id="rId2" Type="http://schemas.openxmlformats.org/officeDocument/2006/relationships/hyperlink" Target="https://www.mckinsey.com/capabilities/operations/our-insights/capturing-the-true-value-of-industry-four-point-zero" TargetMode="External"/><Relationship Id="rId3" Type="http://schemas.openxmlformats.org/officeDocument/2006/relationships/hyperlink" Target="https://tass.ru/ekonomika/24246605" TargetMode="External"/><Relationship Id="rId4" Type="http://schemas.openxmlformats.org/officeDocument/2006/relationships/hyperlink" Target="https://rospatent.gov.ru/ru/news/na-pmef-2023-obsudili-tehnologicheskoe-predprinimatelstvo-1506202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rospatent.gov.ru/ru/news/rospatent-06122024" TargetMode="External"/><Relationship Id="rId2" Type="http://schemas.openxmlformats.org/officeDocument/2006/relationships/hyperlink" Target="https://rospatent.gov.ru/ru/news/rospatent-0612202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5303520" cy="53035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822960"/>
            <a:ext cx="3291840" cy="3291840"/>
          </a:xfrm>
          <a:prstGeom prst="ellipse">
            <a:avLst/>
          </a:prstGeom>
          <a:ln w="19050">
            <a:solidFill>
              <a:srgbClr val="B455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840480"/>
            <a:ext cx="4389120" cy="43891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АВГУСТ 2026 · КОНФИДЕНЦИАЛЬНО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371600" cy="82296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Технологический брокер для промышленности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639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Работаем от задачи предприятия до внедрённой технологии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343400"/>
            <a:ext cx="6949440" cy="603504"/>
          </a:xfrm>
          <a:prstGeom prst="roundRect">
            <a:avLst>
              <a:gd name="adj" fmla="val 13636"/>
            </a:avLst>
          </a:prstGeom>
          <a:solidFill>
            <a:srgbClr val="E3EAF8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43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Приглашение к партнёрству в регионе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9436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ЗАДАЧА ГОСУДАРСТВА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Деньги на науку есть. Внедрять технологии некому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2% ВВП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по затратам на науку к 2030 году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рост частных вложений бизнеса в науку — цель к 2030 году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5254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1,9 трлн ₽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нацпроекты технологического лидерства к 2028 году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ComNews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52544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2,6 млн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дефицит кадров. Ставка на производительность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РБК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РАЗРЫВ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 не доходит до производства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80%+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патентов не доходят до применения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Wharton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пилотных проектов не выходят в масштаб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McKinsey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компаний в стране берут льготу на НИОКР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Решетников, ПМЭФ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4008" cy="137160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2376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«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9204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Чтобы наука и бизнес нашли друг друга,</a:t>
            </a:r>
            <a:endParaRPr lang="en-US" sz="2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нужен технологический брокер»</a:t>
            </a:r>
            <a:endParaRPr lang="en-US" sz="2000" dirty="0"/>
          </a:p>
        </p:txBody>
      </p:sp>
      <p:sp>
        <p:nvSpPr>
          <p:cNvPr id="23" name="Text 21">
            <a:hlinkClick r:id="rId4" tooltip=""/>
          </p:cNvPr>
          <p:cNvSpPr txBox="1"/>
          <p:nvPr/>
        </p:nvSpPr>
        <p:spPr>
          <a:xfrm>
            <a:off x="1371600" y="5861304"/>
            <a:ext cx="10088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Юрий Зубов, руководитель Роспатента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КТО МЫ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Внешний офис трансфера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 задачи, а не от разработки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Начинаем там, где предприятие теряет деньги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Отвечаем деньгами за внедрение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Часть вознаграждения только при результате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Господдержку собираем сами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Документацию готовим мы, а не сотрудники предприятия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Госцентрам приводим заказчика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НОЦ, ЦТТ и фонды для нас партнёры и исполнители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цикл: от задачи завода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31720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Задача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21276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21276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Поиск и проверка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10832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10832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Сделка и поддержка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500387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0387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Внедрение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31136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ПРЕДПРИЯТИЕ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496312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Обозначает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21276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85868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Выбирает из списка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10832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75424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Подписывает договор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0387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64979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Получает работающую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технологию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566160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331720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496312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Переводим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 техзадание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721276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885868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Ищем и проверяем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решения и поставщиков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0832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75424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Структурируем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 ведём сделку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00387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64979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Сопровождаем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внедрение до запуска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901184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21276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85868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Даёт решения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0832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275424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Исполняет НИОКР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00387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64979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Дорабатывает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производство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ЧЕМ РАБОТАЕМ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 Скаут: платформа подбора решений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4114800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810512"/>
            <a:ext cx="457200" cy="5486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11680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5–7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3520440"/>
            <a:ext cx="3456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проверенных решений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задачу предприятия.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Срок: сутки вместо недель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983480" y="1481328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76088" y="170078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76088" y="1810512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Проверяет человек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21945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даёт варианты, подтверждает профильный специалист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480" y="3108960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76088" y="3328416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6088" y="3438144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382219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Публикации, патенты, гранты, российский и мировой веб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4736592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76088" y="4956048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5065776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Показываем в деле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544982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Демонстрация на вашей задаче по запросу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12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ГДЕ МЫ СЕЙЧАС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Компания молодая, и мы этого не скрываем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Ноль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внедрённых проектов. Первых клиентов ещё нет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Два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региона в работе: Свердловская область и Югра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Работает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подбора. Это действующая система, а не слайд о планах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51296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43904" y="4023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43904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Проверьте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назовите задачу знакомого предприятия — сделаем подбор за свой счёт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" y="5925312"/>
            <a:ext cx="64008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8952" y="5897880"/>
            <a:ext cx="10820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Лучше проверить нас на живой задаче, чем поверить на слово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12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Доводим проекты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Уклонский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«ФинАналитик», Роспатент № 2024618827: учёт 10 млрд ₽ в год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«Больше, чем путешествие»: 80 000 пользователей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РАНХиГС, госуправление. Преподаватель РЭУ им. Плеханова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Данила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Кашев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X5 Retail: внедрение новых технологий в рознице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ФГУП «ЗащитаИнфоТранс»: реестр отечественного ПО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Студия разработки: 4 → 15 человек, 50+ проектов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Дмитрий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Пересторонин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РЕГИОНАЛЬНЫЙ ПАРТНЁР, СВЕРДЛОВСКАЯ ОБЛАСТЬ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78317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Привлечение спонсирования для спортивных мероприятий федерального и международного уровня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Инициатор проектов по созданию и развитию индустриальных парков в Свердловской области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РОЛЬ ПАРТНЁРА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Лицо компании в регионе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Открываете двери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Приводите нас туда, где вас уже слушают: правительство области, министерства, директора предприятий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Говорите от нашего имени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Ведёте переговоры наравне с нами и представляете компанию своим именем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Содержание остаётся за нами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Техническая экспертиза, документы, сроки и цены — наша зона. Вы не отвечаете за то, чего не контролируете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Полномочия описаны письменно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соглашении сказано, что вы можете обещать от лица компании, а что решает компания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ПОЛУЧАЕТ ПАРТНЁР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 закрепляется за вами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партнёр на регион. Второго не заводим, пока регион в движении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Бессрочно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доля от выручки по приведённым вами клиентам — весь срок работы с ними, а не только на первой сделке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Ноль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вложений с вашей стороны. Ни денег, ни штата, ни офиса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51296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43904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43904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Голос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переговорах и в решениях по региону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" y="5925312"/>
            <a:ext cx="64008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8952" y="5897880"/>
            <a:ext cx="10820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Размер доли и границы полномочий обсуждаем при личной встрече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ПЕРВЫЕ СТО ДНЕЙ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выглядит начало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Две-три встречи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 людьми, которых вы сами считаете нужными. Материалы готовим и разговор ведём мы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Ваше присутствие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Важнее любого доклада с вашей стороны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3867912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1056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5811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Одна задача предприятия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020056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Берём в работу и показываем результат подбора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3867912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1056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5811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Дальше решаете вы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020056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 увидели смысла — расходимся без обязательств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05332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Планов по звонкам, отчётности и часов в неделю не будет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ПОЧЕМУ СЕЙЧАС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Место рядом ещё свободно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09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200+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техноброкеров подготовил Роспатент. Работодателя для них в стране нет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1985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Роспатент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041648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429768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370832"/>
            <a:ext cx="4809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Апрель 2024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5102352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Роспатент открыл Центр поддержки коммерциализации: сопровождение вузов и корпораций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" y="59801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Роспатент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1737360"/>
            <a:ext cx="524225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Мы в начале, и в этом весь смысл разговора.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Регионы закрепляются по одному. Свердловская область и Югра уже в работе.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446520" y="4709160"/>
            <a:ext cx="1371600" cy="82296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5029200"/>
            <a:ext cx="52422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544068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uklonskiy.k@ya.ru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Ситалл — приглашение к партнёрству в регионе</dc:title>
  <dc:subject>PptxGenJS Presentation</dc:subject>
  <dc:creator>Ситалл</dc:creator>
  <cp:lastModifiedBy>Ситалл</cp:lastModifiedBy>
  <cp:revision>1</cp:revision>
  <dcterms:created xsi:type="dcterms:W3CDTF">2026-08-26T23:16:19Z</dcterms:created>
  <dcterms:modified xsi:type="dcterms:W3CDTF">2026-08-26T23:16:19Z</dcterms:modified>
</cp:coreProperties>
</file>