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ek.hse.ru/news/1089550497.html" TargetMode="External"/><Relationship Id="rId3" Type="http://schemas.openxmlformats.org/officeDocument/2006/relationships/hyperlink" Target="https://www.comnews.ru/content/241497/2025-09-30/2025-w40/1007/tekhnologicheskoe-liderstvo-uydet-19-trln-rub" TargetMode="External"/><Relationship Id="rId4" Type="http://schemas.openxmlformats.org/officeDocument/2006/relationships/hyperlink" Target="https://www.rbc.ru/economics/26/01/2026/6977cac89a7947009cdfec9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ckinstitute.wharton.upenn.edu/wp-content/uploads/2019/08/FP0357b_WP_2019Jan.pdf" TargetMode="External"/><Relationship Id="rId3" Type="http://schemas.openxmlformats.org/officeDocument/2006/relationships/hyperlink" Target="https://www.mckinsey.com/capabilities/operations/our-insights/how-digital-manufacturing-can-escape-pilot-purgatory" TargetMode="External"/><Relationship Id="rId4" Type="http://schemas.openxmlformats.org/officeDocument/2006/relationships/hyperlink" Target="https://d-russia.ru/pochemu-ne-vostrebovany-nalogovye-lgoty-na-niokr-minekonomrazvitiya.html" TargetMode="External"/><Relationship Id="rId5" Type="http://schemas.openxmlformats.org/officeDocument/2006/relationships/hyperlink" Target="https://rospatent.gov.ru/ru/news/rospatent-0612202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-2286000"/>
            <a:ext cx="6583680" cy="6583680"/>
          </a:xfrm>
          <a:prstGeom prst="ellipse">
            <a:avLst/>
          </a:prstGeom>
          <a:noFill/>
          <a:ln w="15875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3017520"/>
            <a:ext cx="4937760" cy="4937760"/>
          </a:xfrm>
          <a:prstGeom prst="ellipse">
            <a:avLst/>
          </a:prstGeom>
          <a:noFill/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280160"/>
            <a:ext cx="3017520" cy="3017520"/>
          </a:xfrm>
          <a:prstGeom prst="ellipse">
            <a:avLst/>
          </a:prstGeom>
          <a:noFill/>
          <a:ln w="158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АВГУСТ 2026 · КОНФИДЕНЦИАЛЬНО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5" y="137160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0" b="0" i="0">
                <a:solidFill>
                  <a:srgbClr val="1E2761"/>
                </a:solidFill>
                <a:latin typeface="Segoe UI Semibold"/>
              </a:rPr>
              <a:t>Ситалл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72384"/>
            <a:ext cx="1828800" cy="685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46704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700" b="0" i="0">
                <a:solidFill>
                  <a:srgbClr val="1E2761"/>
                </a:solidFill>
                <a:latin typeface="Segoe UI"/>
              </a:rPr>
              <a:t>Технологический брокер
для промышленности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1830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700" b="0" i="0">
                <a:solidFill>
                  <a:srgbClr val="1B2140"/>
                </a:solidFill>
                <a:latin typeface="Segoe UI"/>
              </a:rPr>
              <a:t>От задачи предприятия до внедрённой технологии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132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1">
                <a:solidFill>
                  <a:srgbClr val="6B7699"/>
                </a:solidFill>
                <a:latin typeface="Segoe UI"/>
              </a:rPr>
              <a:t>Ситалл: стекло, которому наука дала прочность. 1958 год, лаборатория Китайгородского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4476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Кирилл Уклонский · uklonskiy.k@ya.ru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ЗАДАЧА ГОСУДАРСТВА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Деньги на науку есть. Внедрять их некому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5262372" cy="2139696"/>
          </a:xfrm>
          <a:prstGeom prst="roundRect">
            <a:avLst>
              <a:gd name="adj" fmla="val 5982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59" y="1751076"/>
            <a:ext cx="5125212" cy="2002536"/>
          </a:xfrm>
          <a:prstGeom prst="roundRect">
            <a:avLst>
              <a:gd name="adj" fmla="val 4566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0976" y="1993392"/>
            <a:ext cx="457200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31136"/>
            <a:ext cx="46405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 i="0">
                <a:solidFill>
                  <a:srgbClr val="1E2761"/>
                </a:solidFill>
                <a:latin typeface="Segoe UI Semibold"/>
              </a:rPr>
              <a:t>2% ВВП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104388"/>
            <a:ext cx="4640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 i="0">
                <a:solidFill>
                  <a:srgbClr val="1B2140"/>
                </a:solidFill>
                <a:latin typeface="Segoe UI"/>
              </a:rPr>
              <a:t>затраты на науку к 2030 году. Сейчас около 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438144"/>
            <a:ext cx="4640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2"/>
              </a:rPr>
              <a:t>ИСИЭЗ НИУ ВШЭ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1682496"/>
            <a:ext cx="5262372" cy="2139696"/>
          </a:xfrm>
          <a:prstGeom prst="roundRect">
            <a:avLst>
              <a:gd name="adj" fmla="val 5982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97396" y="1993392"/>
            <a:ext cx="45720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7396" y="2231136"/>
            <a:ext cx="46405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 i="0">
                <a:solidFill>
                  <a:srgbClr val="C9A24B"/>
                </a:solidFill>
                <a:latin typeface="Segoe UI Semibold"/>
              </a:rPr>
              <a:t>×2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7396" y="3104388"/>
            <a:ext cx="4640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 i="0">
                <a:solidFill>
                  <a:srgbClr val="1B2140"/>
                </a:solidFill>
                <a:latin typeface="Segoe UI"/>
              </a:rPr>
              <a:t>рост частных вложений бизнеса в науку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7396" y="3438144"/>
            <a:ext cx="4640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2"/>
              </a:rPr>
              <a:t>ИСИЭЗ НИУ ВШЭ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96511"/>
            <a:ext cx="5262372" cy="2139696"/>
          </a:xfrm>
          <a:prstGeom prst="roundRect">
            <a:avLst>
              <a:gd name="adj" fmla="val 5982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" y="4407407"/>
            <a:ext cx="45720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645151"/>
            <a:ext cx="46405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 i="0">
                <a:solidFill>
                  <a:srgbClr val="C9A24B"/>
                </a:solidFill>
                <a:latin typeface="Segoe UI Semibold"/>
              </a:rPr>
              <a:t>1,9 трлн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5518403"/>
            <a:ext cx="4640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 i="0">
                <a:solidFill>
                  <a:srgbClr val="1B2140"/>
                </a:solidFill>
                <a:latin typeface="Segoe UI"/>
              </a:rPr>
              <a:t>нацпроекты технологического лидерства, 2026–2028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852159"/>
            <a:ext cx="4640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3"/>
              </a:rPr>
              <a:t>ComNews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6500" y="4096511"/>
            <a:ext cx="5262372" cy="2139696"/>
          </a:xfrm>
          <a:prstGeom prst="roundRect">
            <a:avLst>
              <a:gd name="adj" fmla="val 5982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55080" y="4165091"/>
            <a:ext cx="5125212" cy="2002536"/>
          </a:xfrm>
          <a:prstGeom prst="roundRect">
            <a:avLst>
              <a:gd name="adj" fmla="val 4566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97396" y="4407407"/>
            <a:ext cx="457200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7396" y="4645151"/>
            <a:ext cx="46405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 i="0">
                <a:solidFill>
                  <a:srgbClr val="1E2761"/>
                </a:solidFill>
                <a:latin typeface="Segoe UI Semibold"/>
              </a:rPr>
              <a:t>2,6 млн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7396" y="5518403"/>
            <a:ext cx="4640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 i="0">
                <a:solidFill>
                  <a:srgbClr val="1B2140"/>
                </a:solidFill>
                <a:latin typeface="Segoe UI"/>
              </a:rPr>
              <a:t>дефицит кадров. Расти можно только производительностью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7396" y="5852159"/>
            <a:ext cx="4640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4"/>
              </a:rPr>
              <a:t>РБК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РАЗРЫВ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Наука не доходит до производства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07741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59" y="1805939"/>
            <a:ext cx="2370582" cy="2350008"/>
          </a:xfrm>
          <a:prstGeom prst="roundRect">
            <a:avLst>
              <a:gd name="adj" fmla="val 3891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0976" y="2048255"/>
            <a:ext cx="457200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86000"/>
            <a:ext cx="188594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 i="0">
                <a:solidFill>
                  <a:srgbClr val="1E2761"/>
                </a:solidFill>
                <a:latin typeface="Segoe UI Semibold"/>
              </a:rPr>
              <a:t>80%+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078480"/>
            <a:ext cx="1885949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0" i="0">
                <a:solidFill>
                  <a:srgbClr val="1B2140"/>
                </a:solidFill>
                <a:latin typeface="Segoe UI"/>
              </a:rPr>
              <a:t>патентов не доходят до применения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840480"/>
            <a:ext cx="18859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2"/>
              </a:rPr>
              <a:t>Wharton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0429" y="1737360"/>
            <a:ext cx="2507741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51325" y="2048255"/>
            <a:ext cx="45720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1325" y="2286000"/>
            <a:ext cx="188594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 i="0">
                <a:solidFill>
                  <a:srgbClr val="C9A24B"/>
                </a:solidFill>
                <a:latin typeface="Segoe UI Semibold"/>
              </a:rP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1325" y="3078480"/>
            <a:ext cx="1885949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0" i="0">
                <a:solidFill>
                  <a:srgbClr val="1B2140"/>
                </a:solidFill>
                <a:latin typeface="Segoe UI"/>
              </a:rPr>
              <a:t>пилотных проектов не выходят в масштаб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1325" y="3840480"/>
            <a:ext cx="18859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3"/>
              </a:rPr>
              <a:t>McKinsey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0779" y="1737360"/>
            <a:ext cx="2507741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59" y="1805939"/>
            <a:ext cx="2370582" cy="2350008"/>
          </a:xfrm>
          <a:prstGeom prst="roundRect">
            <a:avLst>
              <a:gd name="adj" fmla="val 3891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51675" y="2048255"/>
            <a:ext cx="457200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1675" y="2286000"/>
            <a:ext cx="188594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 i="0">
                <a:solidFill>
                  <a:srgbClr val="1E2761"/>
                </a:solidFill>
                <a:latin typeface="Segoe UI Semibold"/>
              </a:rP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5" y="3078480"/>
            <a:ext cx="1885949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0" i="0">
                <a:solidFill>
                  <a:srgbClr val="1B2140"/>
                </a:solidFill>
                <a:latin typeface="Segoe UI"/>
              </a:rPr>
              <a:t>компаний в стране берут льготу на НИОКР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1675" y="3840480"/>
            <a:ext cx="18859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4"/>
              </a:rPr>
              <a:t>Решетников, ПМЭФ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1129" y="1737360"/>
            <a:ext cx="2507741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52025" y="2048255"/>
            <a:ext cx="45720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2025" y="2286000"/>
            <a:ext cx="188594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 i="0">
                <a:solidFill>
                  <a:srgbClr val="C9A24B"/>
                </a:solidFill>
                <a:latin typeface="Segoe UI Semibold"/>
              </a:rP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2025" y="3078480"/>
            <a:ext cx="1885949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0" i="0">
                <a:solidFill>
                  <a:srgbClr val="1B2140"/>
                </a:solidFill>
                <a:latin typeface="Segoe UI"/>
              </a:rPr>
              <a:t>техноброкеров обучил Роспатент. Работать негде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2025" y="3840480"/>
            <a:ext cx="18859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5"/>
              </a:rPr>
              <a:t>Роспатент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608576"/>
            <a:ext cx="54864" cy="13258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7" y="4480560"/>
            <a:ext cx="548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5200" b="0" i="0">
                <a:solidFill>
                  <a:srgbClr val="C9A24B"/>
                </a:solidFill>
                <a:latin typeface="Segoe UI Semibold"/>
              </a:rPr>
              <a:t>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4626864"/>
            <a:ext cx="97200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0" i="1">
                <a:solidFill>
                  <a:srgbClr val="1E2761"/>
                </a:solidFill>
                <a:latin typeface="Segoe UI"/>
              </a:rPr>
              <a:t>Чтобы наука и бизнес нашли друг друга,
нужен технологический брокер»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5541264"/>
            <a:ext cx="9720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 u="sng">
                <a:solidFill>
                  <a:srgbClr val="6B7699"/>
                </a:solidFill>
                <a:latin typeface="Segoe UI Semibold"/>
                <a:hlinkClick r:id="rId5"/>
              </a:rPr>
              <a:t>Юрий Зубов, руководитель Роспатента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РЕГИОН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[Регион]: сильная база, незакрытое звено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07741" cy="2926080"/>
          </a:xfrm>
          <a:prstGeom prst="roundRect">
            <a:avLst>
              <a:gd name="adj" fmla="val 510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59" y="1805939"/>
            <a:ext cx="2370582" cy="2788920"/>
          </a:xfrm>
          <a:prstGeom prst="roundRect">
            <a:avLst>
              <a:gd name="adj" fmla="val 3857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0976" y="2048255"/>
            <a:ext cx="457200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86000"/>
            <a:ext cx="188594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1E2761"/>
                </a:solidFill>
                <a:latin typeface="Segoe UI Semibold"/>
              </a:rPr>
              <a:t>[цифра]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863088"/>
            <a:ext cx="1885949" cy="1343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[сильная сторона региона в промышленности]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279392"/>
            <a:ext cx="18859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>
                <a:solidFill>
                  <a:srgbClr val="6B7699"/>
                </a:solidFill>
                <a:latin typeface="Segoe UI"/>
              </a:rPr>
              <a:t>[источник]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0429" y="1737360"/>
            <a:ext cx="2507741" cy="2926080"/>
          </a:xfrm>
          <a:prstGeom prst="roundRect">
            <a:avLst>
              <a:gd name="adj" fmla="val 5104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51325" y="2048255"/>
            <a:ext cx="45720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1325" y="2286000"/>
            <a:ext cx="188594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C9A24B"/>
                </a:solidFill>
                <a:latin typeface="Segoe UI Semibold"/>
              </a:rPr>
              <a:t>[цифра]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1325" y="2863088"/>
            <a:ext cx="1885949" cy="1343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[участие в федеральных программах, эффект]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1325" y="4279392"/>
            <a:ext cx="18859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>
                <a:solidFill>
                  <a:srgbClr val="6B7699"/>
                </a:solidFill>
                <a:latin typeface="Segoe UI"/>
              </a:rPr>
              <a:t>[источник]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0779" y="1737360"/>
            <a:ext cx="2507741" cy="2926080"/>
          </a:xfrm>
          <a:prstGeom prst="roundRect">
            <a:avLst>
              <a:gd name="adj" fmla="val 510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59" y="1805939"/>
            <a:ext cx="2370582" cy="2788920"/>
          </a:xfrm>
          <a:prstGeom prst="roundRect">
            <a:avLst>
              <a:gd name="adj" fmla="val 3857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51675" y="2048255"/>
            <a:ext cx="457200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1675" y="2286000"/>
            <a:ext cx="188594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1E2761"/>
                </a:solidFill>
                <a:latin typeface="Segoe UI Semibold"/>
              </a:rPr>
              <a:t>[цифра]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5" y="2863088"/>
            <a:ext cx="1885949" cy="1343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[региональные меры поддержки]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1675" y="4279392"/>
            <a:ext cx="18859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>
                <a:solidFill>
                  <a:srgbClr val="6B7699"/>
                </a:solidFill>
                <a:latin typeface="Segoe UI"/>
              </a:rPr>
              <a:t>[источник]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1129" y="1737360"/>
            <a:ext cx="2507741" cy="2926080"/>
          </a:xfrm>
          <a:prstGeom prst="roundRect">
            <a:avLst>
              <a:gd name="adj" fmla="val 5104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52025" y="2048255"/>
            <a:ext cx="45720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2025" y="2286000"/>
            <a:ext cx="188594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0" i="0">
                <a:solidFill>
                  <a:srgbClr val="C9A24B"/>
                </a:solidFill>
                <a:latin typeface="Segoe UI Semibold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2025" y="3132328"/>
            <a:ext cx="1885949" cy="1073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структур отвечает за путь от задачи завода до внедрения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2025" y="4279392"/>
            <a:ext cx="18859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>
                <a:solidFill>
                  <a:srgbClr val="6B7699"/>
                </a:solidFill>
                <a:latin typeface="Segoe UI"/>
              </a:rPr>
              <a:t>наша оценка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120640"/>
            <a:ext cx="54864" cy="56692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7" y="5102352"/>
            <a:ext cx="103601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500" b="0" i="0">
                <a:solidFill>
                  <a:srgbClr val="1E2761"/>
                </a:solidFill>
                <a:latin typeface="Segoe UI Semibold"/>
              </a:rPr>
              <a:t>Вся инфраструктура региона работает от разработки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КАК ЭТО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Один цикл: от задачи завода до внедрения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21408" y="1664208"/>
            <a:ext cx="2233422" cy="45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21408" y="1792224"/>
            <a:ext cx="22334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1. Задача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19422" y="1664208"/>
            <a:ext cx="2233422" cy="45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9422" y="1792224"/>
            <a:ext cx="22334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2. Поиск и проверка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917436" y="1664208"/>
            <a:ext cx="2233422" cy="45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7436" y="1792224"/>
            <a:ext cx="22334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3. Сделка и поддержка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5450" y="1664208"/>
            <a:ext cx="2233422" cy="45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5450" y="1792224"/>
            <a:ext cx="22334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4. Внедрение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31136"/>
            <a:ext cx="129844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6B7699"/>
                </a:solidFill>
                <a:latin typeface="Segoe UI Semibold"/>
              </a:rPr>
              <a:t>ПРЕДПРИЯТИЕ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21408" y="2231136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2231136"/>
            <a:ext cx="179451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называет задачу
и её цену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9422" y="2231136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8878" y="2231136"/>
            <a:ext cx="179451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выбирает из списка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7436" y="2231136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6892" y="2231136"/>
            <a:ext cx="179451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подписывает договор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15450" y="2231136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4906" y="2231136"/>
            <a:ext cx="179451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получает технологию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91840"/>
            <a:ext cx="129844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1E2761"/>
                </a:solidFill>
                <a:latin typeface="Segoe UI Semibold"/>
              </a:rPr>
              <a:t>СИТАЛЛ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21408" y="3291840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254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40864" y="3291840"/>
            <a:ext cx="179451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переводит
в техзадание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19422" y="3291840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254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8878" y="3291840"/>
            <a:ext cx="179451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ищет и проверяет
с учёными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17436" y="3291840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254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6892" y="3291840"/>
            <a:ext cx="179451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собирает сделку
и поддержку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15450" y="3291840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254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4906" y="3291840"/>
            <a:ext cx="179451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ведёт до пуска,
отвечает за срок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352544"/>
            <a:ext cx="129844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6B7699"/>
                </a:solidFill>
                <a:latin typeface="Segoe UI Semibold"/>
              </a:rPr>
              <a:t>НАУКА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19422" y="4352544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8878" y="4352544"/>
            <a:ext cx="179451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даёт решения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17436" y="4352544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6892" y="4352544"/>
            <a:ext cx="179451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исполняет НИОКР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15450" y="4352544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34906" y="4352544"/>
            <a:ext cx="179451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дорабатывает
под производство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468112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250">
                <a:solidFill>
                  <a:srgbClr val="C9A24B"/>
                </a:solidFill>
                <a:latin typeface="Segoe UI Semibold"/>
              </a:rPr>
              <a:t>ГОСУДАРСТВЕННЫЕ ИНСТРУМЕНТЫ, КОТОРЫЕ МЫ ПОДКЛЮЧАЕМ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833872"/>
            <a:ext cx="2521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1E2761"/>
                </a:solidFill>
                <a:latin typeface="Segoe UI Semibold"/>
              </a:rPr>
              <a:t>Постановление № 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071616"/>
            <a:ext cx="2521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>
                <a:solidFill>
                  <a:srgbClr val="6B7699"/>
                </a:solidFill>
                <a:latin typeface="Segoe UI"/>
              </a:rPr>
              <a:t>до 70% стоимости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35857" y="5833872"/>
            <a:ext cx="2521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1E2761"/>
                </a:solidFill>
                <a:latin typeface="Segoe UI Semibold"/>
              </a:rPr>
              <a:t>Коэффициент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35857" y="6071616"/>
            <a:ext cx="2521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>
                <a:solidFill>
                  <a:srgbClr val="6B7699"/>
                </a:solidFill>
                <a:latin typeface="Segoe UI"/>
              </a:rPr>
              <a:t>по налогу на прибыль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1636" y="5833872"/>
            <a:ext cx="2521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1E2761"/>
                </a:solidFill>
                <a:latin typeface="Segoe UI Semibold"/>
              </a:rPr>
              <a:t>Грант на доращивание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1636" y="6071616"/>
            <a:ext cx="2521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>
                <a:solidFill>
                  <a:srgbClr val="6B7699"/>
                </a:solidFill>
                <a:latin typeface="Segoe UI"/>
              </a:rPr>
              <a:t>до 250 млн 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27413" y="5833872"/>
            <a:ext cx="2521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1E2761"/>
                </a:solidFill>
                <a:latin typeface="Segoe UI Semibold"/>
              </a:rPr>
              <a:t>Займы фонда региона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27413" y="6071616"/>
            <a:ext cx="2521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>
                <a:solidFill>
                  <a:srgbClr val="6B7699"/>
                </a:solidFill>
                <a:latin typeface="Segoe UI"/>
              </a:rPr>
              <a:t>20–200 млн 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КТО 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Внешний офис трансфера технологий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59" y="1805939"/>
            <a:ext cx="5125212" cy="2075688"/>
          </a:xfrm>
          <a:prstGeom prst="roundRect">
            <a:avLst>
              <a:gd name="adj" fmla="val 4405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1031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3055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61488"/>
            <a:ext cx="45308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 i="0">
                <a:solidFill>
                  <a:srgbClr val="1E2761"/>
                </a:solidFill>
                <a:latin typeface="Segoe UI Semibold"/>
              </a:rPr>
              <a:t>От задачи, а не от разработки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11296"/>
            <a:ext cx="45308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Начинаем там, где предприятие теряет деньги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1737360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52260" y="2103120"/>
            <a:ext cx="457200" cy="457200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2260" y="213055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2260" y="2761488"/>
            <a:ext cx="45308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 i="0">
                <a:solidFill>
                  <a:srgbClr val="1E2761"/>
                </a:solidFill>
                <a:latin typeface="Segoe UI Semibold"/>
              </a:rPr>
              <a:t>Отвечаем деньгами за внедрение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2260" y="3511296"/>
            <a:ext cx="45308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Часть вознаграждения только при результате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24527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8659" y="4293107"/>
            <a:ext cx="5125212" cy="2075688"/>
          </a:xfrm>
          <a:prstGeom prst="roundRect">
            <a:avLst>
              <a:gd name="adj" fmla="val 4405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459028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48655"/>
            <a:ext cx="45308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 i="0">
                <a:solidFill>
                  <a:srgbClr val="1E2761"/>
                </a:solidFill>
                <a:latin typeface="Segoe UI Semibold"/>
              </a:rPr>
              <a:t>Господдержку собираем сами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998463"/>
            <a:ext cx="45308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Заявки готовим мы, а не сотрудники завода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500" y="4224527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52260" y="4590288"/>
            <a:ext cx="457200" cy="457200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2260" y="46177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2260" y="5248655"/>
            <a:ext cx="45308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 i="0">
                <a:solidFill>
                  <a:srgbClr val="1E2761"/>
                </a:solidFill>
                <a:latin typeface="Segoe UI Semibold"/>
              </a:rPr>
              <a:t>Госцентрам приводим заказчика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2260" y="5998463"/>
            <a:ext cx="45308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НОЦ, ЦТТ и фонды для нас партнёры и исполнители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ЧЕМ РАБОТАЕМ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Ситалл Скаут: подбор решений за сутки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4363516" cy="4023360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254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103120"/>
            <a:ext cx="548640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95728"/>
            <a:ext cx="34491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0" b="0" i="0">
                <a:solidFill>
                  <a:srgbClr val="1E2761"/>
                </a:solidFill>
                <a:latin typeface="Segoe UI Semibold"/>
              </a:rPr>
              <a:t>5–7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50208"/>
            <a:ext cx="344911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900" b="0" i="0">
                <a:solidFill>
                  <a:srgbClr val="1B2140"/>
                </a:solidFill>
                <a:latin typeface="Segoe UI"/>
              </a:rPr>
              <a:t>проверенных решений
под задачу предприятия.
Срок: сутки вместо недель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87644" y="1737360"/>
            <a:ext cx="6161227" cy="1225296"/>
          </a:xfrm>
          <a:prstGeom prst="roundRect">
            <a:avLst>
              <a:gd name="adj" fmla="val 10447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56224" y="1805939"/>
            <a:ext cx="6024067" cy="1088136"/>
          </a:xfrm>
          <a:prstGeom prst="roundRect">
            <a:avLst>
              <a:gd name="adj" fmla="val 8403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35116" y="2048255"/>
            <a:ext cx="402336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35116" y="2231136"/>
            <a:ext cx="54662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900" b="0" i="0">
                <a:solidFill>
                  <a:srgbClr val="1E2761"/>
                </a:solidFill>
                <a:latin typeface="Segoe UI Semibold"/>
              </a:rPr>
              <a:t>Проверяет человек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5116" y="2596896"/>
            <a:ext cx="54662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Инструмент даёт черновик, решение подтверждает учёный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87644" y="3136391"/>
            <a:ext cx="6161227" cy="1225296"/>
          </a:xfrm>
          <a:prstGeom prst="roundRect">
            <a:avLst>
              <a:gd name="adj" fmla="val 10447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56224" y="3204972"/>
            <a:ext cx="6024067" cy="1088136"/>
          </a:xfrm>
          <a:prstGeom prst="roundRect">
            <a:avLst>
              <a:gd name="adj" fmla="val 8403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35116" y="3447287"/>
            <a:ext cx="402336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35116" y="3630168"/>
            <a:ext cx="54662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900" b="0" i="0">
                <a:solidFill>
                  <a:srgbClr val="1E2761"/>
                </a:solidFill>
                <a:latin typeface="Segoe UI Semibold"/>
              </a:rPr>
              <a:t>Открытые данные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5116" y="3995927"/>
            <a:ext cx="54662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Публикации, патенты, гранты, российский и мировой веб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87644" y="4535424"/>
            <a:ext cx="6161227" cy="1225296"/>
          </a:xfrm>
          <a:prstGeom prst="roundRect">
            <a:avLst>
              <a:gd name="adj" fmla="val 10447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56224" y="4604004"/>
            <a:ext cx="6024067" cy="1088136"/>
          </a:xfrm>
          <a:prstGeom prst="roundRect">
            <a:avLst>
              <a:gd name="adj" fmla="val 8403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35116" y="4846320"/>
            <a:ext cx="402336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5116" y="5029200"/>
            <a:ext cx="54662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900" b="0" i="0">
                <a:solidFill>
                  <a:srgbClr val="1E2761"/>
                </a:solidFill>
                <a:latin typeface="Segoe UI Semibold"/>
              </a:rPr>
              <a:t>Готов к ГИС НИОКР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5116" y="5394960"/>
            <a:ext cx="54662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Подключимся, когда система откроется для рынка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Что получает каждая сторона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16807" cy="4114800"/>
          </a:xfrm>
          <a:prstGeom prst="roundRect">
            <a:avLst>
              <a:gd name="adj" fmla="val 3746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048256"/>
            <a:ext cx="402336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9424"/>
            <a:ext cx="2685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 spc="250">
                <a:solidFill>
                  <a:srgbClr val="1E2761"/>
                </a:solidFill>
                <a:latin typeface="Segoe UI Semibold"/>
              </a:rPr>
              <a:t>РЕГИОНУ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871216"/>
            <a:ext cx="82296" cy="8229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743200"/>
            <a:ext cx="2429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>
                <a:solidFill>
                  <a:srgbClr val="1B2140"/>
                </a:solidFill>
                <a:latin typeface="Segoe UI"/>
              </a:rPr>
              <a:t>Рост частных вложений в науку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730752"/>
            <a:ext cx="82296" cy="8229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3602736"/>
            <a:ext cx="2429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>
                <a:solidFill>
                  <a:srgbClr val="1B2140"/>
                </a:solidFill>
                <a:latin typeface="Segoe UI"/>
              </a:rPr>
              <a:t>Загрузка вузов заказами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4315968"/>
            <a:ext cx="82296" cy="8229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4187952"/>
            <a:ext cx="2429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>
                <a:solidFill>
                  <a:srgbClr val="1B2140"/>
                </a:solidFill>
                <a:latin typeface="Segoe UI"/>
              </a:rPr>
              <a:t>Федеральные деньги в регион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5175503"/>
            <a:ext cx="82296" cy="8229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5047488"/>
            <a:ext cx="2429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>
                <a:solidFill>
                  <a:srgbClr val="1B2140"/>
                </a:solidFill>
                <a:latin typeface="Segoe UI"/>
              </a:rPr>
              <a:t>Расходов бюджета нет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6072" y="1737360"/>
            <a:ext cx="3416807" cy="4114800"/>
          </a:xfrm>
          <a:prstGeom prst="roundRect">
            <a:avLst>
              <a:gd name="adj" fmla="val 3746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4652" y="1805939"/>
            <a:ext cx="3279648" cy="3977639"/>
          </a:xfrm>
          <a:prstGeom prst="roundRect">
            <a:avLst>
              <a:gd name="adj" fmla="val 2788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1832" y="2048256"/>
            <a:ext cx="402336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1832" y="2249424"/>
            <a:ext cx="2685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 spc="250">
                <a:solidFill>
                  <a:srgbClr val="1E2761"/>
                </a:solidFill>
                <a:latin typeface="Segoe UI Semibold"/>
              </a:rPr>
              <a:t>ПРЕДПРИЯТИЮ</a:t>
            </a:r>
          </a:p>
        </p:txBody>
      </p:sp>
      <p:sp>
        <p:nvSpPr>
          <p:cNvPr id="20" name="Oval 19"/>
          <p:cNvSpPr/>
          <p:nvPr/>
        </p:nvSpPr>
        <p:spPr>
          <a:xfrm>
            <a:off x="4751832" y="2871216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7864" y="2743200"/>
            <a:ext cx="2429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>
                <a:solidFill>
                  <a:srgbClr val="1B2140"/>
                </a:solidFill>
                <a:latin typeface="Segoe UI"/>
              </a:rPr>
              <a:t>Решение без своего R&amp;D</a:t>
            </a:r>
          </a:p>
        </p:txBody>
      </p:sp>
      <p:sp>
        <p:nvSpPr>
          <p:cNvPr id="22" name="Oval 21"/>
          <p:cNvSpPr/>
          <p:nvPr/>
        </p:nvSpPr>
        <p:spPr>
          <a:xfrm>
            <a:off x="4751832" y="3456432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7864" y="3328416"/>
            <a:ext cx="2429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>
                <a:solidFill>
                  <a:srgbClr val="1B2140"/>
                </a:solidFill>
                <a:latin typeface="Segoe UI"/>
              </a:rPr>
              <a:t>100 млн ₽ проекта, 15–30 млн ₽ своих</a:t>
            </a:r>
          </a:p>
        </p:txBody>
      </p:sp>
      <p:sp>
        <p:nvSpPr>
          <p:cNvPr id="24" name="Oval 23"/>
          <p:cNvSpPr/>
          <p:nvPr/>
        </p:nvSpPr>
        <p:spPr>
          <a:xfrm>
            <a:off x="4751832" y="4315968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7864" y="4187952"/>
            <a:ext cx="2429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>
                <a:solidFill>
                  <a:srgbClr val="1B2140"/>
                </a:solidFill>
                <a:latin typeface="Segoe UI"/>
              </a:rPr>
              <a:t>Один подрядчик вместо десяти</a:t>
            </a:r>
          </a:p>
        </p:txBody>
      </p:sp>
      <p:sp>
        <p:nvSpPr>
          <p:cNvPr id="26" name="Oval 25"/>
          <p:cNvSpPr/>
          <p:nvPr/>
        </p:nvSpPr>
        <p:spPr>
          <a:xfrm>
            <a:off x="4751832" y="5175503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07864" y="5047488"/>
            <a:ext cx="2429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>
                <a:solidFill>
                  <a:srgbClr val="1B2140"/>
                </a:solidFill>
                <a:latin typeface="Segoe UI"/>
              </a:rPr>
              <a:t>Ответ за 3–4 недели, а не за два года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2063" y="1737360"/>
            <a:ext cx="3416807" cy="4114800"/>
          </a:xfrm>
          <a:prstGeom prst="roundRect">
            <a:avLst>
              <a:gd name="adj" fmla="val 3746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00643" y="1805939"/>
            <a:ext cx="3279648" cy="3977639"/>
          </a:xfrm>
          <a:prstGeom prst="roundRect">
            <a:avLst>
              <a:gd name="adj" fmla="val 2788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97824" y="2048256"/>
            <a:ext cx="402336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97824" y="2249424"/>
            <a:ext cx="2685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 spc="250">
                <a:solidFill>
                  <a:srgbClr val="1E2761"/>
                </a:solidFill>
                <a:latin typeface="Segoe UI Semibold"/>
              </a:rPr>
              <a:t>НАУКЕ</a:t>
            </a:r>
          </a:p>
        </p:txBody>
      </p:sp>
      <p:sp>
        <p:nvSpPr>
          <p:cNvPr id="32" name="Oval 31"/>
          <p:cNvSpPr/>
          <p:nvPr/>
        </p:nvSpPr>
        <p:spPr>
          <a:xfrm>
            <a:off x="8497824" y="2871216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3856" y="2743200"/>
            <a:ext cx="2429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>
                <a:solidFill>
                  <a:srgbClr val="1B2140"/>
                </a:solidFill>
                <a:latin typeface="Segoe UI"/>
              </a:rPr>
              <a:t>Оплаченные заказы от заводов</a:t>
            </a:r>
          </a:p>
        </p:txBody>
      </p:sp>
      <p:sp>
        <p:nvSpPr>
          <p:cNvPr id="34" name="Oval 33"/>
          <p:cNvSpPr/>
          <p:nvPr/>
        </p:nvSpPr>
        <p:spPr>
          <a:xfrm>
            <a:off x="8497824" y="3730752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3856" y="3602736"/>
            <a:ext cx="2429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>
                <a:solidFill>
                  <a:srgbClr val="1B2140"/>
                </a:solidFill>
                <a:latin typeface="Segoe UI"/>
              </a:rPr>
              <a:t>Перевод на язык бизнеса за нами</a:t>
            </a:r>
          </a:p>
        </p:txBody>
      </p:sp>
      <p:sp>
        <p:nvSpPr>
          <p:cNvPr id="36" name="Oval 35"/>
          <p:cNvSpPr/>
          <p:nvPr/>
        </p:nvSpPr>
        <p:spPr>
          <a:xfrm>
            <a:off x="8497824" y="4590288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3856" y="4462272"/>
            <a:ext cx="2429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>
                <a:solidFill>
                  <a:srgbClr val="1B2140"/>
                </a:solidFill>
                <a:latin typeface="Segoe UI"/>
              </a:rPr>
              <a:t>Участие бесплатно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Четыре прямых ответа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59" y="1805939"/>
            <a:ext cx="5125212" cy="2075688"/>
          </a:xfrm>
          <a:prstGeom prst="roundRect">
            <a:avLst>
              <a:gd name="adj" fmla="val 4405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084831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12263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2066543"/>
            <a:ext cx="39273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 i="0">
                <a:solidFill>
                  <a:srgbClr val="1E2761"/>
                </a:solidFill>
                <a:latin typeface="Segoe UI Semibold"/>
              </a:rPr>
              <a:t>У нас есть НОЦ, ЦТТ и фонд.
Зачем вы?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27248"/>
            <a:ext cx="45308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B2140"/>
                </a:solidFill>
                <a:latin typeface="Segoe UI"/>
              </a:rPr>
              <a:t>Они работают от разработки. Мы от задачи завода и отвечаем деньгами за внедрение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1737360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52260" y="2084831"/>
            <a:ext cx="438912" cy="438912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2260" y="2112263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5764" y="2066543"/>
            <a:ext cx="39273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 i="0">
                <a:solidFill>
                  <a:srgbClr val="1E2761"/>
                </a:solidFill>
                <a:latin typeface="Segoe UI Semibold"/>
              </a:rPr>
              <a:t>Что просите у бюджета?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2260" y="3127248"/>
            <a:ext cx="45308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B2140"/>
                </a:solidFill>
                <a:latin typeface="Segoe UI"/>
              </a:rPr>
              <a:t>Ничего. Статус партнёра и представление предприятиям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24527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571999"/>
            <a:ext cx="438912" cy="438912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99431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344" y="4553712"/>
            <a:ext cx="39273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 i="0">
                <a:solidFill>
                  <a:srgbClr val="1E2761"/>
                </a:solidFill>
                <a:latin typeface="Segoe UI Semibold"/>
              </a:rPr>
              <a:t>Зачем посредник?
Пойдём напрямую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614415"/>
            <a:ext cx="45308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B2140"/>
                </a:solidFill>
                <a:latin typeface="Segoe UI"/>
              </a:rPr>
              <a:t>Напрямую это один институт и его оценка своей же разработки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6500" y="4224527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55080" y="4293107"/>
            <a:ext cx="5125212" cy="2075688"/>
          </a:xfrm>
          <a:prstGeom prst="roundRect">
            <a:avLst>
              <a:gd name="adj" fmla="val 4405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52260" y="4571999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2260" y="4599431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5764" y="4553712"/>
            <a:ext cx="39273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 i="0">
                <a:solidFill>
                  <a:srgbClr val="1E2761"/>
                </a:solidFill>
                <a:latin typeface="Segoe UI Semibold"/>
              </a:rPr>
              <a:t>А если субсидию не дадут?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2260" y="5614415"/>
            <a:ext cx="45308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B2140"/>
                </a:solidFill>
                <a:latin typeface="Segoe UI"/>
              </a:rPr>
              <a:t>Экономику считаем без неё. Двойной вычет идёт без конкурса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КОМАНДА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Доводим проекты до внедрения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16807" cy="4114800"/>
          </a:xfrm>
          <a:prstGeom prst="roundRect">
            <a:avLst>
              <a:gd name="adj" fmla="val 3746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59" y="1805939"/>
            <a:ext cx="3279648" cy="3977639"/>
          </a:xfrm>
          <a:prstGeom prst="roundRect">
            <a:avLst>
              <a:gd name="adj" fmla="val 2788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048256"/>
            <a:ext cx="402336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685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0" i="0">
                <a:solidFill>
                  <a:srgbClr val="1E2761"/>
                </a:solidFill>
                <a:latin typeface="Segoe UI Semibold"/>
              </a:rPr>
              <a:t>Кирилл Уклонский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685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 spc="200">
                <a:solidFill>
                  <a:srgbClr val="C9A24B"/>
                </a:solidFill>
                <a:latin typeface="Segoe UI Semibold"/>
              </a:rPr>
              <a:t>ОСНОВАТЕЛЬ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374136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3255264"/>
            <a:ext cx="2429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«ФинАналитик», Роспатент № 2024618827: учёт 10 млрд ₽ в год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4178808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4059936"/>
            <a:ext cx="2429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Платформа «Больше, чем путешествие»: 80 000 пользователей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983480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4864608"/>
            <a:ext cx="2429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РАНХиГС, госуправление. Преподаватель РЭУ им. Плеханова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6072" y="1737360"/>
            <a:ext cx="3416807" cy="4114800"/>
          </a:xfrm>
          <a:prstGeom prst="roundRect">
            <a:avLst>
              <a:gd name="adj" fmla="val 3746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1832" y="2048256"/>
            <a:ext cx="402336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1832" y="2286000"/>
            <a:ext cx="2685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0" i="0">
                <a:solidFill>
                  <a:srgbClr val="1E2761"/>
                </a:solidFill>
                <a:latin typeface="Segoe UI Semibold"/>
              </a:rPr>
              <a:t>Данила Кашев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1832" y="2743200"/>
            <a:ext cx="2685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 spc="200">
                <a:solidFill>
                  <a:srgbClr val="C9A24B"/>
                </a:solidFill>
                <a:latin typeface="Segoe UI Semibold"/>
              </a:rPr>
              <a:t>ОПЕРАЦИОННЫЙ ДИРЕКТОР</a:t>
            </a:r>
          </a:p>
        </p:txBody>
      </p:sp>
      <p:sp>
        <p:nvSpPr>
          <p:cNvPr id="20" name="Oval 19"/>
          <p:cNvSpPr/>
          <p:nvPr/>
        </p:nvSpPr>
        <p:spPr>
          <a:xfrm>
            <a:off x="4751832" y="3374136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7864" y="3255264"/>
            <a:ext cx="2429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ФГУП «ЗащитаИнфоТранс»: импортозамещение, реестр ПО</a:t>
            </a:r>
          </a:p>
        </p:txBody>
      </p:sp>
      <p:sp>
        <p:nvSpPr>
          <p:cNvPr id="22" name="Oval 21"/>
          <p:cNvSpPr/>
          <p:nvPr/>
        </p:nvSpPr>
        <p:spPr>
          <a:xfrm>
            <a:off x="4751832" y="4178808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7864" y="4059936"/>
            <a:ext cx="2429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Студия разработки: команда 4 → 15 человек, 50 проектов</a:t>
            </a:r>
          </a:p>
        </p:txBody>
      </p:sp>
      <p:sp>
        <p:nvSpPr>
          <p:cNvPr id="24" name="Oval 23"/>
          <p:cNvSpPr/>
          <p:nvPr/>
        </p:nvSpPr>
        <p:spPr>
          <a:xfrm>
            <a:off x="4751832" y="4983480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7864" y="4864608"/>
            <a:ext cx="24292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МГУ им. Ломоносова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2063" y="1737360"/>
            <a:ext cx="3416807" cy="4114800"/>
          </a:xfrm>
          <a:prstGeom prst="roundRect">
            <a:avLst>
              <a:gd name="adj" fmla="val 3746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00643" y="1805939"/>
            <a:ext cx="3279648" cy="3977639"/>
          </a:xfrm>
          <a:prstGeom prst="roundRect">
            <a:avLst>
              <a:gd name="adj" fmla="val 2788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97824" y="2048256"/>
            <a:ext cx="402336" cy="41148"/>
          </a:xfrm>
          <a:prstGeom prst="rect">
            <a:avLst/>
          </a:prstGeom>
          <a:solidFill>
            <a:srgbClr val="C9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7824" y="2286000"/>
            <a:ext cx="2685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 spc="200">
                <a:solidFill>
                  <a:srgbClr val="6B7699"/>
                </a:solidFill>
                <a:latin typeface="Segoe UI Semibold"/>
              </a:rPr>
              <a:t>ПАРТНЁР ПРОЕКТА В РЕГИОНЕ</a:t>
            </a:r>
          </a:p>
        </p:txBody>
      </p:sp>
      <p:sp>
        <p:nvSpPr>
          <p:cNvPr id="30" name="Oval 29"/>
          <p:cNvSpPr/>
          <p:nvPr/>
        </p:nvSpPr>
        <p:spPr>
          <a:xfrm>
            <a:off x="8497824" y="3374136"/>
            <a:ext cx="82296" cy="82296"/>
          </a:xfrm>
          <a:prstGeom prst="ellipse">
            <a:avLst/>
          </a:prstGeom>
          <a:solidFill>
            <a:srgbClr val="C9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3856" y="3255264"/>
            <a:ext cx="2429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6B7699"/>
                </a:solidFill>
                <a:latin typeface="Segoe UI"/>
              </a:rPr>
              <a:t>Место для партнёра, который открывает проект</a:t>
            </a:r>
          </a:p>
        </p:txBody>
      </p:sp>
      <p:sp>
        <p:nvSpPr>
          <p:cNvPr id="32" name="Oval 31"/>
          <p:cNvSpPr/>
          <p:nvPr/>
        </p:nvSpPr>
        <p:spPr>
          <a:xfrm>
            <a:off x="8497824" y="4178808"/>
            <a:ext cx="82296" cy="82296"/>
          </a:xfrm>
          <a:prstGeom prst="ellipse">
            <a:avLst/>
          </a:prstGeom>
          <a:solidFill>
            <a:srgbClr val="C9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3856" y="4059936"/>
            <a:ext cx="2429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6B7699"/>
                </a:solidFill>
                <a:latin typeface="Segoe UI"/>
              </a:rPr>
              <a:t>Научная проверка: эксперты институтов под задачу</a:t>
            </a:r>
          </a:p>
        </p:txBody>
      </p:sp>
      <p:sp>
        <p:nvSpPr>
          <p:cNvPr id="34" name="Oval 33"/>
          <p:cNvSpPr/>
          <p:nvPr/>
        </p:nvSpPr>
        <p:spPr>
          <a:xfrm>
            <a:off x="8497824" y="4983480"/>
            <a:ext cx="82296" cy="82296"/>
          </a:xfrm>
          <a:prstGeom prst="ellipse">
            <a:avLst/>
          </a:prstGeom>
          <a:solidFill>
            <a:srgbClr val="C9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3856" y="4864608"/>
            <a:ext cx="2429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6B7699"/>
                </a:solidFill>
                <a:latin typeface="Segoe UI"/>
              </a:rPr>
              <a:t>Внедрение: инжиниринговые центры, ответственность на нас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ПРЕДЛОЖЕНИЕ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Соглашение о сотрудничестве с [органом власти]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6725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 spc="250">
                <a:solidFill>
                  <a:srgbClr val="C9A24B"/>
                </a:solidFill>
                <a:latin typeface="Segoe UI Semibold"/>
              </a:rPr>
              <a:t>ЧТО ДЕЛАЕМ ЗА ПЕРВЫЙ ГОД, ЗА СВОЙ СЧЁТ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57984"/>
            <a:ext cx="5672571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340864"/>
            <a:ext cx="43009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1B2140"/>
                </a:solidFill>
                <a:latin typeface="Segoe UI"/>
              </a:rPr>
              <a:t>Задачи предприятий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5371" y="2231136"/>
            <a:ext cx="7863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3000" b="0" i="0">
                <a:solidFill>
                  <a:srgbClr val="C9A24B"/>
                </a:solidFill>
                <a:latin typeface="Segoe UI Semibold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9504"/>
            <a:ext cx="5672571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072384"/>
            <a:ext cx="43009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1B2140"/>
                </a:solidFill>
                <a:latin typeface="Segoe UI"/>
              </a:rPr>
              <a:t>Подборов с проверкой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5371" y="2962656"/>
            <a:ext cx="7863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3000" b="0" i="0">
                <a:solidFill>
                  <a:srgbClr val="C9A24B"/>
                </a:solidFill>
                <a:latin typeface="Segoe UI Semibold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21024"/>
            <a:ext cx="5672571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803904"/>
            <a:ext cx="43009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1B2140"/>
                </a:solidFill>
                <a:latin typeface="Segoe UI"/>
              </a:rPr>
              <a:t>Заявок на софинансирование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5371" y="3694176"/>
            <a:ext cx="7863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3000" b="0" i="0">
                <a:solidFill>
                  <a:srgbClr val="C9A24B"/>
                </a:solidFill>
                <a:latin typeface="Segoe UI Semibold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52544"/>
            <a:ext cx="5672571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535424"/>
            <a:ext cx="43009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1B2140"/>
                </a:solidFill>
                <a:latin typeface="Segoe UI"/>
              </a:rPr>
              <a:t>Внедрённый проект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5371" y="4425696"/>
            <a:ext cx="7863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3000" b="0" i="0">
                <a:solidFill>
                  <a:srgbClr val="C9A24B"/>
                </a:solidFill>
                <a:latin typeface="Segoe UI Semibold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84064"/>
            <a:ext cx="5672571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5266944"/>
            <a:ext cx="43009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1B2140"/>
                </a:solidFill>
                <a:latin typeface="Segoe UI"/>
              </a:rPr>
              <a:t>Открытый отчёт по региону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5371" y="5157216"/>
            <a:ext cx="7863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3000" b="0" i="0">
                <a:solidFill>
                  <a:srgbClr val="C9A24B"/>
                </a:solidFill>
                <a:latin typeface="Segoe UI Semibold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43599"/>
            <a:ext cx="56725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Segoe UI Semibold"/>
              </a:rPr>
              <a:t>Расходов бюджета нет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6699" y="1737360"/>
            <a:ext cx="48521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 spc="250">
                <a:solidFill>
                  <a:srgbClr val="C9A24B"/>
                </a:solidFill>
                <a:latin typeface="Segoe UI Semibold"/>
              </a:rPr>
              <a:t>ЧТО ПРОСИМ</a:t>
            </a:r>
          </a:p>
        </p:txBody>
      </p:sp>
      <p:sp>
        <p:nvSpPr>
          <p:cNvPr id="23" name="Oval 22"/>
          <p:cNvSpPr/>
          <p:nvPr/>
        </p:nvSpPr>
        <p:spPr>
          <a:xfrm>
            <a:off x="6696699" y="2157984"/>
            <a:ext cx="420624" cy="420624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6699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0203" y="2176272"/>
            <a:ext cx="42486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Segoe UI Semibold"/>
              </a:rPr>
              <a:t>Соглашение или меморандум</a:t>
            </a:r>
          </a:p>
        </p:txBody>
      </p:sp>
      <p:sp>
        <p:nvSpPr>
          <p:cNvPr id="26" name="Oval 25"/>
          <p:cNvSpPr/>
          <p:nvPr/>
        </p:nvSpPr>
        <p:spPr>
          <a:xfrm>
            <a:off x="6696699" y="2761487"/>
            <a:ext cx="420624" cy="420624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6699" y="278891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0203" y="2779775"/>
            <a:ext cx="42486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Segoe UI Semibold"/>
              </a:rPr>
              <a:t>Представление 5–7 предприятиям и институтам</a:t>
            </a:r>
          </a:p>
        </p:txBody>
      </p:sp>
      <p:sp>
        <p:nvSpPr>
          <p:cNvPr id="29" name="Oval 28"/>
          <p:cNvSpPr/>
          <p:nvPr/>
        </p:nvSpPr>
        <p:spPr>
          <a:xfrm>
            <a:off x="6696699" y="3639311"/>
            <a:ext cx="420624" cy="420624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6699" y="36667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0203" y="3657599"/>
            <a:ext cx="42486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Segoe UI Semibold"/>
              </a:rPr>
              <a:t>Участие в площадках и рабочих группах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96699" y="4590288"/>
            <a:ext cx="4852172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4171" y="4791456"/>
            <a:ext cx="41572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 spc="250">
                <a:solidFill>
                  <a:srgbClr val="C9A24B"/>
                </a:solidFill>
                <a:latin typeface="Segoe UI Semibold"/>
              </a:rPr>
              <a:t>СЛЕДУЮЩИЙ ШАГ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4171" y="5102352"/>
            <a:ext cx="41572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Пилот на одной отрасли: три предприятия, три задачи, отчёт через шесть месяцев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382512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Кирилл Уклонский · uklonskiy.k@ya.ru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