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66" y="1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Вложения бизнеса в науку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2761"/>
                    </a:solidFill>
                    <a:latin typeface="Segoe UI Semibold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2024, факт</c:v>
                </c:pt>
                <c:pt idx="1">
                  <c:v>2030, цель ×2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608</c:v>
                </c:pt>
                <c:pt idx="1">
                  <c:v>1216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53-48D3-B3C6-1BF915082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14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0"/>
        </c:scaling>
        <c:delete val="0"/>
        <c:axPos val="l"/>
        <c:majorGridlines>
          <c:spPr>
            <a:ln w="12700" cap="flat">
              <a:solidFill>
                <a:srgbClr val="EDF2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699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713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rdworldonline.com/research-development-2024-global-rd-investment-forecast/" TargetMode="External"/><Relationship Id="rId4" Type="http://schemas.openxmlformats.org/officeDocument/2006/relationships/hyperlink" Target="https://mackinstitute.wharton.upenn.edu/wp-content/uploads/2019/08/FP0357b_WP_2019Jan.pdf" TargetMode="External"/><Relationship Id="rId5" Type="http://schemas.openxmlformats.org/officeDocument/2006/relationships/hyperlink" Target="https://www.mckinsey.com/capabilities/operations/our-insights/how-digital-manufacturing-can-escape-pilot-purgatory" TargetMode="External"/><Relationship Id="rId6" Type="http://schemas.openxmlformats.org/officeDocument/2006/relationships/hyperlink" Target="https://issek.hse.ru/news/1083755537.html" TargetMode="External"/><Relationship Id="rId7" Type="http://schemas.openxmlformats.org/officeDocument/2006/relationships/hyperlink" Target="https://zhukovsky.life/news/19611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government.ru/news/59530/" TargetMode="External"/><Relationship Id="rId4" Type="http://schemas.openxmlformats.org/officeDocument/2006/relationships/hyperlink" Target="https://issek.hse.ru/news/1089550497.html" TargetMode="External"/><Relationship Id="rId5" Type="http://schemas.openxmlformats.org/officeDocument/2006/relationships/hyperlink" Target="https://www.comnews.ru/content/241497/2025-09-30/2025-w40/1007/tekhnologicheskoe-liderstvo-uydet-19-trln-rub" TargetMode="External"/><Relationship Id="rId6" Type="http://schemas.openxmlformats.org/officeDocument/2006/relationships/hyperlink" Target="https://www.rbc.ru/economics/26/01/2026/6977cac89a7947009cdfec9d" TargetMode="External"/><Relationship Id="rId7" Type="http://schemas.openxmlformats.org/officeDocument/2006/relationships/hyperlink" Target="https://www.kommersant.ru/doc/8380748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issek.hse.ru/news/1082485052.html" TargetMode="External"/><Relationship Id="rId4" Type="http://schemas.openxmlformats.org/officeDocument/2006/relationships/hyperlink" Target="https://www.kommersant.ru/doc/8161522" TargetMode="External"/><Relationship Id="rId5" Type="http://schemas.openxmlformats.org/officeDocument/2006/relationships/hyperlink" Target="https://rospatent.gov.ru/ru/news/rospatent-06122024" TargetMode="External"/><Relationship Id="rId6" Type="http://schemas.openxmlformats.org/officeDocument/2006/relationships/hyperlink" Target="http://government.ru/news/59530/" TargetMode="External"/><Relationship Id="rId7" Type="http://schemas.openxmlformats.org/officeDocument/2006/relationships/hyperlink" Target="https://academcity.org/content/barery-dlya-innovaciy" TargetMode="External"/><Relationship Id="rId8" Type="http://schemas.openxmlformats.org/officeDocument/2006/relationships/hyperlink" Target="https://expert.ru/mnenie/vse-nachinaetsya-s-nauki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rospatent.gov.ru/ru/news/rospatent-0612202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p218.ru/about/" TargetMode="External"/><Relationship Id="rId4" Type="http://schemas.openxmlformats.org/officeDocument/2006/relationships/hyperlink" Target="https://www.consultant.ru/law/hotdocs/86833.html" TargetMode="External"/><Relationship Id="rId5" Type="http://schemas.openxmlformats.org/officeDocument/2006/relationships/hyperlink" Target="https://inno-sc.ru/" TargetMode="External"/><Relationship Id="rId6" Type="http://schemas.openxmlformats.org/officeDocument/2006/relationships/hyperlink" Target="https://gisp.gov.ru/nmp/measure/10511015" TargetMode="External"/><Relationship Id="rId7" Type="http://schemas.openxmlformats.org/officeDocument/2006/relationships/hyperlink" Target="https://www.atomic-energy.ru/articles/2026/07/17/167196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et2.com/why-online-ip-marketplaces-fail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issek.hse.ru/news/1089550497.html" TargetMode="External"/><Relationship Id="rId4" Type="http://schemas.openxmlformats.org/officeDocument/2006/relationships/chart" Target="../charts/chart1.xml"/><Relationship Id="rId5" Type="http://schemas.openxmlformats.org/officeDocument/2006/relationships/hyperlink" Target="https://www.verifiedmarketreports.com/product/technology-transfer-services-market/" TargetMode="External"/><Relationship Id="rId6" Type="http://schemas.openxmlformats.org/officeDocument/2006/relationships/hyperlink" Target="https://issek.hse.ru/news/1082485052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inobrnauki.gov.ru/press-center/news/novosti-ministerstva/81234/" TargetMode="External"/><Relationship Id="rId4" Type="http://schemas.openxmlformats.org/officeDocument/2006/relationships/hyperlink" Target="http://rta.gov.ru/engineering" TargetMode="External"/><Relationship Id="rId5" Type="http://schemas.openxmlformats.org/officeDocument/2006/relationships/hyperlink" Target="https://www.yet2.com/why-online-ip-marketplaces-fail/" TargetMode="External"/><Relationship Id="rId6" Type="http://schemas.openxmlformats.org/officeDocument/2006/relationships/hyperlink" Target="https://rg.ru/2024/03/01/nauka-idet-k-biznesu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n.wikipedia.org/wiki/Yet2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yet2.com/why-online-ip-marketplaces-fail/" TargetMode="External"/><Relationship Id="rId4" Type="http://schemas.openxmlformats.org/officeDocument/2006/relationships/hyperlink" Target="https://www.ipwatchdog.com/2017/10/09/the-changing-face-of-university-technology-transfer/id=88853/" TargetMode="External"/><Relationship Id="rId5" Type="http://schemas.openxmlformats.org/officeDocument/2006/relationships/hyperlink" Target="https://www.law360.com/bankruptcy-authority/articles/1790070/patent-marketplace-co-ipwe-hits-ch-11-in-del-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6766560" cy="6766560"/>
          </a:xfrm>
          <a:prstGeom prst="ellipse">
            <a:avLst/>
          </a:prstGeom>
          <a:solidFill>
            <a:srgbClr val="161D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692640" y="3108960"/>
            <a:ext cx="5120640" cy="5120640"/>
          </a:xfrm>
          <a:prstGeom prst="ellipse">
            <a:avLst/>
          </a:prstGeom>
          <a:solidFill>
            <a:srgbClr val="1B23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789920" y="1371600"/>
            <a:ext cx="3108960" cy="3108960"/>
          </a:xfrm>
          <a:prstGeom prst="ellipse">
            <a:avLst/>
          </a:prstGeom>
          <a:solidFill>
            <a:srgbClr val="10163A"/>
          </a:solidFill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РАБОЧЕЕ НАЗВАНИЕ · АВГУСТ 2026 · КОНФИДЕНЦИАЛЬНО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9144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CDDC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Внешний офис трансфера технологий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CDDC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для промышленности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04164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Находим, проверяем и доводим до производства научные разработки под задачи вашего бизнеса, с привлечением господдержки, покрывающей до 70% стоимости исследований.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321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якорных клиентов, партнёров и инвесторов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961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Денег в науке всё больше: отдачи всё меньше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5248656" cy="1874520"/>
          </a:xfrm>
          <a:prstGeom prst="roundRect">
            <a:avLst>
              <a:gd name="adj" fmla="val 682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508760"/>
            <a:ext cx="5120640" cy="1746504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32688" y="157276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$2,53 трлн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32688" y="234086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мировые расходы на исследования и разработки в 2024 году: рекорд за всю историю наблюдений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3008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R&amp;D World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00216" y="1444752"/>
            <a:ext cx="5248656" cy="1874520"/>
          </a:xfrm>
          <a:prstGeom prst="roundRect">
            <a:avLst>
              <a:gd name="adj" fmla="val 682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364224" y="1508760"/>
            <a:ext cx="5120640" cy="1746504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92824" y="157276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80–88%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92824" y="234086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патентов так и не доходят до применения в реальном продукте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92824" y="3008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Wharton, Mack Institute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3593592"/>
            <a:ext cx="5248656" cy="1874520"/>
          </a:xfrm>
          <a:prstGeom prst="roundRect">
            <a:avLst>
              <a:gd name="adj" fmla="val 682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04088" y="3657600"/>
            <a:ext cx="5120640" cy="1746504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32688" y="37216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32688" y="448970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промышленных компаний годами не могут вывести пилотные проекты в масштаб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5157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00216" y="3593592"/>
            <a:ext cx="5248656" cy="1874520"/>
          </a:xfrm>
          <a:prstGeom prst="roundRect">
            <a:avLst>
              <a:gd name="adj" fmla="val 682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64224" y="3657600"/>
            <a:ext cx="5120640" cy="1746504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92824" y="37216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592824" y="448970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выпуска российских предприятий приходится на инновационную продукцию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92824" y="5157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3504" y="561441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1115568" y="5760720"/>
            <a:ext cx="10433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говорят: давайте мы подождём, попилотируем дальше, поиграемся в песочницы» , Александр Вибе, гендиректор компании-интегратора цифровых решений «Росатома», Иннопром-2026</a:t>
            </a:r>
            <a:r>
              <a:rPr lang="en-US" sz="1050" u="sng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ПОЧЕМУ СЕЙЧАС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Окно возможностей в России открылось в 2025–2026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25296" y="1481328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Поручения премьер-министра, август 2026. Правительство переходит к управлению полным жизненным циклом технологий: дорожная карта, к октябрю, единая система учёта исследований, к декабрю 2026.  government.ru</a:t>
            </a: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2551176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Национальная цель: наука: 2% ВВП к 2030. Вложения бизнеса в науку должны минимум удвоиться. Сегодня 65% исследований в стране оплачивает государство.  ИСИЭЗ НИУ ВШЭ</a:t>
            </a: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r>
              <a:rPr lang="en-US" sz="850" i="1" u="sng" dirty="0">
                <a:solidFill>
                  <a:srgbClr val="6B76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25296" y="3621024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Нацпроекты технологического лидерства.</a:t>
            </a: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Девять программ, около 1,9 трлн рублей в бюджете на 2026–2028 годы.  </a:t>
            </a:r>
            <a:r>
              <a:rPr lang="en-US" sz="850" i="1" u="sng" dirty="0">
                <a:solidFill>
                  <a:srgbClr val="6B76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ComNews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7274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25296" y="4690872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Дефицит кадров: 2,6 млн человек. Нанимать больше некого. Расти можно только за счёт производительности.  РБК</a:t>
            </a: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r>
              <a:rPr lang="en-US" sz="850" i="1" u="sng" dirty="0">
                <a:solidFill>
                  <a:srgbClr val="6B7699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95360" y="1481328"/>
            <a:ext cx="2953512" cy="2011680"/>
          </a:xfrm>
          <a:prstGeom prst="roundRect">
            <a:avLst>
              <a:gd name="adj" fmla="val 6364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95360" y="169164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2% ВВП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8915400" y="2670048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целевые затраты на науку к 2030 году: сейчас около 1%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95360" y="3657600"/>
            <a:ext cx="2953512" cy="2011680"/>
          </a:xfrm>
          <a:prstGeom prst="roundRect">
            <a:avLst>
              <a:gd name="adj" fmla="val 6364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59368" y="3721608"/>
            <a:ext cx="2825496" cy="1883664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95360" y="3867912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×2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8915400" y="484632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рост частных вложений в науку: национальная цель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3504" y="584301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1115568" y="5989320"/>
            <a:ext cx="1043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Бизнес в полной мере осознал, что находится не в «технологическом супермаркете», где всё можно купить» , Денис Секиринский, замминистра науки и высшего образования, «Коммерсантъ»</a:t>
            </a:r>
            <a:r>
              <a:rPr lang="en-US" sz="1050" u="sng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НИША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Между наукой и производством: разрыв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01568" cy="3520440"/>
          </a:xfrm>
          <a:prstGeom prst="roundRect">
            <a:avLst>
              <a:gd name="adj" fmla="val 3763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636776"/>
            <a:ext cx="3273552" cy="3392424"/>
          </a:xfrm>
          <a:prstGeom prst="roundRect">
            <a:avLst>
              <a:gd name="adj" fmla="val 2793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792224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31136"/>
            <a:ext cx="28712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339 тысяч исследователей; вузы подают 27% патентных заявок страны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</a:t>
            </a:r>
            <a:endParaRPr lang="en-US" sz="1200" dirty="0"/>
          </a:p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Разработки выходят на лабораторной стадии: до завода их никто не доводит</a:t>
            </a:r>
            <a:endParaRPr lang="en-US" sz="1200" dirty="0"/>
          </a:p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Продавать не умеет: лишь 12% затрат вузов приходится на стадию разработок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Коммерсантъ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25696" y="1572768"/>
            <a:ext cx="3401568" cy="352044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5875">
            <a:solidFill>
              <a:srgbClr val="C9A24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00016" y="1792224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ЗДЕСЬ НИКОГО НЕТ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0016" y="2231136"/>
            <a:ext cx="28712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Коммерческих брокеров технологий в России нет как рынка: наш вывод из исследования</a:t>
            </a:r>
            <a:endParaRPr lang="en-US" sz="1200" dirty="0"/>
          </a:p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Роспатент подготовил больше 200 технологических брокеров: им негде работать Роспатент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00" dirty="0"/>
          </a:p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Госцентры учат и ведут учёт, но за сделку и внедрение не отвечает никто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11312" y="1572768"/>
            <a:ext cx="3401568" cy="3520440"/>
          </a:xfrm>
          <a:prstGeom prst="roundRect">
            <a:avLst>
              <a:gd name="adj" fmla="val 3763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485632" y="1792224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85632" y="2231136"/>
            <a:ext cx="28712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Покупает только то, что уже работает на производстве</a:t>
            </a:r>
            <a:endParaRPr lang="en-US" sz="1200" dirty="0"/>
          </a:p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Половина предприятий сотрудничает с учёными разово, от случая к случаю </a:t>
            </a:r>
            <a:r>
              <a:rPr lang="en-US" sz="850" i="1" u="sng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government.ru</a:t>
            </a:r>
            <a:endParaRPr lang="en-US" sz="1200" dirty="0"/>
          </a:p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Главный страх: экономический риск внедрения; его называет каждая четвёртая компания Академгородок</a:t>
            </a:r>
            <a:r>
              <a:rPr lang="en-US" sz="850" i="1" u="sng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87368" y="3204972"/>
            <a:ext cx="310896" cy="256032"/>
          </a:xfrm>
          <a:prstGeom prst="rightArrow">
            <a:avLst/>
          </a:prstGeom>
          <a:solidFill>
            <a:srgbClr val="6B76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872984" y="3204972"/>
            <a:ext cx="310896" cy="256032"/>
          </a:xfrm>
          <a:prstGeom prst="rightArrow">
            <a:avLst/>
          </a:prstGeom>
          <a:solidFill>
            <a:srgbClr val="6B76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03504" y="529437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115568" y="5440680"/>
            <a:ext cx="10433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Институты и прежде всего люди, которые умеют превращать научный прототип в промышленный продукт, почти исчезли» , Александр Кулешов, ректор Сколтеха, академик РАН, «Эксперт»</a:t>
            </a:r>
            <a:r>
              <a:rPr lang="en-US" sz="1050" u="sng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Лестница услуг: от задачи до работающей технологии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4777" y="14813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644777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2466594" cy="3246120"/>
          </a:xfrm>
          <a:prstGeom prst="roundRect">
            <a:avLst>
              <a:gd name="adj" fmla="val 519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04088" y="2276856"/>
            <a:ext cx="2338578" cy="3118104"/>
          </a:xfrm>
          <a:prstGeom prst="roundRect">
            <a:avLst>
              <a:gd name="adj" fmla="val 3910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432304"/>
            <a:ext cx="1991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Диагностика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3200400"/>
            <a:ext cx="199110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Разбираемся, где предприятие теряет деньги и какие задачи можно закрыть внешней разработкой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77824" y="4782312"/>
            <a:ext cx="1991106" cy="0"/>
          </a:xfrm>
          <a:prstGeom prst="line">
            <a:avLst/>
          </a:prstGeom>
          <a:noFill/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4855464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3–4 недели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58843" y="14813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58843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54146" y="2212848"/>
            <a:ext cx="2466594" cy="3246120"/>
          </a:xfrm>
          <a:prstGeom prst="roundRect">
            <a:avLst>
              <a:gd name="adj" fmla="val 519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518154" y="2276856"/>
            <a:ext cx="2338578" cy="3118104"/>
          </a:xfrm>
          <a:prstGeom prst="roundRect">
            <a:avLst>
              <a:gd name="adj" fmla="val 3910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691890" y="2432304"/>
            <a:ext cx="1991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Поиск и проверка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91890" y="3200400"/>
            <a:ext cx="199110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Приносим короткий список решений из сети институтов. Каждое проверено учёными: зрелость, команда, применимость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91890" y="4782312"/>
            <a:ext cx="1991106" cy="0"/>
          </a:xfrm>
          <a:prstGeom prst="line">
            <a:avLst/>
          </a:prstGeom>
          <a:noFill/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91890" y="4855464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6–8 недель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72909" y="14813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72909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8212" y="2212848"/>
            <a:ext cx="2466594" cy="3246120"/>
          </a:xfrm>
          <a:prstGeom prst="roundRect">
            <a:avLst>
              <a:gd name="adj" fmla="val 519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332220" y="2276856"/>
            <a:ext cx="2338578" cy="3118104"/>
          </a:xfrm>
          <a:prstGeom prst="roundRect">
            <a:avLst>
              <a:gd name="adj" fmla="val 3910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505956" y="2432304"/>
            <a:ext cx="1991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Сделка и господдержка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05956" y="3200400"/>
            <a:ext cx="199110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Собираем договор и софинансирование: субсидия по 218-му постановлению, двойной налоговый вычет, гранты на доращивание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05956" y="4782312"/>
            <a:ext cx="1991106" cy="0"/>
          </a:xfrm>
          <a:prstGeom prst="line">
            <a:avLst/>
          </a:prstGeom>
          <a:noFill/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505956" y="4855464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2–4 месяца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086975" y="1481328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08697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82278" y="2212848"/>
            <a:ext cx="2466594" cy="3246120"/>
          </a:xfrm>
          <a:prstGeom prst="roundRect">
            <a:avLst>
              <a:gd name="adj" fmla="val 5190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320022" y="2432304"/>
            <a:ext cx="1991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Внедрение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320022" y="3200400"/>
            <a:ext cx="199110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Ведём проект до результата как генеральный подрядчик: руками партнёров: инжиниринговых центров и самих институтов. Клиент получает одного подрядчика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20022" y="4782312"/>
            <a:ext cx="1991106" cy="0"/>
          </a:xfrm>
          <a:prstGeom prst="line">
            <a:avLst/>
          </a:prstGeom>
          <a:noFill/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320022" y="4855464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6–18 месяцев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3504" y="556869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1115568" y="571500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Чтобы наука и бизнес нашли друг друга, нужен технологический брокер» , Юрий Зубов, руководитель Роспатента</a:t>
            </a:r>
            <a:r>
              <a:rPr lang="en-US" sz="1050" u="sng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ЦЕННОСТЬ ДЛЯ КЛИЕНТА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Господдержка делает внедрение кратно дешевле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6812280" cy="914400"/>
          </a:xfrm>
          <a:prstGeom prst="roundRect">
            <a:avLst>
              <a:gd name="adj" fmla="val 1400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545336"/>
            <a:ext cx="6684264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Постановление № 218: государство возмещает промышленному заказчику до 70% стоимости исследований, заказанных у вуза или института.  pp218.ru</a:t>
            </a: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6812280" cy="914400"/>
          </a:xfrm>
          <a:prstGeom prst="roundRect">
            <a:avLst>
              <a:gd name="adj" fmla="val 1400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04088" y="2578608"/>
            <a:ext cx="6684264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2569464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Двойной налоговый вычет: затраты на исследования уменьшают налог на прибыль с коэффициентом 2. При ставке 25% это ощутимо.  КонсультантПлюс</a:t>
            </a: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r>
              <a:rPr lang="en-US" sz="850" i="1" u="sng" dirty="0">
                <a:solidFill>
                  <a:srgbClr val="6B76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547872"/>
            <a:ext cx="6812280" cy="914400"/>
          </a:xfrm>
          <a:prstGeom prst="roundRect">
            <a:avLst>
              <a:gd name="adj" fmla="val 1400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04088" y="3611880"/>
            <a:ext cx="6684264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3602736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Гранты на доращивание: до 250 млн рублей на доработку технологии под запрос конкретной корпорации.  inno-sc.ru</a:t>
            </a: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r>
              <a:rPr lang="en-US" sz="850" i="1" u="sng" dirty="0">
                <a:solidFill>
                  <a:srgbClr val="6B76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6812280" cy="914400"/>
          </a:xfrm>
          <a:prstGeom prst="roundRect">
            <a:avLst>
              <a:gd name="adj" fmla="val 1400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04088" y="4645152"/>
            <a:ext cx="6684264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4636008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Специальный инвестконтракт: налоговые льготы до 15–20 лет за внедрение технологий из правительственного перечня.  ГИСП</a:t>
            </a: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r>
              <a:rPr lang="en-US" sz="850" i="1" u="sng" dirty="0">
                <a:solidFill>
                  <a:srgbClr val="6B7699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09560" y="1481328"/>
            <a:ext cx="3639312" cy="4133088"/>
          </a:xfrm>
          <a:prstGeom prst="roundRect">
            <a:avLst>
              <a:gd name="adj" fmla="val 3518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38744" y="1700784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ПРИМЕР СДЕЛКИ · НАША ОЦЕНКА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38744" y="2084832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Исследовательский проект: 100 млн ₽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Субсидия по 218-му: до −70 млн ₽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Двойной вычет: ещё −7–15 млн ₽ налога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38744" y="3456432"/>
            <a:ext cx="2980944" cy="0"/>
          </a:xfrm>
          <a:prstGeom prst="line">
            <a:avLst/>
          </a:prstGeom>
          <a:noFill/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38744" y="361188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 15–30 млн ₽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8238744" y="443484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реальная стоимость технологии для клиента, если сделка собрана грамотно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3504" y="5724144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1115568" y="5870448"/>
            <a:ext cx="10433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 внешнего содействия малые технологические компании обычно используют 30–40% положенных им преференций» , Станислав Кречетов, гендиректор «Иннохаба Росатома»</a:t>
            </a:r>
            <a:r>
              <a:rPr lang="en-US" sz="1050" u="sng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БИЗНЕС-МОДЕЛЬ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Проектные гонорары плюс комиссия за успех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36192"/>
          <a:ext cx="7223760" cy="384048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Продукт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Чек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Срок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Диагностика технологических задач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0,8–1,5 млн ₽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3–4 нед.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Подбор и научная проверка решений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1,5–4 млн ₽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6–8 нед.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Структурирование сделки и господдержки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2–5 млн ₽ + комиссия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2–4 мес.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Сопровождение внедрения (генподряд)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10–20% бюджета проекта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6–18 мес.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Комиссия за успех от суммы сделки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около 10%, с потолком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/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864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Цены и комиссия, наша оценка; ориентир по комиссии, практика yet2. yet2.com</a:t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275320" y="1536192"/>
            <a:ext cx="3273552" cy="1033272"/>
          </a:xfrm>
          <a:prstGeom prst="roundRect">
            <a:avLst>
              <a:gd name="adj" fmla="val 1238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8339328" y="1600200"/>
            <a:ext cx="3145536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5"/>
          <p:cNvSpPr/>
          <p:nvPr/>
        </p:nvSpPr>
        <p:spPr>
          <a:xfrm>
            <a:off x="8531352" y="162763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Деньги: с первого квартала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31352" y="1975104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выручка от проектов страхует длинный цикл больших сделок (6–12 месяцев)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75320" y="2697480"/>
            <a:ext cx="3273552" cy="1033272"/>
          </a:xfrm>
          <a:prstGeom prst="roundRect">
            <a:avLst>
              <a:gd name="adj" fmla="val 1238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8339328" y="2761488"/>
            <a:ext cx="3145536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531352" y="2788920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Подписка со второго года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31352" y="3136392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«внешний исследовательский офис»: 1,5–3 млн ₽ в квартал плюс комиссия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75320" y="3858768"/>
            <a:ext cx="3273552" cy="1033272"/>
          </a:xfrm>
          <a:prstGeom prst="roundRect">
            <a:avLst>
              <a:gd name="adj" fmla="val 1238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8339328" y="3922776"/>
            <a:ext cx="3145536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531352" y="39502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Доли в компаниях: год 3+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531352" y="429768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5–10% в новых компаниях, когда появятся поток сделок и репутация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75320" y="5020056"/>
            <a:ext cx="3273552" cy="1033272"/>
          </a:xfrm>
          <a:prstGeom prst="roundRect">
            <a:avLst>
              <a:gd name="adj" fmla="val 1238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8339328" y="5084064"/>
            <a:ext cx="3145536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8531352" y="511149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Ноль: на 2 проектах в квартал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531352" y="5458968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точка безубыточности при команде из трёх человек (наша оценка)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РЫНОК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Ниша растёт вместе с национальной целью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Частные вложения в науку России, млрд ₽ в год  </a:t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847088"/>
          <a:ext cx="56692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3492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 2030 году в науке должно появиться плюс 600 млрд рублей частных денег ежегодно. Этим деньгам нужны проводники.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812280" y="1517904"/>
            <a:ext cx="4736592" cy="1463040"/>
          </a:xfrm>
          <a:prstGeom prst="roundRect">
            <a:avLst>
              <a:gd name="adj" fmla="val 875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876288" y="1581912"/>
            <a:ext cx="4608576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086600" y="1609344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$1,8 → 4,3 млрд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086600" y="2157984"/>
            <a:ext cx="4187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мировой рынок услуг трансфера технологий, 2024 → 2033. Оценка отраслевых агентств, берём как порядок величины.  </a:t>
            </a:r>
            <a:r>
              <a:rPr lang="en-US" sz="850" i="1" u="sng" dirty="0">
                <a:solidFill>
                  <a:srgbClr val="6B76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Verified Market Reports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12280" y="3145536"/>
            <a:ext cx="4736592" cy="1463040"/>
          </a:xfrm>
          <a:prstGeom prst="roundRect">
            <a:avLst>
              <a:gd name="adj" fmla="val 875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876288" y="3209544"/>
            <a:ext cx="4608576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086600" y="3236976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1,88 трлн ₽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086600" y="3785616"/>
            <a:ext cx="4187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весь объём исследований и разработок в России за 2024 год. Наши первые отрасли: нефтегаз и энергетика, фарма, агропром.  </a:t>
            </a:r>
            <a:r>
              <a:rPr lang="en-US" sz="850" i="1" u="sng" dirty="0">
                <a:solidFill>
                  <a:srgbClr val="6B7699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12280" y="4773168"/>
            <a:ext cx="4736592" cy="1463040"/>
          </a:xfrm>
          <a:prstGeom prst="roundRect">
            <a:avLst>
              <a:gd name="adj" fmla="val 8750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086600" y="4864608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~0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086600" y="5413248"/>
            <a:ext cx="4187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коммерческих брокеров-принципалов в России сегодня: наш вывод из исследования рынка. Первый системный игрок задаёт стандарт.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КОНКУРЕНЦИЯ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Поле игроков: место принципала свободно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36192"/>
          <a:ext cx="10908792" cy="36576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Кто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Что делают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Кто они для нас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Госцентры: центры трансфера технологий при вузах (38), Роспатент, Агентство по техразвитию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Ведут учёт разработок, учат брокеров, раздают гранты. За сделку и внедрение не отвечают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Партнёры: источник разработок и кадров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Научно-технические центры корпораций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Инновации для себя. Есть только у крупнейших: Газпром нефть, СИБУР, Северсталь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Клиенты: мы дополняем их команды, а не соревнуемся с ними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Инжиниринговые центры при вузах (72)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Исполняют работы. Выручка сектора выше 25 млрд ₽: вчетверо больше вложенных субсидий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Партнёры по внедрению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Мировые аналоги: yet2, IN-PART, Halo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Доказали, что корпорации платят за подбор технологий. В России не работают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Готовый плейбук: 25 лет чужих проб и ошибок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28523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699"/>
                </a:solidFill>
              </a:rPr>
              <a:t>Источник: </a:t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Минобрнауки</a:t>
            </a:r>
            <a:r>
              <a:rPr lang="en-US" sz="850" dirty="0">
                <a:solidFill>
                  <a:srgbClr val="6B7699"/>
                </a:solidFill>
              </a:rPr>
              <a:t> · </a:t>
            </a:r>
            <a:r>
              <a:rPr lang="en-US" sz="850" i="1" u="sng" dirty="0">
                <a:solidFill>
                  <a:srgbClr val="6B76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rta.gov.ru</a:t>
            </a:r>
            <a:r>
              <a:rPr lang="en-US" sz="850" dirty="0">
                <a:solidFill>
                  <a:srgbClr val="6B7699"/>
                </a:solidFill>
              </a:rPr>
              <a:t> · </a:t>
            </a:r>
            <a:r>
              <a:rPr lang="en-US" sz="850" i="1" u="sng" dirty="0">
                <a:solidFill>
                  <a:srgbClr val="6B76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yet2.com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03504" y="559612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115568" y="5742432"/>
            <a:ext cx="10433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Необходимо насытить инновационную экосистему активными и компетентными свободными агентами: техноброкерами и технопредпринимателями» , Алексей Филимонов, исполнительный директор Национальной ассоциации трансфера технологий</a:t>
            </a:r>
            <a:r>
              <a:rPr lang="en-US" sz="1050" u="sng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КОМАНДА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Доверие обеих сторон рынка: в одной команде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380232" cy="3566160"/>
          </a:xfrm>
          <a:prstGeom prst="roundRect">
            <a:avLst>
              <a:gd name="adj" fmla="val 3787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883664"/>
            <a:ext cx="283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Уклонский, основатель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831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Продаёт и ведёт консалтинговые проекты, знает госпрограммы и институты развития изнутри. Личная сеть руководителей в нефтегазе и энергетике, фарме, агропроме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04360" y="1627632"/>
            <a:ext cx="3380232" cy="3566160"/>
          </a:xfrm>
          <a:prstGeom prst="roundRect">
            <a:avLst>
              <a:gd name="adj" fmla="val 3787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468368" y="1691640"/>
            <a:ext cx="3252216" cy="3438144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678680" y="1883664"/>
            <a:ext cx="283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Научный со-основатель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78680" y="2651760"/>
            <a:ext cx="2831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Учёный с именем в своей области: проверяет решения, открывает двери лабораторий, приводит поток разработок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68640" y="1627632"/>
            <a:ext cx="3380232" cy="3566160"/>
          </a:xfrm>
          <a:prstGeom prst="roundRect">
            <a:avLst>
              <a:gd name="adj" fmla="val 3787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232648" y="1691640"/>
            <a:ext cx="3252216" cy="3438144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442960" y="1883664"/>
            <a:ext cx="283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Сеть экспертов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442960" y="2651760"/>
            <a:ext cx="2831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Отраслевые специалисты подключаются под конкретный проект; юрист по интеллектуальной собственности, по контракту. Постоянных издержек на старте почти нет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5321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Бенчмарк: у yet2, IN-PART и Halo в первый год работало по 2–4 человека, «переводчик» между наукой и бизнесом плюс научный авторитет. история yet2</a:t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ДОРОЖНАЯ КАРТА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Деньги вкладываем только после доказательств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2466594" cy="3977640"/>
          </a:xfrm>
          <a:prstGeom prst="roundRect">
            <a:avLst>
              <a:gd name="adj" fmla="val 5190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77824" y="1847088"/>
            <a:ext cx="1991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ФАЗА 0 · ДО ДЕК.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77824" y="2176272"/>
            <a:ext cx="19911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Проверка спроса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77824" y="2743200"/>
            <a:ext cx="19911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15–20 разговоров с руководителями об их реальных задачах; витрина 20–30 разработок; предложения пилотов по тёплой сети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77824" y="5010912"/>
            <a:ext cx="1991106" cy="0"/>
          </a:xfrm>
          <a:prstGeom prst="line">
            <a:avLst/>
          </a:prstGeom>
          <a:noFill/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77824" y="5102352"/>
            <a:ext cx="1991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Ворота: 1–2 оплаченных пилота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4146" y="1627632"/>
            <a:ext cx="2466594" cy="3977640"/>
          </a:xfrm>
          <a:prstGeom prst="roundRect">
            <a:avLst>
              <a:gd name="adj" fmla="val 519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18154" y="1691640"/>
            <a:ext cx="2338578" cy="3849624"/>
          </a:xfrm>
          <a:prstGeom prst="roundRect">
            <a:avLst>
              <a:gd name="adj" fmla="val 3910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91890" y="1847088"/>
            <a:ext cx="1991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ФАЗА 1 · 2027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91890" y="2176272"/>
            <a:ext cx="19911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Первые сделки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91890" y="2743200"/>
            <a:ext cx="19911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Компания и команда из 3–4 человек; 3–5 проектов подбора; первая сделка с господдержкой; якорный клиент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91890" y="5010912"/>
            <a:ext cx="1991106" cy="0"/>
          </a:xfrm>
          <a:prstGeom prst="line">
            <a:avLst/>
          </a:prstGeom>
          <a:noFill/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691890" y="5102352"/>
            <a:ext cx="1991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Выручка 15–40 млн ₽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8212" y="1627632"/>
            <a:ext cx="2466594" cy="3977640"/>
          </a:xfrm>
          <a:prstGeom prst="roundRect">
            <a:avLst>
              <a:gd name="adj" fmla="val 519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332220" y="1691640"/>
            <a:ext cx="2338578" cy="3849624"/>
          </a:xfrm>
          <a:prstGeom prst="roundRect">
            <a:avLst>
              <a:gd name="adj" fmla="val 3910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05956" y="1847088"/>
            <a:ext cx="1991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ФАЗА 2 · 2028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05956" y="2176272"/>
            <a:ext cx="19911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Масштабирование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505956" y="2743200"/>
            <a:ext cx="19911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Подписка «внешний исследовательский офис»; зарубежное юрлицо; выход на дружественные рынки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05956" y="5010912"/>
            <a:ext cx="1991106" cy="0"/>
          </a:xfrm>
          <a:prstGeom prst="line">
            <a:avLst/>
          </a:prstGeom>
          <a:noFill/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05956" y="5102352"/>
            <a:ext cx="1991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Выручка 60–120 млн ₽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82278" y="1627632"/>
            <a:ext cx="2466594" cy="3977640"/>
          </a:xfrm>
          <a:prstGeom prst="roundRect">
            <a:avLst>
              <a:gd name="adj" fmla="val 519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146286" y="1691640"/>
            <a:ext cx="2338578" cy="3849624"/>
          </a:xfrm>
          <a:prstGeom prst="roundRect">
            <a:avLst>
              <a:gd name="adj" fmla="val 3910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320022" y="1847088"/>
            <a:ext cx="1991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ФАЗА 3 · 2029+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20022" y="2176272"/>
            <a:ext cx="19911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Слои роста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320022" y="2743200"/>
            <a:ext cx="19911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Доли в новых компаниях; база данных сделок и разработок как платформа; фонд доращивания технологий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320022" y="5010912"/>
            <a:ext cx="1991106" cy="0"/>
          </a:xfrm>
          <a:prstGeom prst="line">
            <a:avLst/>
          </a:prstGeom>
          <a:noFill/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9320022" y="5102352"/>
            <a:ext cx="1991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Апсайд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Сейчас, Фаза 0: без увольнения и почти без затрат. Планы и цифры фаз, наша оценка.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УСТОЙЧИВОСТЬ МОДЕЛИ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Мы строим по урокам выживших: и погибших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248656" cy="2148840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636776"/>
            <a:ext cx="5120640" cy="2020824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32688" y="17739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Маркетплейсы технологий умирают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32688" y="2231136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 ~30 патентных бирж 1999 года выжил один yet2, и то после разворота в сервис. Мы начинаем с сервиса; платформа, усилитель, а не продукт.  yet2.com</a:t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0216" y="1572768"/>
            <a:ext cx="5248656" cy="2148840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364224" y="1636776"/>
            <a:ext cx="5120640" cy="2020824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92824" y="17739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Платит тот, у кого есть деньги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231136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73% университетских офисов трансфера в мире убыточны. Наш плательщик, корпорация, для науки участие бесплатно.  IPWatchdog</a:t>
            </a:r>
            <a:r>
              <a:rPr lang="en-US" sz="850" i="1" u="sng" dirty="0">
                <a:solidFill>
                  <a:srgbClr val="6B76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5248656" cy="2148840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4088" y="4078224"/>
            <a:ext cx="5120640" cy="2020824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32688" y="421538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Деньги: с первого квартала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32688" y="4672584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Патентная платформа IPwe обанкротилась в 2024 году: длинные циклы продаж съели капитал. Нашу кассу закрывает проектная выручка.  </a:t>
            </a:r>
            <a:r>
              <a:rPr lang="en-US" sz="850" i="1" u="sng" dirty="0">
                <a:solidFill>
                  <a:srgbClr val="6B76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Law360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0216" y="4014216"/>
            <a:ext cx="5248656" cy="2148840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364224" y="4078224"/>
            <a:ext cx="5120640" cy="2020824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92824" y="421538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Доверие и данные не копируются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4672584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Нейросети удешевляют поиск технологий. Ценность уходит в проверку, историю сделок и отношения, их не собрать промптом (наш вывод).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spc="300">
                <a:solidFill>
                  <a:srgbClr val="C9A24B"/>
                </a:solidFill>
                <a:latin typeface="Segoe UI Semibold"/>
              </a:rPr>
              <a:t>ВОПРОСЫ И ВОЗРАЖЕНИЯ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8100"/>
            <a:ext cx="1090879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2800" dirty="0">
                <a:solidFill>
                  <a:srgbClr val="1E2761"/>
                </a:solidFill>
                <a:latin typeface="Segoe UI Semibold"/>
              </a:rPr>
              <a:t>Быстрые ответы на главные вопросы</a:t>
            </a:r>
            <a:endParaRPr sz="280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48656" cy="1499616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4088" y="1435608"/>
            <a:ext cx="5120640" cy="1371600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08760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>
                <a:solidFill>
                  <a:srgbClr val="C9A24B"/>
                </a:solidFill>
                <a:latin typeface="Segoe UI Semibold"/>
              </a:rPr>
              <a:t>01  ·  </a:t>
            </a:r>
            <a:r>
              <a:rPr sz="1250">
                <a:solidFill>
                  <a:srgbClr val="1E2761"/>
                </a:solidFill>
                <a:latin typeface="Segoe UI Semibold"/>
              </a:rPr>
              <a:t>Зачем посредник? Пойдём к разработчику напрямую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4663440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dirty="0" err="1">
                <a:solidFill>
                  <a:srgbClr val="1B2140"/>
                </a:solidFill>
                <a:latin typeface="Segoe UI"/>
              </a:rPr>
              <a:t>Напрямую вы получите один знакомый институт и его мнение о собственной технологии. Мы приносим на выбор 5–7 решений со всего рынка, проверенных независимыми учёными, собираем господдержку и отвечаем за проект до производства. Знакомство, малая часть работы; денег «за контакт» не берём, обходить нас нет смысла.</a:t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lang="ru-RU"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216" y="1371600"/>
            <a:ext cx="5248656" cy="1499616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64224" y="1435608"/>
            <a:ext cx="5120640" cy="1371600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92824" y="1508760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>
                <a:solidFill>
                  <a:srgbClr val="C9A24B"/>
                </a:solidFill>
                <a:latin typeface="Segoe UI Semibold"/>
              </a:rPr>
              <a:t>02  ·  Есть же бесплатные госцентры: зачем платить вам?</a:t>
            </a:r>
            <a:r>
              <a:rPr sz="1250">
                <a:solidFill>
                  <a:srgbClr val="1E2761"/>
                </a:solidFill>
                <a:latin typeface="Segoe UI Semibold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2824" y="1847088"/>
            <a:ext cx="4663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dirty="0" err="1">
                <a:solidFill>
                  <a:srgbClr val="1B2140"/>
                </a:solidFill>
                <a:latin typeface="Segoe UI"/>
              </a:rPr>
              <a:t>Госконтур учит, знакомит и ведёт учёт, но за сделку не отвечает никто. Мы, принципал: подписываемся под срок и результат, часть вознаграждения получаем только при успехе внедрения. Роспатент подготовил 200+ брокеров, им негде работать: рынок исполнителя пуст.</a:t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99232"/>
            <a:ext cx="10908792" cy="1066930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4088" y="3063239"/>
            <a:ext cx="10780776" cy="934829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7902" y="3186515"/>
            <a:ext cx="10288362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dirty="0">
                <a:solidFill>
                  <a:srgbClr val="C9A24B"/>
                </a:solidFill>
                <a:latin typeface="Segoe UI Semibold"/>
              </a:rPr>
              <a:t>03  ·  Господдержка: долго, а 70% могут и не дать</a:t>
            </a:r>
            <a:r>
              <a:rPr lang="ru-RU" sz="1250" dirty="0">
                <a:solidFill>
                  <a:srgbClr val="C9A24B"/>
                </a:solidFill>
                <a:latin typeface="Segoe UI Semibold"/>
              </a:rPr>
              <a:t/>
            </a:r>
            <a:r>
              <a:rPr sz="1250" dirty="0">
                <a:solidFill>
                  <a:srgbClr val="C9A24B"/>
                </a:solidFill>
                <a:latin typeface="Segoe UI Semibold"/>
              </a:rPr>
              <a:t/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/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/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/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/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/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/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/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/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/>
            </a:r>
            <a:endParaRPr sz="125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1032357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dirty="0" err="1">
                <a:solidFill>
                  <a:srgbClr val="1B2140"/>
                </a:solidFill>
                <a:latin typeface="Segoe UI"/>
              </a:rPr>
              <a:t>Сделку считаем без субсидии. Двойной налоговый вычет применяется без всякого конкурса, а 218-е постановление, бонус, который делает проект кратно дешевле. Заявки готовим мы, а не ваши сотрудники. Не дадут субсидию, экономика проекта всё равно сходится.</a:t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08572"/>
            <a:ext cx="5248656" cy="1499616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04088" y="4272580"/>
            <a:ext cx="5120640" cy="1371600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395856"/>
            <a:ext cx="46634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dirty="0">
                <a:solidFill>
                  <a:srgbClr val="C9A24B"/>
                </a:solidFill>
                <a:latin typeface="Segoe UI Semibold"/>
              </a:rPr>
              <a:t>0</a:t>
            </a:r>
            <a:r>
              <a:rPr lang="ru-RU" sz="1250" dirty="0">
                <a:solidFill>
                  <a:srgbClr val="C9A24B"/>
                </a:solidFill>
                <a:latin typeface="Segoe UI Semibold"/>
              </a:rPr>
              <a:t>4</a:t>
            </a:r>
            <a:r>
              <a:rPr sz="1250" dirty="0">
                <a:solidFill>
                  <a:srgbClr val="C9A24B"/>
                </a:solidFill>
                <a:latin typeface="Segoe UI Semibold"/>
              </a:rPr>
              <a:t>  ·  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70%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пилотов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не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выходят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в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масштаб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. А у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вас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684060"/>
            <a:ext cx="4663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dirty="0" err="1">
                <a:solidFill>
                  <a:srgbClr val="1B2140"/>
                </a:solidFill>
                <a:latin typeface="Segoe UI"/>
              </a:rPr>
              <a:t>Потому что вы не платите за всё сразу. Лестница из четырёх ступеней, у каждой, свой результат и точка выхода. Диагностика за 3–4 недели, дешёвый первый шаг: если честный ответ, «подходящей технологии пока нет», вы узнаете это до больших денег.</a:t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/>
            </a:r>
            <a:r>
              <a:rPr sz="1050" dirty="0">
                <a:solidFill>
                  <a:srgbClr val="1B2140"/>
                </a:solidFill>
                <a:latin typeface="Segoe U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0216" y="4208572"/>
            <a:ext cx="5248656" cy="1499616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64224" y="4272580"/>
            <a:ext cx="5120640" cy="1371600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92824" y="4395856"/>
            <a:ext cx="46634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dirty="0">
                <a:solidFill>
                  <a:srgbClr val="C9A24B"/>
                </a:solidFill>
                <a:latin typeface="Segoe UI Semibold"/>
              </a:rPr>
              <a:t>0</a:t>
            </a:r>
            <a:r>
              <a:rPr lang="ru-RU" sz="1250" dirty="0">
                <a:solidFill>
                  <a:srgbClr val="C9A24B"/>
                </a:solidFill>
                <a:latin typeface="Segoe UI Semibold"/>
              </a:rPr>
              <a:t>5</a:t>
            </a:r>
            <a:r>
              <a:rPr sz="1250" dirty="0">
                <a:solidFill>
                  <a:srgbClr val="C9A24B"/>
                </a:solidFill>
                <a:latin typeface="Segoe UI Semibold"/>
              </a:rPr>
              <a:t>  · 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Что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с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конфиденциальностью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наших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задач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4" y="4684060"/>
            <a:ext cx="4663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>
                <a:solidFill>
                  <a:srgbClr val="1B2140"/>
                </a:solidFill>
                <a:latin typeface="Segoe UI"/>
              </a:rPr>
              <a:t>NDA до начала диагностики, работа в контуре клиента, задачи предприятия не попадают в открытые витрины. Для международных кейсов, обязательная экспертиза по 183-ФЗ до любой передачи данных за периметр.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5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>
                <a:solidFill>
                  <a:srgbClr val="6B7699"/>
                </a:solidFill>
                <a:latin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6766560" cy="6766560"/>
          </a:xfrm>
          <a:prstGeom prst="ellipse">
            <a:avLst/>
          </a:prstGeom>
          <a:solidFill>
            <a:srgbClr val="161D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692640" y="3108960"/>
            <a:ext cx="5120640" cy="5120640"/>
          </a:xfrm>
          <a:prstGeom prst="ellipse">
            <a:avLst/>
          </a:prstGeom>
          <a:solidFill>
            <a:srgbClr val="1B23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789920" y="1371600"/>
            <a:ext cx="3108960" cy="3108960"/>
          </a:xfrm>
          <a:prstGeom prst="ellipse">
            <a:avLst/>
          </a:prstGeom>
          <a:solidFill>
            <a:srgbClr val="10163A"/>
          </a:solidFill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ПРИГЛАШАЕМ В ПРОЕКТ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Три способа войти первыми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380232" cy="3291840"/>
          </a:xfrm>
          <a:prstGeom prst="roundRect">
            <a:avLst>
              <a:gd name="adj" fmla="val 3889"/>
            </a:avLst>
          </a:prstGeom>
          <a:solidFill>
            <a:srgbClr val="171F4A"/>
          </a:solidFill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04088" y="2029968"/>
            <a:ext cx="3252216" cy="3163824"/>
          </a:xfrm>
          <a:prstGeom prst="roundRect">
            <a:avLst>
              <a:gd name="adj" fmla="val 2890"/>
            </a:avLst>
          </a:prstGeom>
          <a:solidFill>
            <a:srgbClr val="1C2452"/>
          </a:solidFill>
          <a:ln w="6350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2231136"/>
            <a:ext cx="2795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Якорным клиентам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761488"/>
            <a:ext cx="279501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Пилот «диагностика + подбор» под вашу производственную задачу: 6–8 недель, 1,5–4 млн ₽. Первым двум клиентам, условия основателя и приоритет в очереди разработок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4360" y="1965960"/>
            <a:ext cx="3380232" cy="3291840"/>
          </a:xfrm>
          <a:prstGeom prst="roundRect">
            <a:avLst>
              <a:gd name="adj" fmla="val 3889"/>
            </a:avLst>
          </a:prstGeom>
          <a:solidFill>
            <a:srgbClr val="171F4A"/>
          </a:solidFill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468368" y="2029968"/>
            <a:ext cx="3252216" cy="3163824"/>
          </a:xfrm>
          <a:prstGeom prst="roundRect">
            <a:avLst>
              <a:gd name="adj" fmla="val 2890"/>
            </a:avLst>
          </a:prstGeom>
          <a:solidFill>
            <a:srgbClr val="1C2452"/>
          </a:solidFill>
          <a:ln w="6350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96968" y="2231136"/>
            <a:ext cx="2795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Партнёрам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6968" y="2761488"/>
            <a:ext cx="279501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Институтам, центрам трансфера и инжиниринговым центрам: приводим платящих корпоративных заказчиков и даём стандарт упаковки разработок. Вы делаете науку и исполнение, мы приводим рынок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68640" y="1965960"/>
            <a:ext cx="3380232" cy="3291840"/>
          </a:xfrm>
          <a:prstGeom prst="roundRect">
            <a:avLst>
              <a:gd name="adj" fmla="val 3889"/>
            </a:avLst>
          </a:prstGeom>
          <a:solidFill>
            <a:srgbClr val="171F4A"/>
          </a:solidFill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232648" y="2029968"/>
            <a:ext cx="3252216" cy="3163824"/>
          </a:xfrm>
          <a:prstGeom prst="roundRect">
            <a:avLst>
              <a:gd name="adj" fmla="val 2890"/>
            </a:avLst>
          </a:prstGeom>
          <a:solidFill>
            <a:srgbClr val="1C2452"/>
          </a:solidFill>
          <a:ln w="6350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61248" y="2231136"/>
            <a:ext cx="2795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Инвесторам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1248" y="2761488"/>
            <a:ext cx="279501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первых оплаченных пилотов поднимаем 10–40 млн ₽ на ускорение: команда и запас на 12–18 месяцев работы. Хотите раньше, присоединяйтесь к пилотной фазе советником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DDC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 · «Ситалл»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2042</Words>
  <Application>Microsoft Office PowerPoint</Application>
  <PresentationFormat>Широкоэкранный</PresentationFormat>
  <Paragraphs>244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Segoe UI</vt:lpstr>
      <vt:lpstr>Segoe UI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Уклонский Кирилл Андреевич</cp:lastModifiedBy>
  <cp:revision>2</cp:revision>
  <dcterms:created xsi:type="dcterms:W3CDTF">2026-08-08T12:48:48Z</dcterms:created>
  <dcterms:modified xsi:type="dcterms:W3CDTF">2026-08-17T15:20:21Z</dcterms:modified>
</cp:coreProperties>
</file>